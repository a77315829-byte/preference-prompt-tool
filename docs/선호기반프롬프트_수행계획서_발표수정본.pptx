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acb543ef58436b" /><Relationship Type="http://schemas.openxmlformats.org/officeDocument/2006/relationships/extended-properties" Target="/docProps/app.xml" Id="R4fc52b5e06184eb0" /><Relationship Type="http://schemas.openxmlformats.org/officeDocument/2006/relationships/officeDocument" Target="/ppt/presentation.xml" Id="R3775c99634244dd2" /></Relationships>
</file>

<file path=ppt/presentation.xml><?xml version="1.0" encoding="utf-8"?>
<p:presentation xmlns:p="http://schemas.openxmlformats.org/presentationml/2006/main">
  <p:sldMasterIdLst>
    <p:sldMasterId xmlns:r="http://schemas.openxmlformats.org/officeDocument/2006/relationships" id="2147483648" r:id="R19c0a431c66d4a16"/>
  </p:sldMasterIdLst>
  <p:notesMasterIdLst>
    <p:notesMasterId xmlns:r="http://schemas.openxmlformats.org/officeDocument/2006/relationships" r:id="R9399eb772c714e83"/>
  </p:notesMasterIdLst>
  <p:sldIdLst>
    <p:sldId xmlns:r="http://schemas.openxmlformats.org/officeDocument/2006/relationships" id="256" r:id="Rb3b92b3c63e749b9"/>
    <p:sldId xmlns:r="http://schemas.openxmlformats.org/officeDocument/2006/relationships" id="257" r:id="Rd7162830dc044685"/>
    <p:sldId xmlns:r="http://schemas.openxmlformats.org/officeDocument/2006/relationships" id="258" r:id="Rf9ce3f6273bc4dd9"/>
    <p:sldId xmlns:r="http://schemas.openxmlformats.org/officeDocument/2006/relationships" id="259" r:id="R8dcd656f9c364bd0"/>
    <p:sldId xmlns:r="http://schemas.openxmlformats.org/officeDocument/2006/relationships" id="260" r:id="R52a4b26c7f6241dd"/>
    <p:sldId xmlns:r="http://schemas.openxmlformats.org/officeDocument/2006/relationships" id="261" r:id="R86f2c83a0aae452e"/>
    <p:sldId xmlns:r="http://schemas.openxmlformats.org/officeDocument/2006/relationships" id="262" r:id="R892109d0bd734aa6"/>
    <p:sldId xmlns:r="http://schemas.openxmlformats.org/officeDocument/2006/relationships" id="263" r:id="Rf15942872fd14e46"/>
    <p:sldId xmlns:r="http://schemas.openxmlformats.org/officeDocument/2006/relationships" id="264" r:id="R326784bdabf0409b"/>
    <p:sldId xmlns:r="http://schemas.openxmlformats.org/officeDocument/2006/relationships" id="265" r:id="Rdcdd0fa812f74b6f"/>
    <p:sldId xmlns:r="http://schemas.openxmlformats.org/officeDocument/2006/relationships" id="266" r:id="Rb7d4128f25194e42"/>
    <p:sldId xmlns:r="http://schemas.openxmlformats.org/officeDocument/2006/relationships" id="267" r:id="R1ed05263b9504b59"/>
    <p:sldId xmlns:r="http://schemas.openxmlformats.org/officeDocument/2006/relationships" id="268" r:id="Rd5f87dbe39a34a06"/>
    <p:sldId xmlns:r="http://schemas.openxmlformats.org/officeDocument/2006/relationships" id="269" r:id="R990bc1b557cc4dd0"/>
    <p:sldId xmlns:r="http://schemas.openxmlformats.org/officeDocument/2006/relationships" id="270" r:id="R5eb923f9c8654d7d"/>
    <p:sldId xmlns:r="http://schemas.openxmlformats.org/officeDocument/2006/relationships" id="271" r:id="Rbf5208d4f03e4cc8"/>
    <p:sldId xmlns:r="http://schemas.openxmlformats.org/officeDocument/2006/relationships" id="272" r:id="R2a9d6782b0414ec5"/>
    <p:sldId xmlns:r="http://schemas.openxmlformats.org/officeDocument/2006/relationships" id="273" r:id="R6359b39ae5b540b4"/>
    <p:sldId xmlns:r="http://schemas.openxmlformats.org/officeDocument/2006/relationships" id="274" r:id="Ra535a8df771448fe"/>
    <p:sldId xmlns:r="http://schemas.openxmlformats.org/officeDocument/2006/relationships" id="275" r:id="R9f17831b7a8e4d25"/>
    <p:sldId xmlns:r="http://schemas.openxmlformats.org/officeDocument/2006/relationships" id="276" r:id="R87fbc0600bcb480d"/>
    <p:sldId xmlns:r="http://schemas.openxmlformats.org/officeDocument/2006/relationships" id="277" r:id="R0777c6b5b65a42ba"/>
    <p:sldId xmlns:r="http://schemas.openxmlformats.org/officeDocument/2006/relationships" id="278" r:id="Rfd7fae6433ed4132"/>
    <p:sldId xmlns:r="http://schemas.openxmlformats.org/officeDocument/2006/relationships" id="279" r:id="R1699d8e37182487b"/>
    <p:sldId xmlns:r="http://schemas.openxmlformats.org/officeDocument/2006/relationships" id="280" r:id="R9bc7b3318c994783"/>
  </p:sldIdLst>
  <p:sldSz cx="9906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fac19e5379b4b92" /><Relationship Type="http://schemas.openxmlformats.org/officeDocument/2006/relationships/slideMaster" Target="/ppt/slideMasters/slideMaster1.xml" Id="R19c0a431c66d4a16" /><Relationship Type="http://schemas.openxmlformats.org/officeDocument/2006/relationships/notesMaster" Target="/ppt/notesMasters/notesMaster1.xml" Id="R9399eb772c714e83" /><Relationship Type="http://schemas.openxmlformats.org/officeDocument/2006/relationships/presProps" Target="/ppt/presProps.xml" Id="R3cf76db3491a4a3e" /><Relationship Type="http://schemas.openxmlformats.org/officeDocument/2006/relationships/viewProps" Target="/ppt/viewProps.xml" Id="R6612ab0442da49f3" /><Relationship Type="http://schemas.openxmlformats.org/officeDocument/2006/relationships/tableStyles" Target="/ppt/tableStyles.xml" Id="R1f5319b2d14346aa" /><Relationship Type="http://schemas.openxmlformats.org/officeDocument/2006/relationships/slide" Target="/ppt/slides/slide1.xml" Id="Rb3b92b3c63e749b9" /><Relationship Type="http://schemas.openxmlformats.org/officeDocument/2006/relationships/slide" Target="/ppt/slides/slide2.xml" Id="Rd7162830dc044685" /><Relationship Type="http://schemas.openxmlformats.org/officeDocument/2006/relationships/slide" Target="/ppt/slides/slide3.xml" Id="Rf9ce3f6273bc4dd9" /><Relationship Type="http://schemas.openxmlformats.org/officeDocument/2006/relationships/slide" Target="/ppt/slides/slide4.xml" Id="R8dcd656f9c364bd0" /><Relationship Type="http://schemas.openxmlformats.org/officeDocument/2006/relationships/slide" Target="/ppt/slides/slide5.xml" Id="R52a4b26c7f6241dd" /><Relationship Type="http://schemas.openxmlformats.org/officeDocument/2006/relationships/slide" Target="/ppt/slides/slide6.xml" Id="R86f2c83a0aae452e" /><Relationship Type="http://schemas.openxmlformats.org/officeDocument/2006/relationships/slide" Target="/ppt/slides/slide7.xml" Id="R892109d0bd734aa6" /><Relationship Type="http://schemas.openxmlformats.org/officeDocument/2006/relationships/slide" Target="/ppt/slides/slide8.xml" Id="Rf15942872fd14e46" /><Relationship Type="http://schemas.openxmlformats.org/officeDocument/2006/relationships/slide" Target="/ppt/slides/slide9.xml" Id="R326784bdabf0409b" /><Relationship Type="http://schemas.openxmlformats.org/officeDocument/2006/relationships/slide" Target="/ppt/slides/slide10.xml" Id="Rdcdd0fa812f74b6f" /><Relationship Type="http://schemas.openxmlformats.org/officeDocument/2006/relationships/slide" Target="/ppt/slides/slide11.xml" Id="Rb7d4128f25194e42" /><Relationship Type="http://schemas.openxmlformats.org/officeDocument/2006/relationships/slide" Target="/ppt/slides/slide12.xml" Id="R1ed05263b9504b59" /><Relationship Type="http://schemas.openxmlformats.org/officeDocument/2006/relationships/slide" Target="/ppt/slides/slide13.xml" Id="Rd5f87dbe39a34a06" /><Relationship Type="http://schemas.openxmlformats.org/officeDocument/2006/relationships/slide" Target="/ppt/slides/slide14.xml" Id="R990bc1b557cc4dd0" /><Relationship Type="http://schemas.openxmlformats.org/officeDocument/2006/relationships/slide" Target="/ppt/slides/slide15.xml" Id="R5eb923f9c8654d7d" /><Relationship Type="http://schemas.openxmlformats.org/officeDocument/2006/relationships/slide" Target="/ppt/slides/slide16.xml" Id="Rbf5208d4f03e4cc8" /><Relationship Type="http://schemas.openxmlformats.org/officeDocument/2006/relationships/slide" Target="/ppt/slides/slide17.xml" Id="R2a9d6782b0414ec5" /><Relationship Type="http://schemas.openxmlformats.org/officeDocument/2006/relationships/slide" Target="/ppt/slides/slide18.xml" Id="R6359b39ae5b540b4" /><Relationship Type="http://schemas.openxmlformats.org/officeDocument/2006/relationships/slide" Target="/ppt/slides/slide19.xml" Id="Ra535a8df771448fe" /><Relationship Type="http://schemas.openxmlformats.org/officeDocument/2006/relationships/slide" Target="/ppt/slides/slide20.xml" Id="R9f17831b7a8e4d25" /><Relationship Type="http://schemas.openxmlformats.org/officeDocument/2006/relationships/slide" Target="/ppt/slides/slide21.xml" Id="R87fbc0600bcb480d" /><Relationship Type="http://schemas.openxmlformats.org/officeDocument/2006/relationships/slide" Target="/ppt/slides/slide22.xml" Id="R0777c6b5b65a42ba" /><Relationship Type="http://schemas.openxmlformats.org/officeDocument/2006/relationships/slide" Target="/ppt/slides/slide23.xml" Id="Rfd7fae6433ed4132" /><Relationship Type="http://schemas.openxmlformats.org/officeDocument/2006/relationships/slide" Target="/ppt/slides/slide24.xml" Id="R1699d8e37182487b" /><Relationship Type="http://schemas.openxmlformats.org/officeDocument/2006/relationships/slide" Target="/ppt/slides/slide25.xml" Id="R9bc7b3318c9947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cd1b71734e42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기본">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사용자 지정 2">
      <a:majorFont>
        <a:latin typeface="Arial"/>
        <a:ea typeface="맑은 고딕"/>
        <a:cs typeface=""/>
      </a:majorFont>
      <a:minorFont>
        <a:latin typeface="Arial"/>
        <a:ea typeface="맑은 고딕"/>
        <a:cs typeface=""/>
      </a:minorFont>
    </a:fontScheme>
    <a:fmtScheme name="PwC Colors">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f94b3fd34c4dc0" /><Relationship Type="http://schemas.openxmlformats.org/officeDocument/2006/relationships/notesMaster" Target="/ppt/notesMasters/notesMaster1.xml" Id="R3f59c5c0b2aa42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e655bb47814b7d" /><Relationship Type="http://schemas.openxmlformats.org/officeDocument/2006/relationships/notesMaster" Target="/ppt/notesMasters/notesMaster1.xml" Id="R227e40102c5b48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6134ca3652464d" /><Relationship Type="http://schemas.openxmlformats.org/officeDocument/2006/relationships/notesMaster" Target="/ppt/notesMasters/notesMaster1.xml" Id="Ra755d168c53346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b66d9271d04167" /><Relationship Type="http://schemas.openxmlformats.org/officeDocument/2006/relationships/notesMaster" Target="/ppt/notesMasters/notesMaster1.xml" Id="Ra9ddf2349a7646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ad479e2a4940e2" /><Relationship Type="http://schemas.openxmlformats.org/officeDocument/2006/relationships/notesMaster" Target="/ppt/notesMasters/notesMaster1.xml" Id="R7f8e6af9fe5b42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fdd76ade474e3f" /><Relationship Type="http://schemas.openxmlformats.org/officeDocument/2006/relationships/notesMaster" Target="/ppt/notesMasters/notesMaster1.xml" Id="Rbc964e353dbb44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050dc2576b44cf" /><Relationship Type="http://schemas.openxmlformats.org/officeDocument/2006/relationships/notesMaster" Target="/ppt/notesMasters/notesMaster1.xml" Id="R292a975b8fd042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272018eee84116" /><Relationship Type="http://schemas.openxmlformats.org/officeDocument/2006/relationships/notesMaster" Target="/ppt/notesMasters/notesMaster1.xml" Id="R1472e78aa62b43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994f42785f468e" /><Relationship Type="http://schemas.openxmlformats.org/officeDocument/2006/relationships/notesMaster" Target="/ppt/notesMasters/notesMaster1.xml" Id="R7932287ea03c45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f35fb52c0a4274" /><Relationship Type="http://schemas.openxmlformats.org/officeDocument/2006/relationships/notesMaster" Target="/ppt/notesMasters/notesMaster1.xml" Id="R37f4664676dd45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751bb143364c70" /><Relationship Type="http://schemas.openxmlformats.org/officeDocument/2006/relationships/notesMaster" Target="/ppt/notesMasters/notesMaster1.xml" Id="R02451e6b50604b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68719cfa4a4608" /><Relationship Type="http://schemas.openxmlformats.org/officeDocument/2006/relationships/notesMaster" Target="/ppt/notesMasters/notesMaster1.xml" Id="R69495b10a7fc49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93bee393474206" /><Relationship Type="http://schemas.openxmlformats.org/officeDocument/2006/relationships/notesMaster" Target="/ppt/notesMasters/notesMaster1.xml" Id="R6cf7bd5f87f842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d859dcaeea4056" /><Relationship Type="http://schemas.openxmlformats.org/officeDocument/2006/relationships/notesMaster" Target="/ppt/notesMasters/notesMaster1.xml" Id="Refd99c9311714e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81eb9cb66b4943" /><Relationship Type="http://schemas.openxmlformats.org/officeDocument/2006/relationships/notesMaster" Target="/ppt/notesMasters/notesMaster1.xml" Id="R97a65194617640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2b22704c2f4e15" /><Relationship Type="http://schemas.openxmlformats.org/officeDocument/2006/relationships/notesMaster" Target="/ppt/notesMasters/notesMaster1.xml" Id="R2235208f2c4f43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6171979ac34e86" /><Relationship Type="http://schemas.openxmlformats.org/officeDocument/2006/relationships/notesMaster" Target="/ppt/notesMasters/notesMaster1.xml" Id="Rc05c86b42d3745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8cd5b96e354927" /><Relationship Type="http://schemas.openxmlformats.org/officeDocument/2006/relationships/notesMaster" Target="/ppt/notesMasters/notesMaster1.xml" Id="Rf25fee3ab4ab41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b5b3abfdff489f" /><Relationship Type="http://schemas.openxmlformats.org/officeDocument/2006/relationships/notesMaster" Target="/ppt/notesMasters/notesMaster1.xml" Id="Red804234fe8d4b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c53288a4204f86" /><Relationship Type="http://schemas.openxmlformats.org/officeDocument/2006/relationships/notesMaster" Target="/ppt/notesMasters/notesMaster1.xml" Id="R363cb8550c3e46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a6794ab2d69489c" /><Relationship Type="http://schemas.openxmlformats.org/officeDocument/2006/relationships/notesMaster" Target="/ppt/notesMasters/notesMaster1.xml" Id="R3321b54c525e48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4892a64100d4df7" /><Relationship Type="http://schemas.openxmlformats.org/officeDocument/2006/relationships/notesMaster" Target="/ppt/notesMasters/notesMaster1.xml" Id="R6788dd4d3b9249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a10847d15484848" /><Relationship Type="http://schemas.openxmlformats.org/officeDocument/2006/relationships/notesMaster" Target="/ppt/notesMasters/notesMaster1.xml" Id="R2b081f642c86437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00459029d944d8" /><Relationship Type="http://schemas.openxmlformats.org/officeDocument/2006/relationships/notesMaster" Target="/ppt/notesMasters/notesMaster1.xml" Id="R356b9fb5b62847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aecc23b2e264ec7" /><Relationship Type="http://schemas.openxmlformats.org/officeDocument/2006/relationships/notesMaster" Target="/ppt/notesMasters/notesMaster1.xml" Id="Rc5e34154efb941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25초</a:t>
            </a:r>
            <a:endParaRPr/>
          </a:p>
          <a:p xmlns:a="http://schemas.openxmlformats.org/drawingml/2006/main">
            <a:r>
              <a:t/>
            </a:r>
            <a:endParaRPr/>
          </a:p>
          <a:p xmlns:a="http://schemas.openxmlformats.org/drawingml/2006/main">
            <a:r>
              <a:t>안녕하세요. 저희는 결과물 두 개 중 더 마음에 드는 쪽을 고르면, 그 선택을 바탕으로 개인에게 맞는 프롬프트를 만들어주는 도구를 개발하고 있습니다. 장기적으로는 분야별 전문가가 작업 템플릿을 추가하고, 사용자가 여러 작업의 프롬프트를 한곳에서 만들고 다시 쓰는 서비스를 목표로 합니다.</a:t>
            </a:r>
            <a:endParaRPr/>
          </a:p>
          <a:p xmlns:a="http://schemas.openxmlformats.org/drawingml/2006/main">
            <a:r>
              <a:t/>
            </a:r>
            <a:endParaRPr/>
          </a:p>
          <a:p xmlns:a="http://schemas.openxmlformats.org/drawingml/2006/main">
            <a:r>
              <a:t>자료: https://github.com/a77315829-byte/preference-prompt-tool/blob/ui/ux/docs/presentation_guide.md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10초</a:t>
            </a:r>
          </a:p>
          <a:p xmlns:a="http://schemas.openxmlformats.org/drawingml/2006/main">
            <a:r>
              <a:t/>
            </a:r>
          </a:p>
          <a:p xmlns:a="http://schemas.openxmlformats.org/drawingml/2006/main">
            <a:r>
              <a:t>문제와 목표, 현재 구현 범위, 실험 근거와 검증 계획, 수행 일정과 팀별 책임을 순서대로 말씀드리겠습니다.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35초</a:t>
            </a:r>
          </a:p>
          <a:p xmlns:a="http://schemas.openxmlformats.org/drawingml/2006/main">
            <a:r>
              <a:t/>
            </a:r>
          </a:p>
          <a:p xmlns:a="http://schemas.openxmlformats.org/drawingml/2006/main">
            <a:r>
              <a:t>AI를 사용하면서 답변을 더 짧게 해달라거나, 예시를 먼저 보여달라는 지시를 반복하는 경우가 있습니다. 저희는 이런 반복 작업을 하는 사용자에게 초점을 맞추려 합니다. 프롬프트 설계에 익숙하지 않은 사용자가 지침을 체계적으로 개선하는 데 어려움을 겪는다는 선행 연구도 있습니다. 그래서 원하는 결과를 비교해서 고르는 방식이 직접 지침을 쓰는 부담을 줄일 수 있는지 검증하고 있습니다.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자료: https://github.com/a77315829-byte/preference-prompt-tool/blob/ui/ux/docs/presentation_guide.md</a:t>
            </a:r>
          </a:p>
          <a:p xmlns:a="http://schemas.openxmlformats.org/drawingml/2006/main">
            <a:r>
              <a:t>배경 문헌: Why Johnny Can’t Prompt, CHI 2023, https://doi.org/10.1145/3544548.3581388</a:t>
            </a:r>
          </a:p>
          <a:p xmlns:a="http://schemas.openxmlformats.org/drawingml/2006/main">
            <a:r>
              <a:t>방법 배경: Ouyang et al., 2022, https://arxiv.org/abs/2203.02155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30초</a:t>
            </a:r>
          </a:p>
          <a:p xmlns:a="http://schemas.openxmlformats.org/drawingml/2006/main">
            <a:r>
              <a:t/>
            </a:r>
          </a:p>
          <a:p xmlns:a="http://schemas.openxmlformats.org/drawingml/2006/main">
            <a:r>
              <a:t>사용자는 조건이 다른 두 결과를 비교합니다. 시스템은 선택 이력에서 어떤 축값을 선호하는지 추정하고, 이를 프롬프트 문구와 평가 함수로 바꿉니다. 기본 산출물은 추정된 선호를 조립한 프롬프트입니다. GEPA는 그 이후 선택적으로 개선을 시도하는 단계이며, 대표 비교 실험의 D 조건은 GEPA 없이 조립한 결과입니다.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30초</a:t>
            </a:r>
          </a:p>
          <a:p xmlns:a="http://schemas.openxmlformats.org/drawingml/2006/main">
            <a:r>
              <a:t/>
            </a:r>
          </a:p>
          <a:p xmlns:a="http://schemas.openxmlformats.org/drawingml/2006/main">
            <a:r>
              <a:t>목표는 세 부분으로 나눕니다. 첫째, 비교 선택이 선호를 얼마나 잘 반영하는가입니다. 둘째, 직접 지침을 쓰는 것에 비해 시간과 수정 부담이 줄어드는가입니다. 셋째, 다른 분야 담당자가 공통 엔진을 고치지 않고 기능을 추가할 수 있는가입니다. 기존 실험은 첫 번째의 제한된 근거이며, 사용자 부담과 반복 사용은 이번 수행 기간에 직접 측정할 계획입니다.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20초</a:t>
            </a:r>
          </a:p>
          <a:p xmlns:a="http://schemas.openxmlformats.org/drawingml/2006/main">
            <a:r>
              <a:t/>
            </a:r>
          </a:p>
          <a:p xmlns:a="http://schemas.openxmlformats.org/drawingml/2006/main">
            <a:r>
              <a:t>사용자는 반복해서 쓰는 작업의 출력 방식을 저장해두고 새 입력에 적용할 수 있게 됩니다. 분야 담당자는 자신의 전문성을 템플릿과 검사 기준으로 제공할 수 있습니다. 이러한 기대효과는 작성·수정 시간, 프롬프트 재사용 여부, 새 도메인 추가 공수로 확인하겠습니다.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35초</a:t>
            </a:r>
          </a:p>
          <a:p xmlns:a="http://schemas.openxmlformats.org/drawingml/2006/main">
            <a:r>
              <a:t/>
            </a:r>
          </a:p>
          <a:p xmlns:a="http://schemas.openxmlformats.org/drawingml/2006/main">
            <a:r>
              <a:t>공통 엔진과 분야별 도메인 팩을 중심으로 개발합니다. 요약은 기존 실험을 보강하는 기준 도메인으로 유지하고, 코딩과 AWS 비용 보고는 팀원의 전문성으로 확장할 계획입니다. 리뷰·이메일·자동 축 발견은 실험 범위로 관리해 검증 범위를 과도하게 넓히지 않겠습니다. 제품 기능은 템플릿 탐색, 개인화, 저장과 실행으로 이어지도록 정리하려 합니다.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40초</a:t>
            </a:r>
          </a:p>
          <a:p xmlns:a="http://schemas.openxmlformats.org/drawingml/2006/main">
            <a:r>
              <a:t/>
            </a:r>
          </a:p>
          <a:p xmlns:a="http://schemas.openxmlformats.org/drawingml/2006/main">
            <a:r>
              <a:t>화면과 서비스, 선호 엔진, 도메인 팩을 분리했습니다. 공통 엔진은 축의 이름과 값 목록을 받아 비교와 추정을 수행합니다. 분야 담당자는 YAML의 지시문과 검사 함수, 데모와 평가 사례를 제공합니다. 새 도메인의 등록과 화면 연결은 필요하지만, 선호 학습 엔진을 매번 다시 만들지 않는 구조입니다. React는 개발 화면, Streamlit은 기존 공개 데모로 구분합니다.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25초</a:t>
            </a:r>
          </a:p>
          <a:p xmlns:a="http://schemas.openxmlformats.org/drawingml/2006/main">
            <a:r>
              <a:t/>
            </a:r>
          </a:p>
          <a:p xmlns:a="http://schemas.openxmlformats.org/drawingml/2006/main">
            <a:r>
              <a:t>현재는 도메인 로드, 후보 생성, 비교 선택, 선호 추정과 프롬프트 조립이 연결되어 있습니다. 다음 제품 단계에서는 추천 템플릿에서 시작하고, 개인화한 프롬프트를 보관해 새로운 입력에 반복 사용하는 흐름을 보강하려 합니다. GEPA 최적화와 사용자가 가져온 프롬프트의 점검·다듬기는 서로 다른 기능으로 관리합니다.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20초</a:t>
            </a:r>
          </a:p>
          <a:p xmlns:a="http://schemas.openxmlformats.org/drawingml/2006/main">
            <a:r>
              <a:t/>
            </a:r>
          </a:p>
          <a:p xmlns:a="http://schemas.openxmlformats.org/drawingml/2006/main">
            <a:r>
              <a:t>운영에서는 비용, 대기 시간, 데이터 처리를 함께 관리합니다. 생성 결과를 캐시하고 사용량 제한을 두었지만 메모리 상한은 재시작 시 초기화될 수 있습니다. 원문이 피드백 로그에 남지 않는 것과 생성 캐시가 서버에 저장되는 것은 구분하고, 공개 운영 전에 보존·삭제 정책을 명확히 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30초</a:t>
            </a:r>
          </a:p>
          <a:p xmlns:a="http://schemas.openxmlformats.org/drawingml/2006/main">
            <a:r>
              <a:t/>
            </a:r>
          </a:p>
          <a:p xmlns:a="http://schemas.openxmlformats.org/drawingml/2006/main">
            <a:r>
              <a:t>분야마다 확보한 근거가 다릅니다. 영어 요약에는 모의 선호 복원과 비교군 실험이 있고, 한국어는 기능 검증과 사용자 파일럿 준비가 되어 있습니다. 코딩은 스타일 선택 외에 빌드와 기능 정확성을 확인해야 합니다. AWS는 서비스별 비용 현황을 상세도와 강조점에 맞춰 설명하는 범위이며, 유휴 리소스를 확정하는 도구로 소개하지 않습니다.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25초</a:t>
            </a:r>
          </a:p>
          <a:p xmlns:a="http://schemas.openxmlformats.org/drawingml/2006/main">
            <a:r>
              <a:t/>
            </a:r>
          </a:p>
          <a:p xmlns:a="http://schemas.openxmlformats.org/drawingml/2006/main">
            <a:r>
              <a:t>먼저 가설을 정하고 측정 방법을 만든 뒤, 결과를 보고 채택하거나 수정합니다. 최적화한 지표만으로 최종 성과를 주장하지 않고 별도 지표와 대조합니다. 실험 조건과 실패한 가설도 기록해 다른 팀원이 같은 결과를 확인할 수 있도록 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55초</a:t>
            </a:r>
          </a:p>
          <a:p xmlns:a="http://schemas.openxmlformats.org/drawingml/2006/main">
            <a:r>
              <a:t/>
            </a:r>
          </a:p>
          <a:p xmlns:a="http://schemas.openxmlformats.org/drawingml/2006/main">
            <a:r>
              <a:t>기존 모의 실험에서는 특정 문서·페르소나 조건에서 완전복원율 80%를 관찰했습니다. 이는 실제 사용자 정확도와는 다릅니다. 기존 비교에서는 독립 지표인 ROUGE-L이 일반 지침 0.168, 선택 기반 조립 0.207이었습니다. 이후 취향을 정확히 명시한 강한 지침을 추가한 실험에서는 직접 지침 0.200, 선택 기반 0.209로 평균이 가까웠습니다. 이 결과를 바탕으로 성능의 보편적 우위보다 비슷한 결과를 얻는 과정의 사용자 부담을 검증하려 합니다.</a:t>
            </a:r>
          </a:p>
          <a:p xmlns:a="http://schemas.openxmlformats.org/drawingml/2006/main">
            <a:r>
              <a:t>피드백 어블레이션의 0.98 대 0.44는 최적화 목표 지표의 결과입니다. 내 글 경로의 형식 거리 감소는 별도 연구 결과로, 전문 지식 전이를 뜻하지 않습니다.</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자료: https://github.com/a77315829-byte/preference-prompt-tool/blob/ui/ux/docs/presentation_guide.md</a:t>
            </a:r>
          </a:p>
          <a:p xmlns:a="http://schemas.openxmlformats.org/drawingml/2006/main">
            <a:r>
              <a:t>기존 결과: https://github.com/a77315829-byte/preference-prompt-tool/blob/ui/ux/experiments/results/baseline_comparison.csv</a:t>
            </a:r>
          </a:p>
          <a:p xmlns:a="http://schemas.openxmlformats.org/drawingml/2006/main">
            <a:r>
              <a:t>강한 비교군: https://github.com/a77315829-byte/preference-prompt-tool/blob/ui/ux/experiments/results/strong_baseline_comparison.csv</a:t>
            </a:r>
          </a:p>
          <a:p xmlns:a="http://schemas.openxmlformats.org/drawingml/2006/main">
            <a:r>
              <a:t>| 실험 | 조건 | checks | ROUGE-L | 발표 시 해석 |</a:t>
            </a:r>
          </a:p>
          <a:p xmlns:a="http://schemas.openxmlformats.org/drawingml/2006/main">
            <a:r>
              <a:t>|---|---|---:|---:|---|</a:t>
            </a:r>
          </a:p>
          <a:p xmlns:a="http://schemas.openxmlformats.org/drawingml/2006/main">
            <a:r>
              <a:t>| 기존 A/B/D | 일반 지침 B | 0.668 | 0.168 | 실험자가 작성한 일반 지침, 실제 참여자 아님 |</a:t>
            </a:r>
          </a:p>
          <a:p xmlns:a="http://schemas.openxmlformats.org/drawingml/2006/main">
            <a:r>
              <a:t>| 기존 A/B/D | 선택 기반 D | 0.996 | 0.207 | 5문서, GEPA 없는 조립본 |</a:t>
            </a:r>
          </a:p>
          <a:p xmlns:a="http://schemas.openxmlformats.org/drawingml/2006/main">
            <a:r>
              <a:t>| 강한 비교군 추가 | B | 0.668 | 0.168 | 동일한 일반 지침 조건 |</a:t>
            </a:r>
          </a:p>
          <a:p xmlns:a="http://schemas.openxmlformats.org/drawingml/2006/main">
            <a:r>
              <a:t>| 강한 비교군 추가 | B+ | 0.964 | 0.200 | 정답 축값을 다른 문구로 옮긴 코드 생성 지침 |</a:t>
            </a:r>
          </a:p>
          <a:p xmlns:a="http://schemas.openxmlformats.org/drawingml/2006/main">
            <a:r>
              <a:t>| 강한 비교군 추가 | B-LLM | 0.610 | 0.152 | 축 설명을 모델에 주어 한 문장 지침 생성 |</a:t>
            </a:r>
          </a:p>
          <a:p xmlns:a="http://schemas.openxmlformats.org/drawingml/2006/main">
            <a:r>
              <a:t>| 강한 비교군 추가 | D | 0.966 | 0.209 | 새 실행 결과, 기존 D 수치와 구분 |</a:t>
            </a:r>
          </a:p>
          <a:p xmlns:a="http://schemas.openxmlformats.org/drawingml/2006/main">
            <a:r>
              <a:t>- 강한 비교군 실험에서 D 대 B+는 5문서 중 3개에서 D가 높다. 우위나 동등성을 입증했다고 말하지 않는다.</a:t>
            </a:r>
          </a:p>
          <a:p xmlns:a="http://schemas.openxmlformats.org/drawingml/2006/main">
            <a:r>
              <a:t>- B+는 실제 사람이 시간을 들여 작성한 자료가 아니다. `build_strong_direct_prompt()`가 정답 축값을 자연어로 옮긴다.</a:t>
            </a:r>
          </a:p>
          <a:p xmlns:a="http://schemas.openxmlformats.org/drawingml/2006/main">
            <a:r>
              <a:t>- B-LLM은 한 모델·메타프롬프트·한 문장 지침 조건이다. 상용 프롬프트 생성기 전체의 성능을 대표하지 않는다.</a:t>
            </a:r>
          </a:p>
          <a:p xmlns:a="http://schemas.openxmlformats.org/drawingml/2006/main">
            <a:r>
              <a:t>- 이전 실험 D 대 B는 4/5승, 강한 비교군 실험에서는 5/5승이다. 두 실행을 혼용하지 않는다.</a:t>
            </a:r>
          </a:p>
          <a:p xmlns:a="http://schemas.openxmlformats.org/drawingml/2006/main">
            <a:r>
              <a:t>- n=5에서 5/5승이어도 양측 부호검정 p=0.0625다. 통계적 우위를 주장하지 않는다.</a:t>
            </a:r>
          </a:p>
          <a:p xmlns:a="http://schemas.openxmlformats.org/drawingml/2006/main">
            <a:r>
              <a:t>- checks는 축 정의와 밀접한 내부 지표다. ROUGE-L은 참조 요약과의 텍스트 겹침으로, 사실 정확성이나 만족도 전체를 뜻하지 않는다.</a:t>
            </a:r>
          </a:p>
          <a:p xmlns:a="http://schemas.openxmlformats.org/drawingml/2006/main">
            <a:r>
              <a:t>| 수치 | 의미 | 이 수치로 말할 수 없는 것 |</a:t>
            </a:r>
          </a:p>
          <a:p xmlns:a="http://schemas.openxmlformats.org/drawingml/2006/main">
            <a:r>
              <a:t>|---|---|---|</a:t>
            </a:r>
          </a:p>
          <a:p xmlns:a="http://schemas.openxmlformats.org/drawingml/2006/main">
            <a:r>
              <a:t>| 모의 완전복원 80% | 과거 특정 문서·시드·선택기 실험의 집계 | 실제 사용자 80% 만족, 최신 선택기 동일 성능 |</a:t>
            </a:r>
          </a:p>
          <a:p xmlns:a="http://schemas.openxmlformats.org/drawingml/2006/main">
            <a:r>
              <a:t>| rich 0.98 / terse 0.44 | 피드백 어블레이션의 최적화 목표 점수 | 독립 품질 또는 사용자 만족의 인과 효과 확정 |</a:t>
            </a:r>
          </a:p>
          <a:p xmlns:a="http://schemas.openxmlformats.org/drawingml/2006/main">
            <a:r>
              <a:t>| 형식 거리 0.308 → 0.146 | 공개 저자 자료의 형식 유사성 실험 | 저자 본인 평가, 전문 지식 전이, 한국어 효과 |</a:t>
            </a:r>
          </a:p>
          <a:p xmlns:a="http://schemas.openxmlformats.org/drawingml/2006/main">
            <a:r>
              <a:t>| 검사 함수 균형정확도 length 약 0.446 / extractiveness 약 0.598 | 통합 표본에서 사람 라벨과 비교 | 새 홀드아웃에서 충분히 검증된 사람 선호 측정기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35초</a:t>
            </a:r>
          </a:p>
          <a:p xmlns:a="http://schemas.openxmlformats.org/drawingml/2006/main">
            <a:r>
              <a:t/>
            </a:r>
          </a:p>
          <a:p xmlns:a="http://schemas.openxmlformats.org/drawingml/2006/main">
            <a:r>
              <a:t>다음 검증은 세 가지에 집중하겠습니다. 선택에 사용하지 않은 새 문서에서도 결과가 유지되는지, 사용자가 직접 작성하는 것보다 부담이 줄어드는지, 도메인이 달라져도 내용 정확성을 유지하는지입니다. 강한 비교군은 소규모 결과를 확보했으며 표본을 확대해야 합니다. GEPA는 추가 비용에 상응하는 효과가 있는지 별도 비교하겠습니다.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50초</a:t>
            </a:r>
          </a:p>
          <a:p xmlns:a="http://schemas.openxmlformats.org/drawingml/2006/main">
            <a:r>
              <a:t/>
            </a:r>
          </a:p>
          <a:p xmlns:a="http://schemas.openxmlformats.org/drawingml/2006/main">
            <a:r>
              <a:t>첫 파일럿은 한국어 요약에서 직접 지침 작성과 선택 기반 방식 두 가지를 비교합니다. 수행 순서를 교차 배정하고 시간을 잰 다음, 새로운 문서의 결과를 방식 이름 없이 보여줍니다. 선호뿐 아니라 사실 오류와 누락도 기록하고, 한 사람이 평가한 여러 문서를 참여자 한 명의 결과로 집계합니다. 5~8명 파일럿의 목적은 실패 유형과 사용 부담을 찾아 본실험을 설계하는 것입니다.</a:t>
            </a:r>
          </a:p>
          <a:p xmlns:a="http://schemas.openxmlformats.org/drawingml/2006/main">
            <a:r>
              <a:t/>
            </a:r>
          </a:p>
          <a:p xmlns:a="http://schemas.openxmlformats.org/drawingml/2006/main">
            <a:r>
              <a:t>자료: https://github.com/a77315829-byte/preference-prompt-tool/blob/ui/ux/docs/presentation_guide.md</a:t>
            </a:r>
          </a:p>
          <a:p xmlns:a="http://schemas.openxmlformats.org/drawingml/2006/main">
            <a:r>
              <a:t>파일럿: https://github.com/a77315829-byte/preference-prompt-tool/blob/ui/ux/docs/korean_pilot/README.md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35초</a:t>
            </a:r>
          </a:p>
          <a:p xmlns:a="http://schemas.openxmlformats.org/drawingml/2006/main">
            <a:r>
              <a:t/>
            </a:r>
          </a:p>
          <a:p xmlns:a="http://schemas.openxmlformats.org/drawingml/2006/main">
            <a:r>
              <a:t>일정은 범위 확정과 기존 근거 정리, 요약 파일럿과 도메인별 정확성 검증, 저장·실행 기능 연결, 결과 정리 순으로 배치하겠습니다. React 공개 전환은 핵심 흐름과 오류 처리를 확인한 뒤 진행합니다. 초기 범위 점검과 중간 검증 결과 점검에서 기능을 조정해, 연구와 제품 작업이 동시에 과도해지지 않도록 관리하겠습니다.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20초</a:t>
            </a:r>
          </a:p>
          <a:p xmlns:a="http://schemas.openxmlformats.org/drawingml/2006/main">
            <a:r>
              <a:t/>
            </a:r>
          </a:p>
          <a:p xmlns:a="http://schemas.openxmlformats.org/drawingml/2006/main">
            <a:r>
              <a:t>각 단계는 화면 완성 여부뿐 아니라 확인 가능한 산출물로 관리합니다. 도메인 담당자는 템플릿, 축과 검사 함수, 평가 사례를 함께 제출하고, 실험 담당자는 조건과 결과 파일을 남깁니다. 통합 담당자는 공통 엔진 연결과 화면 흐름을 확인합니다.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30초</a:t>
            </a:r>
          </a:p>
          <a:p xmlns:a="http://schemas.openxmlformats.org/drawingml/2006/main">
            <a:r>
              <a:t/>
            </a:r>
          </a:p>
          <a:p xmlns:a="http://schemas.openxmlformats.org/drawingml/2006/main">
            <a:r>
              <a:t>역할은 공통 기반과 분야별 책임으로 나누려고 합니다. 요약 담당은 기존 검증과 공통 엔진을, 코딩 담당은 해당 작업의 템플릿과 실행 정확성을, AWS 담당은 비용 데이터와 보고 정확성을 책임지는 방식입니다. 화면 통합, 파일럿 운영, 발표 자료도 담당자를 지정하겠습니다.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25초</a:t>
            </a:r>
          </a:p>
          <a:p xmlns:a="http://schemas.openxmlformats.org/drawingml/2006/main">
            <a:r>
              <a:t/>
            </a:r>
          </a:p>
          <a:p xmlns:a="http://schemas.openxmlformats.org/drawingml/2006/main">
            <a:r>
              <a:t>작업 브랜치에서 변경하고 리뷰와 자동 검사를 거쳐 통합하는 것을 원칙으로 하겠습니다. 도메인 담당자가 품질 기준을 제안하고, 공통 엔진에 영향을 주는 변경은 함께 검토합니다. 범위나 일정이 바뀌면 결정 이유와 산출물에 미치는 영향을 기록하겠습니다.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15초</a:t>
            </a:r>
          </a:p>
          <a:p xmlns:a="http://schemas.openxmlformats.org/drawingml/2006/main">
            <a:r>
              <a:t/>
            </a:r>
          </a:p>
          <a:p xmlns:a="http://schemas.openxmlformats.org/drawingml/2006/main">
            <a:r>
              <a:t>관리의 핵심은 이번 기간에 검증할 범위를 지키는 것입니다. 기능마다 담당자와 완료 기준을 두고, 일정·품질·비용·데이터 처리 상태를 정기적으로 확인하겠습니다.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20초</a:t>
            </a:r>
          </a:p>
          <a:p xmlns:a="http://schemas.openxmlformats.org/drawingml/2006/main">
            <a:r>
              <a:t/>
            </a:r>
          </a:p>
          <a:p xmlns:a="http://schemas.openxmlformats.org/drawingml/2006/main">
            <a:r>
              <a:t>자동 테스트는 이미 고친 오류가 다시 생기는 것을 막는 역할을 합니다. 실험 결과를 문서와 대조하는 테스트도 사용합니다. 다만 테스트 개수가 사용자 만족이나 기술적 정확성을 대신하지는 않으므로, 코딩 기능 검사와 사용자 파일럿, 브라우저에서의 실제 흐름 확인을 함께 진행하겠습니다.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20초</a:t>
            </a:r>
          </a:p>
          <a:p xmlns:a="http://schemas.openxmlformats.org/drawingml/2006/main">
            <a:r>
              <a:t/>
            </a:r>
          </a:p>
          <a:p xmlns:a="http://schemas.openxmlformats.org/drawingml/2006/main">
            <a:r>
              <a:t>주요 위험은 실사용자 모집 지연, API 비용, 평가 지표에만 맞춘 출력입니다. 모집은 개발 후반까지 미루지 않고, 실험은 예상 호출량과 중간 저장을 준비합니다. 지표 왜곡에는 독립 평가와 오류 확인을 병행합니다. 대응 기능이 있어도 위험이 완전히 없어지는 것은 아니므로 잔여 위험을 관리하겠습니다.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25초</a:t>
            </a:r>
          </a:p>
          <a:p xmlns:a="http://schemas.openxmlformats.org/drawingml/2006/main">
            <a:r>
              <a:t/>
            </a:r>
          </a:p>
          <a:p xmlns:a="http://schemas.openxmlformats.org/drawingml/2006/main">
            <a:r>
              <a:t>초기에는 정답 요약과 단어가 많이 겹치는 후보를 선호한다고 가정했는데, 내용 겹침이 문체 취향을 대신하는 문제가 있었습니다. 이후 축별 검사로 모의 선택 방식을 바꿨습니다. 다만 이것도 검사 함수의 기준에 의존하므로, 이번에는 실제 사람의 선택으로 확인하려 합니다. 문제를 발견했을 때 측정 방법과 설명을 함께 수정한다는 사례입니다.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25초</a:t>
            </a:r>
          </a:p>
          <a:p xmlns:a="http://schemas.openxmlformats.org/drawingml/2006/main">
            <a:r>
              <a:t/>
            </a:r>
          </a:p>
          <a:p xmlns:a="http://schemas.openxmlformats.org/drawingml/2006/main">
            <a:r>
              <a:t>먼저 팀이 초기 사용자와 우선 도메인, 담당·일정·예산을 확정해야 합니다. 그다음 요약 파일럿과 코딩·AWS의 정확성 검증을 수행하고, 템플릿을 저장해 다시 실행하는 흐름을 완성하겠습니다. 오늘 피드백은 특히 초기 사용 범위와 완료 기준이 적절한지에 대해 받고 싶습니다.</a:t>
            </a:r>
          </a:p>
          <a:p xmlns:a="http://schemas.openxmlformats.org/drawingml/2006/main">
            <a:r>
              <a:t/>
            </a:r>
          </a:p>
          <a:p xmlns:a="http://schemas.openxmlformats.org/drawingml/2006/main">
            <a:r>
              <a:t>자료: https://github.com/a77315829-byte/preference-prompt-tool/blob/ui/ux/docs/presentation_guide.md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발표 시간: 15초</a:t>
            </a:r>
            <a:endParaRPr/>
          </a:p>
          <a:p xmlns:a="http://schemas.openxmlformats.org/drawingml/2006/main">
            <a:r>
              <a:t/>
            </a:r>
            <a:endParaRPr/>
          </a:p>
          <a:p xmlns:a="http://schemas.openxmlformats.org/drawingml/2006/main">
            <a:r>
              <a:t>저희는 비교 선택으로 개인에게 맞는 프롬프트를 만들고, 분야별 전문가가 같은 기반 위에 작업을 추가할 수 있는 서비스를 목표로 합니다. 요약의 기존 실험을 바탕으로 실제 사용자 부담을 확인하고, 코딩과 AWS에서도 사실과 기능을 유지하면서 표현을 개인화할 수 있는지 검증하겠습니다. 감사합니다.</a:t>
            </a:r>
            <a:endParaRPr/>
          </a:p>
          <a:p xmlns:a="http://schemas.openxmlformats.org/drawingml/2006/main">
            <a:r>
              <a:t/>
            </a:r>
            <a:endParaRPr/>
          </a:p>
          <a:p xmlns:a="http://schemas.openxmlformats.org/drawingml/2006/main">
            <a:r>
              <a:t>자료: https://github.com/a77315829-byte/preference-prompt-tool/blob/ui/ux/docs/presentation_guide.md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4c9e0f69644a9c" /><Relationship Type="http://schemas.openxmlformats.org/officeDocument/2006/relationships/image" Target="/ppt/media/image.png" Id="Rd2993df561c84d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26303ba3fa41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daa229a37e40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a5d4d7d87d41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c491cb8f9642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0fb6c8f6c94455" /></Relationships>
</file>

<file path=ppt/slideLayouts/slideLayout1.xml><?xml version="1.0" encoding="utf-8"?>
<p:sldLayout xmlns:p="http://schemas.openxmlformats.org/presentationml/2006/main" showMasterSp="0" preserve="1" userDrawn="1">
  <p:cSld name="표지 (1)">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3EEA0AB9-C64C-4871-8A80-451BF1B52AF8}"/>
              </a:ext>
            </a:extLst>
          </p:cNvPr>
          <p:cNvSpPr>
            <a:spLocks xmlns:a="http://schemas.openxmlformats.org/drawingml/2006/main" noGrp="1"/>
          </p:cNvSpPr>
          <p:nvPr/>
        </p:nvSpPr>
        <p:spPr>
          <a:xfrm xmlns:a="http://schemas.openxmlformats.org/drawingml/2006/main">
            <a:off x="2" y="0"/>
            <a:ext cx="6649145" cy="3429000"/>
          </a:xfrm>
          <a:prstGeom xmlns:a="http://schemas.openxmlformats.org/drawingml/2006/main" prst="rect">
            <a:avLst/>
          </a:prstGeom>
          <a:solidFill xmlns:a="http://schemas.openxmlformats.org/drawingml/2006/main">
            <a:srgbClr val="46464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64"/>
          </a:p>
        </p:txBody>
      </p:sp>
      <p:sp>
        <p:nvSpPr>
          <p:cNvPr id="10" name="Rectangle 9">
            <a:extLst xmlns:a="http://schemas.openxmlformats.org/drawingml/2006/main">
              <a:ext uri="{FF2B5EF4-FFF2-40B4-BE49-F238E27FC236}">
                <a16:creationId xmlns:a16="http://schemas.microsoft.com/office/drawing/2014/main" id="{D09B565A-992B-44DA-88A7-F112F729D489}"/>
              </a:ext>
            </a:extLst>
          </p:cNvPr>
          <p:cNvSpPr>
            <a:spLocks xmlns:a="http://schemas.openxmlformats.org/drawingml/2006/main" noGrp="1"/>
          </p:cNvSpPr>
          <p:nvPr/>
        </p:nvSpPr>
        <p:spPr>
          <a:xfrm xmlns:a="http://schemas.openxmlformats.org/drawingml/2006/main">
            <a:off x="2" y="3429000"/>
            <a:ext cx="6649145" cy="1143000"/>
          </a:xfrm>
          <a:prstGeom xmlns:a="http://schemas.openxmlformats.org/drawingml/2006/main" prst="rect">
            <a:avLst/>
          </a:prstGeom>
          <a:solidFill xmlns:a="http://schemas.openxmlformats.org/drawingml/2006/main">
            <a:srgbClr val="175C2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64"/>
          </a:p>
        </p:txBody>
      </p:sp>
      <p:sp>
        <p:nvSpPr>
          <p:cNvPr id="11" name="Rectangle 10">
            <a:extLst xmlns:a="http://schemas.openxmlformats.org/drawingml/2006/main">
              <a:ext uri="{FF2B5EF4-FFF2-40B4-BE49-F238E27FC236}">
                <a16:creationId xmlns:a16="http://schemas.microsoft.com/office/drawing/2014/main" id="{CD9D4336-B097-4AA3-9A7E-A096383F7205}"/>
              </a:ext>
            </a:extLst>
          </p:cNvPr>
          <p:cNvSpPr>
            <a:spLocks xmlns:a="http://schemas.openxmlformats.org/drawingml/2006/main" noGrp="1"/>
          </p:cNvSpPr>
          <p:nvPr/>
        </p:nvSpPr>
        <p:spPr>
          <a:xfrm xmlns:a="http://schemas.openxmlformats.org/drawingml/2006/main">
            <a:off x="6649148" y="0"/>
            <a:ext cx="3256856" cy="3429000"/>
          </a:xfrm>
          <a:prstGeom xmlns:a="http://schemas.openxmlformats.org/drawingml/2006/main" prst="rect">
            <a:avLst/>
          </a:prstGeom>
          <a:solidFill xmlns:a="http://schemas.openxmlformats.org/drawingml/2006/main">
            <a:srgbClr val="00206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464"/>
          </a:p>
        </p:txBody>
      </p:sp>
      <p:sp>
        <p:nvSpPr>
          <p:cNvPr id="17" name="Title 1">
            <a:extLst xmlns:a="http://schemas.openxmlformats.org/drawingml/2006/main">
              <a:ext uri="{FF2B5EF4-FFF2-40B4-BE49-F238E27FC236}">
                <a16:creationId xmlns:a16="http://schemas.microsoft.com/office/drawing/2014/main" id="{CCEC02F8-5815-4A48-9C87-D516A35DB0D8}"/>
              </a:ext>
            </a:extLst>
          </p:cNvPr>
          <p:cNvSpPr>
            <a:spLocks xmlns:a="http://schemas.openxmlformats.org/drawingml/2006/main" noGrp="1"/>
          </p:cNvSpPr>
          <p:nvPr>
            <p:ph type="ctrTitle" idx="0" hasCustomPrompt="1"/>
          </p:nvPr>
        </p:nvSpPr>
        <p:spPr>
          <a:xfrm xmlns:a="http://schemas.openxmlformats.org/drawingml/2006/main">
            <a:off x="441092" y="1074367"/>
            <a:ext cx="6208055" cy="2339637"/>
          </a:xfrm>
        </p:spPr>
        <p:txBody>
          <a:bodyPr xmlns:a="http://schemas.openxmlformats.org/drawingml/2006/main" anchor="b">
            <a:normAutofit/>
          </a:bodyPr>
          <a:lstStyle xmlns:a="http://schemas.openxmlformats.org/drawingml/2006/main">
            <a:lvl1pPr algn="l">
              <a:lnSpc>
                <a:spcPct val="85000"/>
              </a:lnSpc>
              <a:buNone/>
              <a:defRPr sz="4333" cap="none" baseline="0">
                <a:solidFill>
                  <a:schemeClr val="bg1"/>
                </a:solidFill>
                <a:latin typeface="Arial"/>
                <a:ea typeface="Arial"/>
                <a:cs typeface="Arial"/>
              </a:defRPr>
            </a:lvl1pPr>
          </a:lstStyle>
          <a:p xmlns:a="http://schemas.openxmlformats.org/drawingml/2006/main">
            <a:r>
              <a:t>Click to edit master title style</a:t>
            </a:r>
            <a:endParaRPr/>
          </a:p>
        </p:txBody>
      </p:sp>
      <p:sp>
        <p:nvSpPr>
          <p:cNvPr id="19" name="Subtitle 2">
            <a:extLst xmlns:a="http://schemas.openxmlformats.org/drawingml/2006/main">
              <a:ext uri="{FF2B5EF4-FFF2-40B4-BE49-F238E27FC236}">
                <a16:creationId xmlns:a16="http://schemas.microsoft.com/office/drawing/2014/main" id="{F79465BC-ADE0-4F3F-ABB6-F125ADDA1C82}"/>
              </a:ext>
            </a:extLst>
          </p:cNvPr>
          <p:cNvSpPr>
            <a:spLocks xmlns:a="http://schemas.openxmlformats.org/drawingml/2006/main" noGrp="1"/>
          </p:cNvSpPr>
          <p:nvPr>
            <p:ph type="subTitle" idx="1" hasCustomPrompt="1"/>
          </p:nvPr>
        </p:nvSpPr>
        <p:spPr>
          <a:xfrm xmlns:a="http://schemas.openxmlformats.org/drawingml/2006/main">
            <a:off x="441094" y="3925150"/>
            <a:ext cx="5221477" cy="594360"/>
          </a:xfrm>
        </p:spPr>
        <p:txBody>
          <a:bodyPr xmlns:a="http://schemas.openxmlformats.org/drawingml/2006/main">
            <a:normAutofit/>
          </a:bodyPr>
          <a:lstStyle xmlns:a="http://schemas.openxmlformats.org/drawingml/2006/main">
            <a:lvl1pPr marL="0" indent="0" algn="l">
              <a:lnSpc>
                <a:spcPct val="100000"/>
              </a:lnSpc>
              <a:spcBef>
                <a:spcPts val="0"/>
              </a:spcBef>
              <a:spcAft>
                <a:spcPts val="0"/>
              </a:spcAft>
              <a:buNone/>
              <a:defRPr sz="1400" b="0" cap="none" baseline="0">
                <a:solidFill>
                  <a:schemeClr val="bg1"/>
                </a:solidFill>
                <a:latin typeface="Arial"/>
                <a:ea typeface="Arial"/>
                <a:cs typeface="Arial"/>
              </a:defRPr>
            </a:lvl1pPr>
            <a:lvl2pPr marL="0" indent="0" algn="l">
              <a:lnSpc>
                <a:spcPct val="100000"/>
              </a:lnSpc>
              <a:spcBef>
                <a:spcPts val="0"/>
              </a:spcBef>
              <a:spcAft>
                <a:spcPts val="0"/>
              </a:spcAft>
              <a:buNone/>
              <a:defRPr sz="1400">
                <a:solidFill>
                  <a:schemeClr val="bg1"/>
                </a:solidFill>
              </a:defRPr>
            </a:lvl2pPr>
            <a:lvl3pPr marL="0" indent="0" algn="l">
              <a:lnSpc>
                <a:spcPct val="100000"/>
              </a:lnSpc>
              <a:spcBef>
                <a:spcPts val="0"/>
              </a:spcBef>
              <a:spcAft>
                <a:spcPts val="0"/>
              </a:spcAft>
              <a:buNone/>
              <a:defRPr sz="1400">
                <a:solidFill>
                  <a:schemeClr val="bg1"/>
                </a:solidFill>
              </a:defRPr>
            </a:lvl3pPr>
            <a:lvl4pPr marL="0" indent="0" algn="l">
              <a:lnSpc>
                <a:spcPct val="100000"/>
              </a:lnSpc>
              <a:spcBef>
                <a:spcPts val="0"/>
              </a:spcBef>
              <a:spcAft>
                <a:spcPts val="0"/>
              </a:spcAft>
              <a:buNone/>
              <a:defRPr sz="1400">
                <a:solidFill>
                  <a:schemeClr val="bg1"/>
                </a:solidFill>
              </a:defRPr>
            </a:lvl4pPr>
            <a:lvl5pPr marL="0" indent="0" algn="l">
              <a:lnSpc>
                <a:spcPct val="100000"/>
              </a:lnSpc>
              <a:spcBef>
                <a:spcPts val="0"/>
              </a:spcBef>
              <a:spcAft>
                <a:spcPts val="0"/>
              </a:spcAft>
              <a:buNone/>
              <a:defRPr sz="1400">
                <a:solidFill>
                  <a:schemeClr val="bg1"/>
                </a:solidFill>
              </a:defRPr>
            </a:lvl5pPr>
            <a:lvl6pPr marL="0" indent="0" algn="l">
              <a:lnSpc>
                <a:spcPct val="100000"/>
              </a:lnSpc>
              <a:spcBef>
                <a:spcPts val="0"/>
              </a:spcBef>
              <a:spcAft>
                <a:spcPts val="0"/>
              </a:spcAft>
              <a:buNone/>
              <a:defRPr sz="1400">
                <a:solidFill>
                  <a:schemeClr val="bg1"/>
                </a:solidFill>
              </a:defRPr>
            </a:lvl6pPr>
            <a:lvl7pPr marL="0" indent="0" algn="l">
              <a:lnSpc>
                <a:spcPct val="100000"/>
              </a:lnSpc>
              <a:spcBef>
                <a:spcPts val="0"/>
              </a:spcBef>
              <a:spcAft>
                <a:spcPts val="0"/>
              </a:spcAft>
              <a:buNone/>
              <a:defRPr sz="1400">
                <a:solidFill>
                  <a:schemeClr val="bg1"/>
                </a:solidFill>
              </a:defRPr>
            </a:lvl7pPr>
            <a:lvl8pPr marL="0" indent="0" algn="l">
              <a:lnSpc>
                <a:spcPct val="100000"/>
              </a:lnSpc>
              <a:spcBef>
                <a:spcPts val="0"/>
              </a:spcBef>
              <a:spcAft>
                <a:spcPts val="0"/>
              </a:spcAft>
              <a:buNone/>
              <a:defRPr sz="1400">
                <a:solidFill>
                  <a:schemeClr val="bg1"/>
                </a:solidFill>
              </a:defRPr>
            </a:lvl8pPr>
            <a:lvl9pPr marL="0" indent="0" algn="l">
              <a:lnSpc>
                <a:spcPct val="100000"/>
              </a:lnSpc>
              <a:spcBef>
                <a:spcPts val="0"/>
              </a:spcBef>
              <a:spcAft>
                <a:spcPts val="0"/>
              </a:spcAft>
              <a:buNone/>
              <a:defRPr sz="1400">
                <a:solidFill>
                  <a:schemeClr val="bg1"/>
                </a:solidFill>
              </a:defRPr>
            </a:lvl9pPr>
          </a:lstStyle>
          <a:p xmlns:a="http://schemas.openxmlformats.org/drawingml/2006/main">
            <a:r>
              <a:t>Click to edit master subtitle style</a:t>
            </a:r>
          </a:p>
        </p:txBody>
      </p:sp>
      <p:sp>
        <p:nvSpPr>
          <p:cNvPr id="6" name="TextBox 5">
            <a:extLst xmlns:a="http://schemas.openxmlformats.org/drawingml/2006/main">
              <a:ext uri="{FF2B5EF4-FFF2-40B4-BE49-F238E27FC236}">
                <a16:creationId xmlns:a16="http://schemas.microsoft.com/office/drawing/2014/main" id="{17ACD0BE-9B25-4B5C-E079-3A4183FB7144}"/>
              </a:ext>
            </a:extLst>
          </p:cNvPr>
          <p:cNvSpPr>
            <a:spLocks xmlns:a="http://schemas.openxmlformats.org/drawingml/2006/main" noGrp="1"/>
          </p:cNvSpPr>
          <p:nvPr/>
        </p:nvSpPr>
        <p:spPr>
          <a:xfrm xmlns:a="http://schemas.openxmlformats.org/drawingml/2006/main">
            <a:off x="7052557" y="6101343"/>
            <a:ext cx="2308324" cy="30777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ct val="100000"/>
              </a:lnSpc>
              <a:spcAft>
                <a:spcPts val="600"/>
              </a:spcAft>
              <a:buSzPct val="100000"/>
              <a:buNone/>
            </a:pPr>
            <a:r>
              <a:rPr sz="2000" b="1">
                <a:solidFill>
                  <a:schemeClr val="tx1">
                    <a:lumMod val="65000"/>
                    <a:lumOff val="35000"/>
                  </a:schemeClr>
                </a:solidFill>
              </a:rPr>
              <a:t>마이크로디그리대학</a:t>
            </a:r>
            <a:endParaRPr sz="2000" b="1">
              <a:solidFill>
                <a:schemeClr val="tx1">
                  <a:lumMod val="65000"/>
                  <a:lumOff val="35000"/>
                </a:schemeClr>
              </a:solidFill>
            </a:endParaRPr>
          </a:p>
        </p:txBody>
      </p:sp>
      <p:pic>
        <p:nvPicPr>
          <p:cNvPr id="27" name="그림 1"/>
          <p:cNvPicPr>
            <a:picLocks xmlns:a="http://schemas.openxmlformats.org/drawingml/2006/main" noChangeAspect="1"/>
          </p:cNvPicPr>
          <p:nvPr/>
        </p:nvPicPr>
        <p:blipFill>
          <a:blip xmlns:r="http://schemas.openxmlformats.org/officeDocument/2006/relationships" xmlns:a="http://schemas.openxmlformats.org/drawingml/2006/main" r:embed="Rd2993df561c84d20"/>
          <a:srcRect xmlns:a="http://schemas.openxmlformats.org/drawingml/2006/main" l="0" t="58466" r="0" b="0"/>
          <a:stretch xmlns:a="http://schemas.openxmlformats.org/drawingml/2006/main">
            <a:fillRect l="0" t="0" r="0" b="0"/>
          </a:stretch>
        </p:blipFill>
        <p:spPr>
          <a:xfrm xmlns:a="http://schemas.openxmlformats.org/drawingml/2006/main">
            <a:off x="450822" y="5867886"/>
            <a:ext cx="2560635" cy="684000"/>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내용 (1)">
    <p:spTree>
      <p:nvGrpSpPr>
        <p:cNvPr id="1" name=""/>
        <p:cNvGrpSpPr/>
        <p:nvPr/>
      </p:nvGrpSpPr>
      <p:grpSpPr>
        <a:xfrm xmlns:a="http://schemas.openxmlformats.org/drawingml/2006/main"/>
      </p:grpSpPr>
      <p:sp>
        <p:nvSpPr>
          <p:cNvPr id="14" name="텍스트 개체 틀 2">
            <a:extLst xmlns:a="http://schemas.openxmlformats.org/drawingml/2006/main">
              <a:ext uri="{FF2B5EF4-FFF2-40B4-BE49-F238E27FC236}">
                <a16:creationId xmlns:a16="http://schemas.microsoft.com/office/drawing/2014/main" id="{BC66AB9E-76AD-4823-8467-1271CA554BAB}"/>
              </a:ext>
            </a:extLst>
          </p:cNvPr>
          <p:cNvSpPr>
            <a:spLocks xmlns:a="http://schemas.openxmlformats.org/drawingml/2006/main" noGrp="1"/>
          </p:cNvSpPr>
          <p:nvPr>
            <p:ph type="body" idx="14" hasCustomPrompt="1"/>
          </p:nvPr>
        </p:nvSpPr>
        <p:spPr>
          <a:xfrm xmlns:a="http://schemas.openxmlformats.org/drawingml/2006/main">
            <a:off x="453000" y="857752"/>
            <a:ext cx="9000000" cy="669459"/>
          </a:xfrm>
          <a:prstGeom xmlns:a="http://schemas.openxmlformats.org/drawingml/2006/main" prst="rect">
            <a:avLst/>
          </a:prstGeom>
        </p:spPr>
        <p:txBody>
          <a:bodyPr xmlns:a="http://schemas.openxmlformats.org/drawingml/2006/main" lIns="0">
            <a:noAutofit/>
          </a:bodyPr>
          <a:lstStyle xmlns:a="http://schemas.openxmlformats.org/drawingml/2006/main">
            <a:lvl1pPr indent="0">
              <a:spcAft>
                <a:spcPts val="0"/>
              </a:spcAft>
              <a:buNone/>
              <a:defRPr sz="1600" b="1" baseline="0">
                <a:solidFill>
                  <a:schemeClr val="tx1"/>
                </a:solidFill>
                <a:latin typeface="+mn-lt"/>
                <a:ea typeface="+mn-lt"/>
                <a:cs typeface="+mn-lt"/>
              </a:defRPr>
            </a:lvl1pPr>
          </a:lstStyle>
          <a:p xmlns:a="http://schemas.openxmlformats.org/drawingml/2006/main">
            <a:pPr lvl="0">
              <a:buNone/>
            </a:pPr>
            <a:r>
              <a:t>Click to edit slide subtitle style</a:t>
            </a:r>
            <a:endParaRPr/>
          </a:p>
        </p:txBody>
      </p:sp>
      <p:sp>
        <p:nvSpPr>
          <p:cNvPr id="15" name="Title Placeholder 1">
            <a:extLst xmlns:a="http://schemas.openxmlformats.org/drawingml/2006/main">
              <a:ext uri="{FF2B5EF4-FFF2-40B4-BE49-F238E27FC236}">
                <a16:creationId xmlns:a16="http://schemas.microsoft.com/office/drawing/2014/main" id="{B1A90E17-3F94-4011-BEC8-8664E279BD73}"/>
              </a:ext>
            </a:extLst>
          </p:cNvPr>
          <p:cNvSpPr>
            <a:spLocks xmlns:a="http://schemas.openxmlformats.org/drawingml/2006/main" noGrp="1"/>
          </p:cNvSpPr>
          <p:nvPr>
            <p:ph type="title" idx="0" hasCustomPrompt="1"/>
          </p:nvPr>
        </p:nvSpPr>
        <p:spPr>
          <a:xfrm xmlns:a="http://schemas.openxmlformats.org/drawingml/2006/main">
            <a:off x="453000" y="413055"/>
            <a:ext cx="5804973" cy="277228"/>
          </a:xfrm>
          <a:prstGeom xmlns:a="http://schemas.openxmlformats.org/drawingml/2006/main" prst="rect">
            <a:avLst/>
          </a:prstGeom>
        </p:spPr>
        <p:txBody>
          <a:bodyPr xmlns:a="http://schemas.openxmlformats.org/drawingml/2006/main" vert="horz" wrap="none" lIns="0" tIns="0" rIns="0" bIns="0" anchor="t">
            <a:noAutofit/>
          </a:bodyPr>
          <a:lstStyle xmlns:a="http://schemas.openxmlformats.org/drawingml/2006/main">
            <a:lvl1pPr>
              <a:buNone/>
              <a:defRPr sz="2000" b="1" baseline="0">
                <a:latin typeface="+mn-lt"/>
                <a:ea typeface="+mn-lt"/>
                <a:cs typeface="+mn-lt"/>
              </a:defRPr>
            </a:lvl1pPr>
          </a:lstStyle>
          <a:p xmlns:a="http://schemas.openxmlformats.org/drawingml/2006/main">
            <a:r>
              <a:t>Click to edit slide title style</a:t>
            </a:r>
            <a:endParaRPr/>
          </a:p>
        </p:txBody>
      </p:sp>
      <p:sp>
        <p:nvSpPr>
          <p:cNvPr id="2" name="Slide Number">
            <a:extLst xmlns:a="http://schemas.openxmlformats.org/drawingml/2006/main">
              <a:ext uri="{FF2B5EF4-FFF2-40B4-BE49-F238E27FC236}">
                <a16:creationId xmlns:a16="http://schemas.microsoft.com/office/drawing/2014/main" id="{271DAE7B-0921-01D6-9B8A-DCEA4878C30F}"/>
              </a:ext>
            </a:extLst>
          </p:cNvPr>
          <p:cNvSpPr>
            <a:spLocks xmlns:a="http://schemas.openxmlformats.org/drawingml/2006/main" noGrp="1"/>
          </p:cNvSpPr>
          <p:nvPr>
            <p:ph type="sldNum" idx="4"/>
          </p:nvPr>
        </p:nvSpPr>
        <p:spPr>
          <a:xfrm xmlns:a="http://schemas.openxmlformats.org/drawingml/2006/main">
            <a:off x="4613938" y="6538356"/>
            <a:ext cx="678124" cy="137161"/>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ctr">
              <a:spcBef>
                <a:spcPts val="0"/>
              </a:spcBef>
              <a:buNone/>
              <a:defRPr sz="1000" spc="-25" baseline="0">
                <a:solidFill>
                  <a:schemeClr val="tx1"/>
                </a:solidFill>
                <a:latin typeface="+mn-lt"/>
                <a:ea typeface="+mn-lt"/>
                <a:cs typeface="+mn-lt"/>
              </a:defRPr>
            </a:lvl1pPr>
          </a:lstStyle>
          <a:p xmlns:a="http://schemas.openxmlformats.org/drawingml/2006/main">
            <a:fld id="{7870704B-CE94-48CC-AF30-84932A1262A7}" type="slidenum">
              <a:t>‹#›</a:t>
            </a:fld>
            <a:endParaRPr/>
          </a:p>
        </p:txBody>
      </p:sp>
      <p:sp>
        <p:nvSpPr>
          <p:cNvPr id="5" name="직선 연결선 4">
            <a:extLst xmlns:a="http://schemas.openxmlformats.org/drawingml/2006/main">
              <a:ext uri="{FF2B5EF4-FFF2-40B4-BE49-F238E27FC236}">
                <a16:creationId xmlns:a16="http://schemas.microsoft.com/office/drawing/2014/main" id="{CC7FFCD3-3EBF-428F-B01E-B9E82525480D}"/>
              </a:ext>
            </a:extLst>
          </p:cNvPr>
          <p:cNvSpPr>
            <a:spLocks xmlns:a="http://schemas.openxmlformats.org/drawingml/2006/main" noGrp="1"/>
          </p:cNvSpPr>
          <p:nvPr/>
        </p:nvSpPr>
        <p:spPr>
          <a:xfrm xmlns:a="http://schemas.openxmlformats.org/drawingml/2006/main">
            <a:off x="453000" y="797665"/>
            <a:ext cx="9000000"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dk1"/>
          </a:effectRef>
          <a:fontRef xmlns:a="http://schemas.openxmlformats.org/drawingml/2006/main" idx="minor">
            <a:schemeClr val="lt1"/>
          </a:fontRef>
        </p:style>
      </p:sp>
    </p:spTree>
  </p:cSld>
  <p:hf hdr="0"/>
</p:sldLayout>
</file>

<file path=ppt/slideLayouts/slideLayout3.xml><?xml version="1.0" encoding="utf-8"?>
<p:sldLayout xmlns:p="http://schemas.openxmlformats.org/presentationml/2006/main" preserve="1" userDrawn="1">
  <p:cSld name="내용(2)">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3F4A35FB-3018-4535-94B2-68080C2B4B21}"/>
              </a:ext>
            </a:extLst>
          </p:cNvPr>
          <p:cNvSpPr>
            <a:spLocks xmlns:a="http://schemas.openxmlformats.org/drawingml/2006/main" noGrp="1"/>
          </p:cNvSpPr>
          <p:nvPr/>
        </p:nvSpPr>
        <p:spPr>
          <a:xfrm xmlns:a="http://schemas.openxmlformats.org/drawingml/2006/main">
            <a:off x="447578" y="6145134"/>
            <a:ext cx="9010848" cy="10002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00000"/>
              </a:lnSpc>
              <a:spcAft>
                <a:spcPts val="489"/>
              </a:spcAft>
              <a:buSzPct val="100000"/>
              <a:buNone/>
            </a:pPr>
            <a:r>
              <a:rPr sz="650">
                <a:latin typeface="+mn-lt"/>
                <a:ea typeface="+mn-lt"/>
                <a:cs typeface="+mn-lt"/>
              </a:rPr>
              <a:t> </a:t>
            </a:r>
          </a:p>
        </p:txBody>
      </p:sp>
      <p:sp>
        <p:nvSpPr>
          <p:cNvPr id="11" name="텍스트 개체 틀 10">
            <a:extLst xmlns:a="http://schemas.openxmlformats.org/drawingml/2006/main">
              <a:ext uri="{FF2B5EF4-FFF2-40B4-BE49-F238E27FC236}">
                <a16:creationId xmlns:a16="http://schemas.microsoft.com/office/drawing/2014/main" id="{8039CA76-2D8B-4268-88C6-82AF1A8312BE}"/>
              </a:ext>
            </a:extLst>
          </p:cNvPr>
          <p:cNvSpPr>
            <a:spLocks xmlns:a="http://schemas.openxmlformats.org/drawingml/2006/main" noGrp="1"/>
          </p:cNvSpPr>
          <p:nvPr>
            <p:ph type="body" idx="20" hasCustomPrompt="1"/>
          </p:nvPr>
        </p:nvSpPr>
        <p:spPr>
          <a:xfrm xmlns:a="http://schemas.openxmlformats.org/drawingml/2006/main">
            <a:off x="7947608" y="266076"/>
            <a:ext cx="1502431" cy="226824"/>
          </a:xfrm>
        </p:spPr>
        <p:txBody>
          <a:bodyPr xmlns:a="http://schemas.openxmlformats.org/drawingml/2006/main" wrap="none" anchor="ctr">
            <a:noAutofit/>
          </a:bodyPr>
          <a:lstStyle xmlns:a="http://schemas.openxmlformats.org/drawingml/2006/main">
            <a:lvl1pPr algn="r">
              <a:buNone/>
              <a:defRPr sz="1083" baseline="0">
                <a:solidFill>
                  <a:schemeClr val="tx1">
                    <a:lumMod val="65000"/>
                    <a:lumOff val="35000"/>
                  </a:schemeClr>
                </a:solidFill>
                <a:latin typeface="+mn-lt"/>
                <a:ea typeface="+mn-lt"/>
                <a:cs typeface="+mn-lt"/>
              </a:defRPr>
            </a:lvl1pPr>
          </a:lstStyle>
          <a:p xmlns:a="http://schemas.openxmlformats.org/drawingml/2006/main">
            <a:pPr lvl="0">
              <a:buNone/>
            </a:pPr>
            <a:r>
              <a:t>목차 </a:t>
            </a:r>
            <a:r>
              <a:t>2</a:t>
            </a:r>
            <a:endParaRPr/>
          </a:p>
        </p:txBody>
      </p:sp>
      <p:sp>
        <p:nvSpPr>
          <p:cNvPr id="12" name="텍스트 개체 틀 10">
            <a:extLst xmlns:a="http://schemas.openxmlformats.org/drawingml/2006/main">
              <a:ext uri="{FF2B5EF4-FFF2-40B4-BE49-F238E27FC236}">
                <a16:creationId xmlns:a16="http://schemas.microsoft.com/office/drawing/2014/main" id="{18A5F1D1-F110-460E-BC03-F46F1EE57CD1}"/>
              </a:ext>
            </a:extLst>
          </p:cNvPr>
          <p:cNvSpPr>
            <a:spLocks xmlns:a="http://schemas.openxmlformats.org/drawingml/2006/main" noGrp="1"/>
          </p:cNvSpPr>
          <p:nvPr>
            <p:ph type="body" idx="21" hasCustomPrompt="1"/>
          </p:nvPr>
        </p:nvSpPr>
        <p:spPr>
          <a:xfrm xmlns:a="http://schemas.openxmlformats.org/drawingml/2006/main">
            <a:off x="7947608" y="83546"/>
            <a:ext cx="1502431" cy="154800"/>
          </a:xfrm>
        </p:spPr>
        <p:txBody>
          <a:bodyPr xmlns:a="http://schemas.openxmlformats.org/drawingml/2006/main" wrap="none">
            <a:noAutofit/>
          </a:bodyPr>
          <a:lstStyle xmlns:a="http://schemas.openxmlformats.org/drawingml/2006/main">
            <a:lvl1pPr algn="r">
              <a:buNone/>
              <a:defRPr sz="975" baseline="0">
                <a:solidFill>
                  <a:schemeClr val="tx1">
                    <a:lumMod val="65000"/>
                    <a:lumOff val="35000"/>
                  </a:schemeClr>
                </a:solidFill>
                <a:latin typeface="+mn-lt"/>
                <a:ea typeface="+mn-lt"/>
                <a:cs typeface="+mn-lt"/>
              </a:defRPr>
            </a:lvl1pPr>
          </a:lstStyle>
          <a:p xmlns:a="http://schemas.openxmlformats.org/drawingml/2006/main">
            <a:pPr lvl="0">
              <a:buNone/>
            </a:pPr>
            <a:r>
              <a:t>목차 </a:t>
            </a:r>
            <a:r>
              <a:t>1</a:t>
            </a:r>
            <a:endParaRPr/>
          </a:p>
        </p:txBody>
      </p:sp>
      <p:sp>
        <p:nvSpPr>
          <p:cNvPr id="13" name="Slide Number">
            <a:extLst xmlns:a="http://schemas.openxmlformats.org/drawingml/2006/main">
              <a:ext uri="{FF2B5EF4-FFF2-40B4-BE49-F238E27FC236}">
                <a16:creationId xmlns:a16="http://schemas.microsoft.com/office/drawing/2014/main" id="{96E2B56A-BE7D-4270-A26C-DAA214170138}"/>
              </a:ext>
            </a:extLst>
          </p:cNvPr>
          <p:cNvSpPr>
            <a:spLocks xmlns:a="http://schemas.openxmlformats.org/drawingml/2006/main" noGrp="1"/>
          </p:cNvSpPr>
          <p:nvPr>
            <p:ph type="sldNum" idx="4"/>
          </p:nvPr>
        </p:nvSpPr>
        <p:spPr>
          <a:xfrm xmlns:a="http://schemas.openxmlformats.org/drawingml/2006/main">
            <a:off x="4613634" y="6626877"/>
            <a:ext cx="678124" cy="137161"/>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ctr">
              <a:spcBef>
                <a:spcPts val="0"/>
              </a:spcBef>
              <a:buNone/>
              <a:defRPr sz="650" spc="-25" baseline="0">
                <a:solidFill>
                  <a:schemeClr val="tx1"/>
                </a:solidFill>
                <a:latin typeface="+mn-lt"/>
                <a:ea typeface="+mn-lt"/>
                <a:cs typeface="+mn-lt"/>
              </a:defRPr>
            </a:lvl1pPr>
          </a:lstStyle>
          <a:p xmlns:a="http://schemas.openxmlformats.org/drawingml/2006/main">
            <a:fld id="{7870704B-CE94-48CC-AF30-84932A1262A7}" type="slidenum">
              <a:t>‹#›</a:t>
            </a:fld>
            <a:endParaRPr/>
          </a:p>
        </p:txBody>
      </p:sp>
      <p:sp>
        <p:nvSpPr>
          <p:cNvPr id="8" name="Presentation Footer">
            <a:extLst xmlns:a="http://schemas.openxmlformats.org/drawingml/2006/main">
              <a:ext uri="{FF2B5EF4-FFF2-40B4-BE49-F238E27FC236}">
                <a16:creationId xmlns:a16="http://schemas.microsoft.com/office/drawing/2014/main" id="{02DA0E12-3669-49EE-9288-2082E5F40789}"/>
              </a:ext>
            </a:extLst>
          </p:cNvPr>
          <p:cNvSpPr>
            <a:spLocks xmlns:a="http://schemas.openxmlformats.org/drawingml/2006/main" noGrp="1"/>
          </p:cNvSpPr>
          <p:nvPr>
            <p:ph type="ftr" idx="3"/>
          </p:nvPr>
        </p:nvSpPr>
        <p:spPr>
          <a:xfrm xmlns:a="http://schemas.openxmlformats.org/drawingml/2006/main">
            <a:off x="273049" y="6324903"/>
            <a:ext cx="6402568" cy="169786"/>
          </a:xfrm>
          <a:prstGeom xmlns:a="http://schemas.openxmlformats.org/drawingml/2006/main" prst="rect">
            <a:avLst/>
          </a:prstGeom>
        </p:spPr>
        <p:txBody>
          <a:bodyPr xmlns:a="http://schemas.openxmlformats.org/drawingml/2006/main" vert="horz" lIns="0" tIns="36000" rIns="0" bIns="0" anchor="ctr">
            <a:spAutoFit/>
          </a:bodyPr>
          <a:lstStyle xmlns:a="http://schemas.openxmlformats.org/drawingml/2006/main">
            <a:lvl1pPr algn="l">
              <a:buNone/>
              <a:defRPr sz="867" spc="-26" baseline="0">
                <a:solidFill>
                  <a:schemeClr val="tx1"/>
                </a:solidFill>
                <a:latin typeface="+mn-lt"/>
                <a:ea typeface="+mn-lt"/>
                <a:cs typeface="+mn-lt"/>
              </a:defRPr>
            </a:lvl1pPr>
          </a:lstStyle>
          <a:p xmlns:a="http://schemas.openxmlformats.org/drawingml/2006/main">
            <a:endParaRPr/>
          </a:p>
        </p:txBody>
      </p:sp>
    </p:spTree>
  </p:cSld>
  <p:hf hdr="0"/>
</p:sldLayout>
</file>

<file path=ppt/slideLayouts/slideLayout4.xml><?xml version="1.0" encoding="utf-8"?>
<p:sldLayout xmlns:p="http://schemas.openxmlformats.org/presentationml/2006/main" showMasterSp="0" preserve="1" userDrawn="1">
  <p:cSld name="Thank You">
    <p:bg>
      <p:bgRef idx="1001">
        <a:schemeClr xmlns:a="http://schemas.openxmlformats.org/drawingml/2006/main" val="bg1"/>
      </p:bgRef>
    </p:bg>
    <p:spTree>
      <p:nvGrpSpPr>
        <p:cNvPr id="1" name=""/>
        <p:cNvGrpSpPr/>
        <p:nvPr/>
      </p:nvGrpSpPr>
      <p:grpSpPr>
        <a:xfrm xmlns:a="http://schemas.openxmlformats.org/drawingml/2006/main"/>
      </p:grpSpPr>
      <p:sp>
        <p:nvSpPr>
          <p:cNvPr id="2" name="Presentation Title">
            <a:extLst xmlns:a="http://schemas.openxmlformats.org/drawingml/2006/main">
              <a:ext uri="{FF2B5EF4-FFF2-40B4-BE49-F238E27FC236}">
                <a16:creationId xmlns:a16="http://schemas.microsoft.com/office/drawing/2014/main" id="{DA50AD95-F26C-44E2-94AF-88377E1065F1}"/>
              </a:ext>
            </a:extLst>
          </p:cNvPr>
          <p:cNvSpPr>
            <a:spLocks xmlns:a="http://schemas.openxmlformats.org/drawingml/2006/main" noGrp="1"/>
          </p:cNvSpPr>
          <p:nvPr>
            <p:ph type="ctrTitle" idx="0" hasCustomPrompt="1"/>
          </p:nvPr>
        </p:nvSpPr>
        <p:spPr>
          <a:xfrm xmlns:a="http://schemas.openxmlformats.org/drawingml/2006/main">
            <a:off x="447578" y="407989"/>
            <a:ext cx="4430713" cy="2514601"/>
          </a:xfrm>
        </p:spPr>
        <p:txBody>
          <a:bodyPr xmlns:a="http://schemas.openxmlformats.org/drawingml/2006/main" anchor="b">
            <a:normAutofit/>
          </a:bodyPr>
          <a:lstStyle xmlns:a="http://schemas.openxmlformats.org/drawingml/2006/main">
            <a:lvl1pPr algn="l">
              <a:lnSpc>
                <a:spcPct val="100000"/>
              </a:lnSpc>
              <a:buNone/>
              <a:defRPr sz="5500" baseline="0">
                <a:solidFill>
                  <a:schemeClr val="tx1"/>
                </a:solidFill>
                <a:latin typeface="Arial"/>
                <a:ea typeface="Arial"/>
                <a:cs typeface="Arial"/>
              </a:defRPr>
            </a:lvl1pPr>
          </a:lstStyle>
          <a:p xmlns:a="http://schemas.openxmlformats.org/drawingml/2006/main">
            <a:r>
              <a:t>Thank you</a:t>
            </a:r>
            <a:endParaRPr/>
          </a:p>
        </p:txBody>
      </p:sp>
      <p:sp>
        <p:nvSpPr>
          <p:cNvPr id="14" name="Rectangle">
            <a:extLst xmlns:a="http://schemas.openxmlformats.org/drawingml/2006/main">
              <a:ext uri="{FF2B5EF4-FFF2-40B4-BE49-F238E27FC236}">
                <a16:creationId xmlns:a16="http://schemas.microsoft.com/office/drawing/2014/main" id="{96FAAA4D-D05F-4E6E-9985-CB5B0627246B}"/>
              </a:ext>
            </a:extLst>
          </p:cNvPr>
          <p:cNvSpPr>
            <a:spLocks xmlns:a="http://schemas.openxmlformats.org/drawingml/2006/main" noGrp="1"/>
          </p:cNvSpPr>
          <p:nvPr/>
        </p:nvSpPr>
        <p:spPr>
          <a:xfrm xmlns:a="http://schemas.openxmlformats.org/drawingml/2006/main">
            <a:off x="1" y="4940862"/>
            <a:ext cx="9906000" cy="1917145"/>
          </a:xfrm>
          <a:prstGeom xmlns:a="http://schemas.openxmlformats.org/drawingml/2006/main" prst="rect">
            <a:avLst/>
          </a:prstGeom>
          <a:solidFill xmlns:a="http://schemas.openxmlformats.org/drawingml/2006/main">
            <a:srgbClr val="00206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13" baseline="0">
              <a:latin typeface="Arial"/>
              <a:ea typeface="Arial"/>
              <a:cs typeface="Arial"/>
            </a:endParaRPr>
          </a:p>
        </p:txBody>
      </p:sp>
      <p:sp>
        <p:nvSpPr>
          <p:cNvPr id="7" name="AutoShape 3">
            <a:extLst xmlns:a="http://schemas.openxmlformats.org/drawingml/2006/main">
              <a:ext uri="{FF2B5EF4-FFF2-40B4-BE49-F238E27FC236}">
                <a16:creationId xmlns:a16="http://schemas.microsoft.com/office/drawing/2014/main" id="{FB51752C-F5B0-4764-8AEC-C311B1CDEF99}"/>
              </a:ext>
            </a:extLst>
          </p:cNvPr>
          <p:cNvSpPr>
            <a:spLocks xmlns:a="http://schemas.openxmlformats.org/drawingml/2006/main" noGrp="1"/>
          </p:cNvSpPr>
          <p:nvPr/>
        </p:nvSpPr>
        <p:spPr>
          <a:xfrm xmlns:a="http://schemas.openxmlformats.org/drawingml/2006/main">
            <a:off x="4333877" y="0"/>
            <a:ext cx="5572125" cy="68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66702" tIns="33350" rIns="66702" bIns="33350" anchor="t"/>
          <a:lstStyle xmlns:a="http://schemas.openxmlformats.org/drawingml/2006/main"/>
          <a:p xmlns:a="http://schemas.openxmlformats.org/drawingml/2006/main">
            <a:endParaRPr sz="1313" baseline="0">
              <a:latin typeface="Arial"/>
              <a:ea typeface="Arial"/>
              <a:cs typeface="Arial"/>
            </a:endParaRPr>
          </a:p>
        </p:txBody>
      </p:sp>
      <p:sp>
        <p:nvSpPr>
          <p:cNvPr id="9" name="AutoShape 3">
            <a:extLst xmlns:a="http://schemas.openxmlformats.org/drawingml/2006/main">
              <a:ext uri="{FF2B5EF4-FFF2-40B4-BE49-F238E27FC236}">
                <a16:creationId xmlns:a16="http://schemas.microsoft.com/office/drawing/2014/main" id="{CD106887-AAFD-49C3-8F7E-9C1CE12FC862}"/>
              </a:ext>
            </a:extLst>
          </p:cNvPr>
          <p:cNvSpPr>
            <a:spLocks xmlns:a="http://schemas.openxmlformats.org/drawingml/2006/main" noGrp="1"/>
          </p:cNvSpPr>
          <p:nvPr/>
        </p:nvSpPr>
        <p:spPr>
          <a:xfrm xmlns:a="http://schemas.openxmlformats.org/drawingml/2006/main">
            <a:off x="4333877" y="0"/>
            <a:ext cx="5572125" cy="68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66702" tIns="33350" rIns="66702" bIns="33350" anchor="t"/>
          <a:lstStyle xmlns:a="http://schemas.openxmlformats.org/drawingml/2006/main"/>
          <a:p xmlns:a="http://schemas.openxmlformats.org/drawingml/2006/main">
            <a:endParaRPr sz="1313" baseline="0">
              <a:latin typeface="Arial"/>
              <a:ea typeface="Arial"/>
              <a:cs typeface="Arial"/>
            </a:endParaRPr>
          </a:p>
        </p:txBody>
      </p:sp>
    </p:spTree>
  </p:cSld>
</p:sldLayout>
</file>

<file path=ppt/slideLayouts/slideLayout5.xml><?xml version="1.0" encoding="utf-8"?>
<p:sldLayout xmlns:p="http://schemas.openxmlformats.org/presentationml/2006/main" showMasterSp="0" preserve="1" userDrawn="1">
  <p:cSld name="Agenda">
    <p:bg>
      <p:bgPr>
        <a:solidFill xmlns:a="http://schemas.openxmlformats.org/drawingml/2006/main">
          <a:srgbClr val="464646"/>
        </a:solidFill>
      </p:bgPr>
    </p:bg>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showMasterSp="0" preserve="1" userDrawn="1">
  <p:cSld name="간지">
    <p:bg>
      <p:bgPr>
        <a:solidFill xmlns:a="http://schemas.openxmlformats.org/drawingml/2006/main">
          <a:srgbClr val="464646"/>
        </a:solidFill>
      </p:bgPr>
    </p:bg>
    <p:spTree>
      <p:nvGrpSpPr>
        <p:cNvPr id="1" name=""/>
        <p:cNvGrpSpPr/>
        <p:nvPr/>
      </p:nvGrpSpPr>
      <p:grpSpPr>
        <a:xfrm xmlns:a="http://schemas.openxmlformats.org/drawingml/2006/main"/>
      </p:grpSpPr>
      <p:sp>
        <p:nvSpPr>
          <p:cNvPr id="7" name="Subtitle 2">
            <a:extLst xmlns:a="http://schemas.openxmlformats.org/drawingml/2006/main">
              <a:ext uri="{FF2B5EF4-FFF2-40B4-BE49-F238E27FC236}">
                <a16:creationId xmlns:a16="http://schemas.microsoft.com/office/drawing/2014/main" id="{EAE3BEC2-DF76-B248-B5E5-466B22448118}"/>
              </a:ext>
            </a:extLst>
          </p:cNvPr>
          <p:cNvSpPr>
            <a:spLocks xmlns:a="http://schemas.openxmlformats.org/drawingml/2006/main" noGrp="1"/>
          </p:cNvSpPr>
          <p:nvPr>
            <p:ph type="subTitle" idx="1" hasCustomPrompt="1"/>
          </p:nvPr>
        </p:nvSpPr>
        <p:spPr>
          <a:xfrm xmlns:a="http://schemas.openxmlformats.org/drawingml/2006/main">
            <a:off x="447576" y="0"/>
            <a:ext cx="3794125" cy="6858000"/>
          </a:xfrm>
          <a:prstGeom xmlns:a="http://schemas.openxmlformats.org/drawingml/2006/main" prst="rect">
            <a:avLst/>
          </a:prstGeom>
          <a:noFill xmlns:a="http://schemas.openxmlformats.org/drawingml/2006/main"/>
        </p:spPr>
        <p:txBody>
          <a:bodyPr xmlns:a="http://schemas.openxmlformats.org/drawingml/2006/main" vert="horz" lIns="0" tIns="0" rIns="0" bIns="0" anchor="ctr">
            <a:noAutofit/>
          </a:bodyPr>
          <a:lstStyle xmlns:a="http://schemas.openxmlformats.org/drawingml/2006/main">
            <a:lvl1pPr>
              <a:buNone/>
              <a:defRPr sz="42249" b="0" baseline="0">
                <a:solidFill>
                  <a:schemeClr val="bg1"/>
                </a:solidFill>
                <a:latin typeface="Arial"/>
                <a:ea typeface="Arial"/>
                <a:cs typeface="Arial"/>
              </a:defRPr>
            </a:lvl1pPr>
          </a:lstStyle>
          <a:p xmlns:a="http://schemas.openxmlformats.org/drawingml/2006/main">
            <a:pPr lvl="0" indent="0">
              <a:lnSpc>
                <a:spcPct val="100000"/>
              </a:lnSpc>
              <a:spcAft>
                <a:spcPts val="0"/>
              </a:spcAft>
              <a:buNone/>
            </a:pPr>
            <a:r>
              <a:t>1</a:t>
            </a:r>
            <a:endParaRPr/>
          </a:p>
        </p:txBody>
      </p:sp>
      <p:sp>
        <p:nvSpPr>
          <p:cNvPr id="4" name="Title 1">
            <a:extLst xmlns:a="http://schemas.openxmlformats.org/drawingml/2006/main">
              <a:ext uri="{FF2B5EF4-FFF2-40B4-BE49-F238E27FC236}">
                <a16:creationId xmlns:a16="http://schemas.microsoft.com/office/drawing/2014/main" id="{864F19DB-1A47-4374-A501-DD6DA81B73BC}"/>
              </a:ext>
            </a:extLst>
          </p:cNvPr>
          <p:cNvSpPr>
            <a:spLocks xmlns:a="http://schemas.openxmlformats.org/drawingml/2006/main" noGrp="1"/>
          </p:cNvSpPr>
          <p:nvPr>
            <p:ph type="title" idx="0" hasCustomPrompt="1"/>
          </p:nvPr>
        </p:nvSpPr>
        <p:spPr>
          <a:xfrm xmlns:a="http://schemas.openxmlformats.org/drawingml/2006/main">
            <a:off x="3760458" y="2109480"/>
            <a:ext cx="6017080" cy="984885"/>
          </a:xfrm>
        </p:spPr>
        <p:txBody>
          <a:bodyPr xmlns:a="http://schemas.openxmlformats.org/drawingml/2006/main" vert="horz" lIns="0" tIns="0" rIns="0" bIns="0" anchor="t">
            <a:noAutofit/>
          </a:bodyPr>
          <a:lstStyle xmlns:a="http://schemas.openxmlformats.org/drawingml/2006/main">
            <a:lvl1pPr>
              <a:buNone/>
              <a:defRPr sz="2437" b="0" baseline="0">
                <a:solidFill>
                  <a:schemeClr val="bg1"/>
                </a:solidFill>
                <a:latin typeface="Arial"/>
                <a:ea typeface="Arial"/>
                <a:cs typeface="Arial"/>
              </a:defRPr>
            </a:lvl1pPr>
          </a:lstStyle>
          <a:p xmlns:a="http://schemas.openxmlformats.org/drawingml/2006/main">
            <a:pPr lvl="0">
              <a:buNone/>
            </a:pPr>
            <a:r>
              <a:t>Click to edit section header title style</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9d9de7699e4210" /><Relationship Type="http://schemas.openxmlformats.org/officeDocument/2006/relationships/slideLayout" Target="/ppt/slideLayouts/slideLayout1.xml" Id="R8aa48c7f9f7b4683" /><Relationship Type="http://schemas.openxmlformats.org/officeDocument/2006/relationships/slideLayout" Target="/ppt/slideLayouts/slideLayout2.xml" Id="R1ce47141f3d74278" /><Relationship Type="http://schemas.openxmlformats.org/officeDocument/2006/relationships/slideLayout" Target="/ppt/slideLayouts/slideLayout3.xml" Id="Rac58dd1d6aa14393" /><Relationship Type="http://schemas.openxmlformats.org/officeDocument/2006/relationships/slideLayout" Target="/ppt/slideLayouts/slideLayout4.xml" Id="R0fd65cdc34754cbd" /><Relationship Type="http://schemas.openxmlformats.org/officeDocument/2006/relationships/slideLayout" Target="/ppt/slideLayouts/slideLayout5.xml" Id="Rfdf5a05b1d184a29" /><Relationship Type="http://schemas.openxmlformats.org/officeDocument/2006/relationships/slideLayout" Target="/ppt/slideLayouts/slideLayout6.xml" Id="R25fac0b9741a44a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71AA3DD-1923-4909-84E9-5B99695F437A}"/>
              </a:ext>
            </a:extLst>
          </p:cNvPr>
          <p:cNvSpPr>
            <a:spLocks xmlns:a="http://schemas.openxmlformats.org/drawingml/2006/main" noGrp="1"/>
          </p:cNvSpPr>
          <p:nvPr>
            <p:ph type="title" idx="0"/>
          </p:nvPr>
        </p:nvSpPr>
        <p:spPr>
          <a:xfrm xmlns:a="http://schemas.openxmlformats.org/drawingml/2006/main">
            <a:off x="273049" y="404821"/>
            <a:ext cx="9359899" cy="49244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r>
              <a:t>Click to edit slide title style</a:t>
            </a:r>
          </a:p>
        </p:txBody>
      </p:sp>
      <p:sp>
        <p:nvSpPr>
          <p:cNvPr id="7" name="텍스트 개체 틀 6">
            <a:extLst xmlns:a="http://schemas.openxmlformats.org/drawingml/2006/main">
              <a:ext uri="{FF2B5EF4-FFF2-40B4-BE49-F238E27FC236}">
                <a16:creationId xmlns:a16="http://schemas.microsoft.com/office/drawing/2014/main" id="{B1ED8263-7116-4179-9C5C-D0834E581DF7}"/>
              </a:ext>
            </a:extLst>
          </p:cNvPr>
          <p:cNvSpPr>
            <a:spLocks xmlns:a="http://schemas.openxmlformats.org/drawingml/2006/main" noGrp="1"/>
          </p:cNvSpPr>
          <p:nvPr>
            <p:ph type="body" idx="1"/>
          </p:nvPr>
        </p:nvSpPr>
        <p:spPr>
          <a:xfrm xmlns:a="http://schemas.openxmlformats.org/drawingml/2006/main">
            <a:off x="273050" y="1674212"/>
            <a:ext cx="9359900" cy="46332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p>
        </p:txBody>
      </p:sp>
      <p:sp>
        <p:nvSpPr>
          <p:cNvPr id="13" name="TextBox 12">
            <a:extLst xmlns:a="http://schemas.openxmlformats.org/drawingml/2006/main">
              <a:ext uri="{FF2B5EF4-FFF2-40B4-BE49-F238E27FC236}">
                <a16:creationId xmlns:a16="http://schemas.microsoft.com/office/drawing/2014/main" id="{2BE3C3B5-0E59-4292-863F-437A81BC8AFA}"/>
              </a:ext>
            </a:extLst>
          </p:cNvPr>
          <p:cNvSpPr>
            <a:spLocks xmlns:a="http://schemas.openxmlformats.org/drawingml/2006/main" noGrp="1"/>
          </p:cNvSpPr>
          <p:nvPr/>
        </p:nvSpPr>
        <p:spPr>
          <a:xfrm xmlns:a="http://schemas.openxmlformats.org/drawingml/2006/main">
            <a:off x="-838615" y="529973"/>
            <a:ext cx="780663" cy="175304"/>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ct val="100000"/>
              </a:lnSpc>
              <a:spcAft>
                <a:spcPts val="489"/>
              </a:spcAft>
              <a:buSzPct val="100000"/>
              <a:buNone/>
            </a:pPr>
            <a:r>
              <a:rPr sz="1139">
                <a:solidFill>
                  <a:schemeClr val="tx1"/>
                </a:solidFill>
              </a:rPr>
              <a:t>Color Guide</a:t>
            </a:r>
            <a:endParaRPr sz="1139">
              <a:solidFill>
                <a:schemeClr val="tx1"/>
              </a:solidFill>
            </a:endParaRPr>
          </a:p>
        </p:txBody>
      </p:sp>
      <p:sp>
        <p:nvSpPr>
          <p:cNvPr id="38" name="TextBox 37">
            <a:extLst xmlns:a="http://schemas.openxmlformats.org/drawingml/2006/main">
              <a:ext uri="{FF2B5EF4-FFF2-40B4-BE49-F238E27FC236}">
                <a16:creationId xmlns:a16="http://schemas.microsoft.com/office/drawing/2014/main" id="{204966F2-F555-415F-A14F-126F4DFB8D00}"/>
              </a:ext>
            </a:extLst>
          </p:cNvPr>
          <p:cNvSpPr>
            <a:spLocks xmlns:a="http://schemas.openxmlformats.org/drawingml/2006/main" noGrp="1"/>
          </p:cNvSpPr>
          <p:nvPr/>
        </p:nvSpPr>
        <p:spPr>
          <a:xfrm xmlns:a="http://schemas.openxmlformats.org/drawingml/2006/main">
            <a:off x="-821754" y="4147603"/>
            <a:ext cx="163506" cy="10002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ct val="100000"/>
              </a:lnSpc>
              <a:spcAft>
                <a:spcPts val="489"/>
              </a:spcAft>
              <a:buSzPct val="100000"/>
              <a:buNone/>
            </a:pPr>
            <a:r>
              <a:rPr sz="650" b="1">
                <a:solidFill>
                  <a:schemeClr val="tx1"/>
                </a:solidFill>
                <a:latin typeface="+mn-ea"/>
                <a:ea typeface="+mn-ea"/>
                <a:cs typeface="+mn-ea"/>
              </a:rPr>
              <a:t>Line</a:t>
            </a:r>
            <a:endParaRPr sz="650" b="1">
              <a:solidFill>
                <a:schemeClr val="tx1"/>
              </a:solidFill>
              <a:latin typeface="+mn-ea"/>
              <a:ea typeface="+mn-ea"/>
              <a:cs typeface="+mn-ea"/>
            </a:endParaRPr>
          </a:p>
        </p:txBody>
      </p:sp>
      <p:sp>
        <p:nvSpPr>
          <p:cNvPr id="40" name="직사각형 39">
            <a:extLst xmlns:a="http://schemas.openxmlformats.org/drawingml/2006/main">
              <a:ext uri="{FF2B5EF4-FFF2-40B4-BE49-F238E27FC236}">
                <a16:creationId xmlns:a16="http://schemas.microsoft.com/office/drawing/2014/main" id="{A6B869FA-9BF5-486D-B892-FD29AC92BC69}"/>
              </a:ext>
            </a:extLst>
          </p:cNvPr>
          <p:cNvSpPr>
            <a:spLocks xmlns:a="http://schemas.openxmlformats.org/drawingml/2006/main" noGrp="1"/>
          </p:cNvSpPr>
          <p:nvPr/>
        </p:nvSpPr>
        <p:spPr>
          <a:xfrm xmlns:a="http://schemas.openxmlformats.org/drawingml/2006/main" rot="0" flipH="0" flipV="0">
            <a:off x="-460423" y="4293907"/>
            <a:ext cx="326807" cy="123112"/>
          </a:xfrm>
          <a:prstGeom xmlns:a="http://schemas.openxmlformats.org/drawingml/2006/main" prst="rect">
            <a:avLst/>
          </a:prstGeom>
          <a:solidFill xmlns:a="http://schemas.openxmlformats.org/drawingml/2006/main">
            <a:srgbClr val="BFBFBF"/>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48" name="직사각형 47">
            <a:extLst xmlns:a="http://schemas.openxmlformats.org/drawingml/2006/main">
              <a:ext uri="{FF2B5EF4-FFF2-40B4-BE49-F238E27FC236}">
                <a16:creationId xmlns:a16="http://schemas.microsoft.com/office/drawing/2014/main" id="{B028578B-ED79-4F77-B4A5-FD26FA24B3B8}"/>
              </a:ext>
            </a:extLst>
          </p:cNvPr>
          <p:cNvSpPr>
            <a:spLocks xmlns:a="http://schemas.openxmlformats.org/drawingml/2006/main" noGrp="1"/>
          </p:cNvSpPr>
          <p:nvPr/>
        </p:nvSpPr>
        <p:spPr>
          <a:xfrm xmlns:a="http://schemas.openxmlformats.org/drawingml/2006/main" rot="0" flipH="0" flipV="0">
            <a:off x="-460423" y="4152529"/>
            <a:ext cx="326807" cy="123112"/>
          </a:xfrm>
          <a:prstGeom xmlns:a="http://schemas.openxmlformats.org/drawingml/2006/main" prst="rect">
            <a:avLst/>
          </a:prstGeom>
          <a:solidFill xmlns:a="http://schemas.openxmlformats.org/drawingml/2006/main">
            <a:srgbClr val="000000"/>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76" name="직사각형 75">
            <a:extLst xmlns:a="http://schemas.openxmlformats.org/drawingml/2006/main">
              <a:ext uri="{FF2B5EF4-FFF2-40B4-BE49-F238E27FC236}">
                <a16:creationId xmlns:a16="http://schemas.microsoft.com/office/drawing/2014/main" id="{2BBB7895-0F76-4125-8077-F60DD79F70BE}"/>
              </a:ext>
            </a:extLst>
          </p:cNvPr>
          <p:cNvSpPr>
            <a:spLocks xmlns:a="http://schemas.openxmlformats.org/drawingml/2006/main" noGrp="1"/>
          </p:cNvSpPr>
          <p:nvPr/>
        </p:nvSpPr>
        <p:spPr>
          <a:xfrm xmlns:a="http://schemas.openxmlformats.org/drawingml/2006/main" rot="0" flipH="0" flipV="0">
            <a:off x="-460423" y="4435284"/>
            <a:ext cx="326807" cy="123112"/>
          </a:xfrm>
          <a:prstGeom xmlns:a="http://schemas.openxmlformats.org/drawingml/2006/main" prst="rect">
            <a:avLst/>
          </a:prstGeom>
          <a:solidFill xmlns:a="http://schemas.openxmlformats.org/drawingml/2006/main">
            <a:srgbClr val="DC6900"/>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14" name="TextBox 13">
            <a:extLst xmlns:a="http://schemas.openxmlformats.org/drawingml/2006/main">
              <a:ext uri="{FF2B5EF4-FFF2-40B4-BE49-F238E27FC236}">
                <a16:creationId xmlns:a16="http://schemas.microsoft.com/office/drawing/2014/main" id="{F3AF93CF-5F7E-48F0-A8CE-4CA8C0706E7E}"/>
              </a:ext>
            </a:extLst>
          </p:cNvPr>
          <p:cNvSpPr>
            <a:spLocks xmlns:a="http://schemas.openxmlformats.org/drawingml/2006/main" noGrp="1"/>
          </p:cNvSpPr>
          <p:nvPr/>
        </p:nvSpPr>
        <p:spPr>
          <a:xfrm xmlns:a="http://schemas.openxmlformats.org/drawingml/2006/main" rot="0" flipH="0" flipV="0">
            <a:off x="-822461" y="910453"/>
            <a:ext cx="177934" cy="10002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ct val="100000"/>
              </a:lnSpc>
              <a:spcAft>
                <a:spcPts val="489"/>
              </a:spcAft>
              <a:buSzPct val="100000"/>
              <a:buNone/>
            </a:pPr>
            <a:r>
              <a:rPr sz="650" b="1">
                <a:solidFill>
                  <a:schemeClr val="tx1"/>
                </a:solidFill>
                <a:latin typeface="+mn-ea"/>
                <a:ea typeface="+mn-ea"/>
                <a:cs typeface="+mn-ea"/>
              </a:rPr>
              <a:t>Font</a:t>
            </a:r>
            <a:endParaRPr sz="650" b="1">
              <a:solidFill>
                <a:schemeClr val="tx1"/>
              </a:solidFill>
              <a:latin typeface="+mn-ea"/>
              <a:ea typeface="+mn-ea"/>
              <a:cs typeface="+mn-ea"/>
            </a:endParaRPr>
          </a:p>
        </p:txBody>
      </p:sp>
      <p:sp>
        <p:nvSpPr>
          <p:cNvPr id="12" name="직사각형 11">
            <a:extLst xmlns:a="http://schemas.openxmlformats.org/drawingml/2006/main">
              <a:ext uri="{FF2B5EF4-FFF2-40B4-BE49-F238E27FC236}">
                <a16:creationId xmlns:a16="http://schemas.microsoft.com/office/drawing/2014/main" id="{38ACA683-0D43-43F4-A63E-E65EDB687901}"/>
              </a:ext>
            </a:extLst>
          </p:cNvPr>
          <p:cNvSpPr>
            <a:spLocks xmlns:a="http://schemas.openxmlformats.org/drawingml/2006/main" noGrp="1"/>
          </p:cNvSpPr>
          <p:nvPr/>
        </p:nvSpPr>
        <p:spPr>
          <a:xfrm xmlns:a="http://schemas.openxmlformats.org/drawingml/2006/main" rot="0" flipH="0" flipV="0">
            <a:off x="-822460" y="1357448"/>
            <a:ext cx="326806" cy="227834"/>
          </a:xfrm>
          <a:prstGeom xmlns:a="http://schemas.openxmlformats.org/drawingml/2006/main" prst="rect">
            <a:avLst/>
          </a:prstGeom>
          <a:solidFill xmlns:a="http://schemas.openxmlformats.org/drawingml/2006/main">
            <a:srgbClr val="464646"/>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28" name="직사각형 27">
            <a:extLst xmlns:a="http://schemas.openxmlformats.org/drawingml/2006/main">
              <a:ext uri="{FF2B5EF4-FFF2-40B4-BE49-F238E27FC236}">
                <a16:creationId xmlns:a16="http://schemas.microsoft.com/office/drawing/2014/main" id="{E5D59B14-BCEE-439E-AE72-3BB72A8604AF}"/>
              </a:ext>
            </a:extLst>
          </p:cNvPr>
          <p:cNvSpPr>
            <a:spLocks xmlns:a="http://schemas.openxmlformats.org/drawingml/2006/main" noGrp="1"/>
          </p:cNvSpPr>
          <p:nvPr/>
        </p:nvSpPr>
        <p:spPr>
          <a:xfrm xmlns:a="http://schemas.openxmlformats.org/drawingml/2006/main" rot="0" flipH="0" flipV="0">
            <a:off x="-459717" y="1357448"/>
            <a:ext cx="326806" cy="227834"/>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66" name="직사각형 65">
            <a:extLst xmlns:a="http://schemas.openxmlformats.org/drawingml/2006/main">
              <a:ext uri="{FF2B5EF4-FFF2-40B4-BE49-F238E27FC236}">
                <a16:creationId xmlns:a16="http://schemas.microsoft.com/office/drawing/2014/main" id="{C39A1CBF-A54C-4A6C-9E2D-ACBDD3EE217C}"/>
              </a:ext>
            </a:extLst>
          </p:cNvPr>
          <p:cNvSpPr>
            <a:spLocks xmlns:a="http://schemas.openxmlformats.org/drawingml/2006/main" noGrp="1"/>
          </p:cNvSpPr>
          <p:nvPr/>
        </p:nvSpPr>
        <p:spPr>
          <a:xfrm xmlns:a="http://schemas.openxmlformats.org/drawingml/2006/main" rot="0" flipH="0" flipV="0">
            <a:off x="-459717" y="1614238"/>
            <a:ext cx="326806" cy="227834"/>
          </a:xfrm>
          <a:prstGeom xmlns:a="http://schemas.openxmlformats.org/drawingml/2006/main" prst="rect">
            <a:avLst/>
          </a:prstGeom>
          <a:solidFill xmlns:a="http://schemas.openxmlformats.org/drawingml/2006/main">
            <a:srgbClr val="C00000"/>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18" name="직사각형 17">
            <a:extLst xmlns:a="http://schemas.openxmlformats.org/drawingml/2006/main">
              <a:ext uri="{FF2B5EF4-FFF2-40B4-BE49-F238E27FC236}">
                <a16:creationId xmlns:a16="http://schemas.microsoft.com/office/drawing/2014/main" id="{DE544DC5-3425-4686-89D1-08BAF8A3DF4A}"/>
              </a:ext>
            </a:extLst>
          </p:cNvPr>
          <p:cNvSpPr>
            <a:spLocks xmlns:a="http://schemas.openxmlformats.org/drawingml/2006/main" noGrp="1"/>
          </p:cNvSpPr>
          <p:nvPr/>
        </p:nvSpPr>
        <p:spPr>
          <a:xfrm xmlns:a="http://schemas.openxmlformats.org/drawingml/2006/main" rot="0" flipH="0" flipV="0">
            <a:off x="-822460" y="1100078"/>
            <a:ext cx="326806" cy="227834"/>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52" name="직사각형 51">
            <a:extLst xmlns:a="http://schemas.openxmlformats.org/drawingml/2006/main">
              <a:ext uri="{FF2B5EF4-FFF2-40B4-BE49-F238E27FC236}">
                <a16:creationId xmlns:a16="http://schemas.microsoft.com/office/drawing/2014/main" id="{4C47567A-DCED-498F-931A-D6253A3CD41A}"/>
              </a:ext>
            </a:extLst>
          </p:cNvPr>
          <p:cNvSpPr>
            <a:spLocks xmlns:a="http://schemas.openxmlformats.org/drawingml/2006/main" noGrp="1"/>
          </p:cNvSpPr>
          <p:nvPr/>
        </p:nvSpPr>
        <p:spPr>
          <a:xfrm xmlns:a="http://schemas.openxmlformats.org/drawingml/2006/main" rot="0" flipH="0" flipV="0">
            <a:off x="-459717" y="1100078"/>
            <a:ext cx="326806" cy="227834"/>
          </a:xfrm>
          <a:prstGeom xmlns:a="http://schemas.openxmlformats.org/drawingml/2006/main" prst="rect">
            <a:avLst/>
          </a:prstGeom>
          <a:solidFill xmlns:a="http://schemas.openxmlformats.org/drawingml/2006/main">
            <a:srgbClr val="D04A02"/>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27" name="직사각형 26">
            <a:extLst xmlns:a="http://schemas.openxmlformats.org/drawingml/2006/main">
              <a:ext uri="{FF2B5EF4-FFF2-40B4-BE49-F238E27FC236}">
                <a16:creationId xmlns:a16="http://schemas.microsoft.com/office/drawing/2014/main" id="{9E326B20-7198-4195-921B-1992EA39B955}"/>
              </a:ext>
            </a:extLst>
          </p:cNvPr>
          <p:cNvSpPr>
            <a:spLocks xmlns:a="http://schemas.openxmlformats.org/drawingml/2006/main" noGrp="1"/>
          </p:cNvSpPr>
          <p:nvPr/>
        </p:nvSpPr>
        <p:spPr>
          <a:xfrm xmlns:a="http://schemas.openxmlformats.org/drawingml/2006/main" rot="0" flipH="0" flipV="0">
            <a:off x="-822461" y="1614238"/>
            <a:ext cx="326806" cy="227834"/>
          </a:xfrm>
          <a:prstGeom xmlns:a="http://schemas.openxmlformats.org/drawingml/2006/main" prst="rect">
            <a:avLst/>
          </a:prstGeom>
          <a:solidFill xmlns:a="http://schemas.openxmlformats.org/drawingml/2006/main">
            <a:schemeClr val="bg1">
              <a:lumMod val="50000"/>
            </a:schemeClr>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15" name="TextBox 14">
            <a:extLst xmlns:a="http://schemas.openxmlformats.org/drawingml/2006/main">
              <a:ext uri="{FF2B5EF4-FFF2-40B4-BE49-F238E27FC236}">
                <a16:creationId xmlns:a16="http://schemas.microsoft.com/office/drawing/2014/main" id="{06A170C3-0640-41F7-A659-8DCB871D21B7}"/>
              </a:ext>
            </a:extLst>
          </p:cNvPr>
          <p:cNvSpPr>
            <a:spLocks xmlns:a="http://schemas.openxmlformats.org/drawingml/2006/main" noGrp="1"/>
          </p:cNvSpPr>
          <p:nvPr/>
        </p:nvSpPr>
        <p:spPr>
          <a:xfrm xmlns:a="http://schemas.openxmlformats.org/drawingml/2006/main">
            <a:off x="-822463" y="2156407"/>
            <a:ext cx="166712" cy="10002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ct val="100000"/>
              </a:lnSpc>
              <a:spcAft>
                <a:spcPts val="489"/>
              </a:spcAft>
              <a:buSzPct val="100000"/>
              <a:buNone/>
            </a:pPr>
            <a:r>
              <a:rPr sz="650" b="1">
                <a:solidFill>
                  <a:schemeClr val="tx1"/>
                </a:solidFill>
                <a:latin typeface="+mn-ea"/>
                <a:ea typeface="+mn-ea"/>
                <a:cs typeface="+mn-ea"/>
              </a:rPr>
              <a:t>도형</a:t>
            </a:r>
          </a:p>
        </p:txBody>
      </p:sp>
      <p:sp>
        <p:nvSpPr>
          <p:cNvPr id="16" name="직사각형 15">
            <a:extLst xmlns:a="http://schemas.openxmlformats.org/drawingml/2006/main">
              <a:ext uri="{FF2B5EF4-FFF2-40B4-BE49-F238E27FC236}">
                <a16:creationId xmlns:a16="http://schemas.microsoft.com/office/drawing/2014/main" id="{8B46D58D-7D70-4D7E-9685-985BDA23135A}"/>
              </a:ext>
            </a:extLst>
          </p:cNvPr>
          <p:cNvSpPr>
            <a:spLocks xmlns:a="http://schemas.openxmlformats.org/drawingml/2006/main" noGrp="1"/>
          </p:cNvSpPr>
          <p:nvPr/>
        </p:nvSpPr>
        <p:spPr>
          <a:xfrm xmlns:a="http://schemas.openxmlformats.org/drawingml/2006/main" rot="0" flipH="0" flipV="0">
            <a:off x="-822460" y="2317582"/>
            <a:ext cx="326807" cy="237023"/>
          </a:xfrm>
          <a:prstGeom xmlns:a="http://schemas.openxmlformats.org/drawingml/2006/main" prst="rect">
            <a:avLst/>
          </a:prstGeom>
          <a:solidFill xmlns:a="http://schemas.openxmlformats.org/drawingml/2006/main">
            <a:srgbClr val="A82416"/>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61" name="직사각형 60">
            <a:extLst xmlns:a="http://schemas.openxmlformats.org/drawingml/2006/main">
              <a:ext uri="{FF2B5EF4-FFF2-40B4-BE49-F238E27FC236}">
                <a16:creationId xmlns:a16="http://schemas.microsoft.com/office/drawing/2014/main" id="{C6F49C39-4284-4A18-A12E-92F7BB06462A}"/>
              </a:ext>
            </a:extLst>
          </p:cNvPr>
          <p:cNvSpPr>
            <a:spLocks xmlns:a="http://schemas.openxmlformats.org/drawingml/2006/main" noGrp="1"/>
          </p:cNvSpPr>
          <p:nvPr/>
        </p:nvSpPr>
        <p:spPr>
          <a:xfrm xmlns:a="http://schemas.openxmlformats.org/drawingml/2006/main" rot="0" flipH="0" flipV="0">
            <a:off x="-822460" y="2577337"/>
            <a:ext cx="326807" cy="237023"/>
          </a:xfrm>
          <a:prstGeom xmlns:a="http://schemas.openxmlformats.org/drawingml/2006/main" prst="rect">
            <a:avLst/>
          </a:prstGeom>
          <a:solidFill xmlns:a="http://schemas.openxmlformats.org/drawingml/2006/main">
            <a:srgbClr val="D04A02"/>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62" name="직사각형 61">
            <a:extLst xmlns:a="http://schemas.openxmlformats.org/drawingml/2006/main">
              <a:ext uri="{FF2B5EF4-FFF2-40B4-BE49-F238E27FC236}">
                <a16:creationId xmlns:a16="http://schemas.microsoft.com/office/drawing/2014/main" id="{571EDE32-2F0E-4553-8D5F-DD0A55FD853E}"/>
              </a:ext>
            </a:extLst>
          </p:cNvPr>
          <p:cNvSpPr>
            <a:spLocks xmlns:a="http://schemas.openxmlformats.org/drawingml/2006/main" noGrp="1"/>
          </p:cNvSpPr>
          <p:nvPr/>
        </p:nvSpPr>
        <p:spPr>
          <a:xfrm xmlns:a="http://schemas.openxmlformats.org/drawingml/2006/main" rot="0" flipH="0" flipV="0">
            <a:off x="-822460" y="2837092"/>
            <a:ext cx="326807" cy="237023"/>
          </a:xfrm>
          <a:prstGeom xmlns:a="http://schemas.openxmlformats.org/drawingml/2006/main" prst="rect">
            <a:avLst/>
          </a:prstGeom>
          <a:solidFill xmlns:a="http://schemas.openxmlformats.org/drawingml/2006/main">
            <a:srgbClr val="DC6900"/>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63" name="직사각형 62">
            <a:extLst xmlns:a="http://schemas.openxmlformats.org/drawingml/2006/main">
              <a:ext uri="{FF2B5EF4-FFF2-40B4-BE49-F238E27FC236}">
                <a16:creationId xmlns:a16="http://schemas.microsoft.com/office/drawing/2014/main" id="{1B9DA7B6-E1B0-4465-B416-6D172AEE85D1}"/>
              </a:ext>
            </a:extLst>
          </p:cNvPr>
          <p:cNvSpPr>
            <a:spLocks xmlns:a="http://schemas.openxmlformats.org/drawingml/2006/main" noGrp="1"/>
          </p:cNvSpPr>
          <p:nvPr/>
        </p:nvSpPr>
        <p:spPr>
          <a:xfrm xmlns:a="http://schemas.openxmlformats.org/drawingml/2006/main" rot="0" flipH="0" flipV="0">
            <a:off x="-822460" y="3096847"/>
            <a:ext cx="326807" cy="237023"/>
          </a:xfrm>
          <a:prstGeom xmlns:a="http://schemas.openxmlformats.org/drawingml/2006/main" prst="rect">
            <a:avLst/>
          </a:prstGeom>
          <a:solidFill xmlns:a="http://schemas.openxmlformats.org/drawingml/2006/main">
            <a:srgbClr val="EE8108"/>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64" name="직사각형 63">
            <a:extLst xmlns:a="http://schemas.openxmlformats.org/drawingml/2006/main">
              <a:ext uri="{FF2B5EF4-FFF2-40B4-BE49-F238E27FC236}">
                <a16:creationId xmlns:a16="http://schemas.microsoft.com/office/drawing/2014/main" id="{C5AB11F0-630F-4A50-9181-E972AA115744}"/>
              </a:ext>
            </a:extLst>
          </p:cNvPr>
          <p:cNvSpPr>
            <a:spLocks xmlns:a="http://schemas.openxmlformats.org/drawingml/2006/main" noGrp="1"/>
          </p:cNvSpPr>
          <p:nvPr/>
        </p:nvSpPr>
        <p:spPr>
          <a:xfrm xmlns:a="http://schemas.openxmlformats.org/drawingml/2006/main" rot="0" flipH="0" flipV="0">
            <a:off x="-822460" y="3356603"/>
            <a:ext cx="326807" cy="237023"/>
          </a:xfrm>
          <a:prstGeom xmlns:a="http://schemas.openxmlformats.org/drawingml/2006/main" prst="rect">
            <a:avLst/>
          </a:prstGeom>
          <a:solidFill xmlns:a="http://schemas.openxmlformats.org/drawingml/2006/main">
            <a:srgbClr val="FFB600"/>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78" name="직사각형 77">
            <a:extLst xmlns:a="http://schemas.openxmlformats.org/drawingml/2006/main">
              <a:ext uri="{FF2B5EF4-FFF2-40B4-BE49-F238E27FC236}">
                <a16:creationId xmlns:a16="http://schemas.microsoft.com/office/drawing/2014/main" id="{11AD6E6C-49E7-4ABB-8DA9-C00B8095E204}"/>
              </a:ext>
            </a:extLst>
          </p:cNvPr>
          <p:cNvSpPr>
            <a:spLocks xmlns:a="http://schemas.openxmlformats.org/drawingml/2006/main" noGrp="1"/>
          </p:cNvSpPr>
          <p:nvPr/>
        </p:nvSpPr>
        <p:spPr>
          <a:xfrm xmlns:a="http://schemas.openxmlformats.org/drawingml/2006/main" rot="0" flipH="0" flipV="0">
            <a:off x="-822460" y="3617109"/>
            <a:ext cx="326807" cy="237023"/>
          </a:xfrm>
          <a:prstGeom xmlns:a="http://schemas.openxmlformats.org/drawingml/2006/main" prst="rect">
            <a:avLst/>
          </a:prstGeom>
          <a:solidFill xmlns:a="http://schemas.openxmlformats.org/drawingml/2006/main">
            <a:srgbClr val="FFE9C8"/>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68" name="직사각형 67">
            <a:extLst xmlns:a="http://schemas.openxmlformats.org/drawingml/2006/main">
              <a:ext uri="{FF2B5EF4-FFF2-40B4-BE49-F238E27FC236}">
                <a16:creationId xmlns:a16="http://schemas.microsoft.com/office/drawing/2014/main" id="{C44D74E4-7A76-47E1-83FB-2FE5A47FF478}"/>
              </a:ext>
            </a:extLst>
          </p:cNvPr>
          <p:cNvSpPr>
            <a:spLocks xmlns:a="http://schemas.openxmlformats.org/drawingml/2006/main" noGrp="1"/>
          </p:cNvSpPr>
          <p:nvPr/>
        </p:nvSpPr>
        <p:spPr>
          <a:xfrm xmlns:a="http://schemas.openxmlformats.org/drawingml/2006/main" rot="0" flipH="0" flipV="0">
            <a:off x="-460423" y="2317590"/>
            <a:ext cx="326807" cy="237022"/>
          </a:xfrm>
          <a:prstGeom xmlns:a="http://schemas.openxmlformats.org/drawingml/2006/main" prst="rect">
            <a:avLst/>
          </a:prstGeom>
          <a:solidFill xmlns:a="http://schemas.openxmlformats.org/drawingml/2006/main">
            <a:schemeClr val="tx1"/>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69" name="직사각형 68">
            <a:extLst xmlns:a="http://schemas.openxmlformats.org/drawingml/2006/main">
              <a:ext uri="{FF2B5EF4-FFF2-40B4-BE49-F238E27FC236}">
                <a16:creationId xmlns:a16="http://schemas.microsoft.com/office/drawing/2014/main" id="{33F58857-7ADB-46CE-88A4-4E092C83BEA9}"/>
              </a:ext>
            </a:extLst>
          </p:cNvPr>
          <p:cNvSpPr>
            <a:spLocks xmlns:a="http://schemas.openxmlformats.org/drawingml/2006/main" noGrp="1"/>
          </p:cNvSpPr>
          <p:nvPr/>
        </p:nvSpPr>
        <p:spPr>
          <a:xfrm xmlns:a="http://schemas.openxmlformats.org/drawingml/2006/main" rot="0" flipH="0" flipV="0">
            <a:off x="-460423" y="2577345"/>
            <a:ext cx="326807" cy="237022"/>
          </a:xfrm>
          <a:prstGeom xmlns:a="http://schemas.openxmlformats.org/drawingml/2006/main" prst="rect">
            <a:avLst/>
          </a:prstGeom>
          <a:solidFill xmlns:a="http://schemas.openxmlformats.org/drawingml/2006/main">
            <a:srgbClr val="464646"/>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70" name="직사각형 69">
            <a:extLst xmlns:a="http://schemas.openxmlformats.org/drawingml/2006/main">
              <a:ext uri="{FF2B5EF4-FFF2-40B4-BE49-F238E27FC236}">
                <a16:creationId xmlns:a16="http://schemas.microsoft.com/office/drawing/2014/main" id="{43BC8CDE-DDAA-4E12-BA25-D9E61B0B6075}"/>
              </a:ext>
            </a:extLst>
          </p:cNvPr>
          <p:cNvSpPr>
            <a:spLocks xmlns:a="http://schemas.openxmlformats.org/drawingml/2006/main" noGrp="1"/>
          </p:cNvSpPr>
          <p:nvPr/>
        </p:nvSpPr>
        <p:spPr>
          <a:xfrm xmlns:a="http://schemas.openxmlformats.org/drawingml/2006/main" rot="0" flipH="0" flipV="0">
            <a:off x="-460423" y="2837099"/>
            <a:ext cx="326807" cy="237022"/>
          </a:xfrm>
          <a:prstGeom xmlns:a="http://schemas.openxmlformats.org/drawingml/2006/main" prst="rect">
            <a:avLst/>
          </a:prstGeom>
          <a:solidFill xmlns:a="http://schemas.openxmlformats.org/drawingml/2006/main">
            <a:srgbClr val="7F7F7F"/>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71" name="직사각형 70">
            <a:extLst xmlns:a="http://schemas.openxmlformats.org/drawingml/2006/main">
              <a:ext uri="{FF2B5EF4-FFF2-40B4-BE49-F238E27FC236}">
                <a16:creationId xmlns:a16="http://schemas.microsoft.com/office/drawing/2014/main" id="{D5115D02-CAEB-465D-9EFD-8E1F49D87399}"/>
              </a:ext>
            </a:extLst>
          </p:cNvPr>
          <p:cNvSpPr>
            <a:spLocks xmlns:a="http://schemas.openxmlformats.org/drawingml/2006/main" noGrp="1"/>
          </p:cNvSpPr>
          <p:nvPr/>
        </p:nvSpPr>
        <p:spPr>
          <a:xfrm xmlns:a="http://schemas.openxmlformats.org/drawingml/2006/main" rot="0" flipH="0" flipV="0">
            <a:off x="-460423" y="3096854"/>
            <a:ext cx="326807" cy="237022"/>
          </a:xfrm>
          <a:prstGeom xmlns:a="http://schemas.openxmlformats.org/drawingml/2006/main" prst="rect">
            <a:avLst/>
          </a:prstGeom>
          <a:solidFill xmlns:a="http://schemas.openxmlformats.org/drawingml/2006/main">
            <a:srgbClr val="D9D9D9"/>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72" name="직사각형 71">
            <a:extLst xmlns:a="http://schemas.openxmlformats.org/drawingml/2006/main">
              <a:ext uri="{FF2B5EF4-FFF2-40B4-BE49-F238E27FC236}">
                <a16:creationId xmlns:a16="http://schemas.microsoft.com/office/drawing/2014/main" id="{D053FCA0-D623-45CD-B6F7-D9F32391CBB4}"/>
              </a:ext>
            </a:extLst>
          </p:cNvPr>
          <p:cNvSpPr>
            <a:spLocks xmlns:a="http://schemas.openxmlformats.org/drawingml/2006/main" noGrp="1"/>
          </p:cNvSpPr>
          <p:nvPr/>
        </p:nvSpPr>
        <p:spPr>
          <a:xfrm xmlns:a="http://schemas.openxmlformats.org/drawingml/2006/main" rot="0" flipH="0" flipV="0">
            <a:off x="-460423" y="3356610"/>
            <a:ext cx="326807" cy="237022"/>
          </a:xfrm>
          <a:prstGeom xmlns:a="http://schemas.openxmlformats.org/drawingml/2006/main" prst="rect">
            <a:avLst/>
          </a:prstGeom>
          <a:solidFill xmlns:a="http://schemas.openxmlformats.org/drawingml/2006/main">
            <a:srgbClr val="F2F2F2"/>
          </a:solidFill>
          <a:ln xmlns:a="http://schemas.openxmlformats.org/drawingml/2006/main">
            <a:noFill/>
          </a:ln>
        </p:spPr>
        <p:style>
          <a:lnRef xmlns:a="http://schemas.openxmlformats.org/drawingml/2006/main" idx="0">
            <a:schemeClr val="accent1"/>
          </a:lnRef>
          <a:fillRef xmlns:a="http://schemas.openxmlformats.org/drawingml/2006/main" idx="1">
            <a:schemeClr val="accent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lnSpc>
                <a:spcPct val="100000"/>
              </a:lnSpc>
              <a:buNone/>
            </a:pPr>
            <a:endParaRPr sz="854" b="1">
              <a:solidFill>
                <a:schemeClr val="tx1"/>
              </a:solidFill>
              <a:latin typeface="+mj-lt"/>
              <a:ea typeface="+mj-lt"/>
              <a:cs typeface="+mj-lt"/>
            </a:endParaRPr>
          </a:p>
        </p:txBody>
      </p:sp>
      <p:sp>
        <p:nvSpPr>
          <p:cNvPr id="87" name="Presentation Footer">
            <a:extLst xmlns:a="http://schemas.openxmlformats.org/drawingml/2006/main">
              <a:ext uri="{FF2B5EF4-FFF2-40B4-BE49-F238E27FC236}">
                <a16:creationId xmlns:a16="http://schemas.microsoft.com/office/drawing/2014/main" id="{D889281E-37B8-4454-97AA-BF13EBAB3153}"/>
              </a:ext>
            </a:extLst>
          </p:cNvPr>
          <p:cNvSpPr>
            <a:spLocks xmlns:a="http://schemas.openxmlformats.org/drawingml/2006/main" noGrp="1"/>
          </p:cNvSpPr>
          <p:nvPr>
            <p:ph type="ftr" idx="3"/>
          </p:nvPr>
        </p:nvSpPr>
        <p:spPr>
          <a:xfrm xmlns:a="http://schemas.openxmlformats.org/drawingml/2006/main">
            <a:off x="273049" y="6324903"/>
            <a:ext cx="6402568" cy="169786"/>
          </a:xfrm>
          <a:prstGeom xmlns:a="http://schemas.openxmlformats.org/drawingml/2006/main" prst="rect">
            <a:avLst/>
          </a:prstGeom>
        </p:spPr>
        <p:txBody>
          <a:bodyPr xmlns:a="http://schemas.openxmlformats.org/drawingml/2006/main" vert="horz" lIns="0" tIns="36000" rIns="0" bIns="0" anchor="ctr">
            <a:spAutoFit/>
          </a:bodyPr>
          <a:lstStyle xmlns:a="http://schemas.openxmlformats.org/drawingml/2006/main">
            <a:lvl1pPr algn="l">
              <a:buNone/>
              <a:defRPr sz="867" spc="-26" baseline="0">
                <a:solidFill>
                  <a:schemeClr val="tx1"/>
                </a:solidFill>
                <a:latin typeface="+mn-lt"/>
                <a:ea typeface="+mn-lt"/>
                <a:cs typeface="+mn-lt"/>
              </a:defRPr>
            </a:lvl1pPr>
          </a:lstStyle>
          <a:p xmlns:a="http://schemas.openxmlformats.org/drawingml/2006/main">
            <a:endParaRPr/>
          </a:p>
        </p:txBody>
      </p:sp>
      <p:sp>
        <p:nvSpPr>
          <p:cNvPr id="4" name="Slide Number">
            <a:extLst xmlns:a="http://schemas.openxmlformats.org/drawingml/2006/main">
              <a:ext uri="{FF2B5EF4-FFF2-40B4-BE49-F238E27FC236}">
                <a16:creationId xmlns:a16="http://schemas.microsoft.com/office/drawing/2014/main" id="{9C183666-334F-9458-F05D-2DE45D3A8B99}"/>
              </a:ext>
            </a:extLst>
          </p:cNvPr>
          <p:cNvSpPr>
            <a:spLocks xmlns:a="http://schemas.openxmlformats.org/drawingml/2006/main" noGrp="1"/>
          </p:cNvSpPr>
          <p:nvPr>
            <p:ph type="sldNum" idx="4"/>
          </p:nvPr>
        </p:nvSpPr>
        <p:spPr>
          <a:xfrm xmlns:a="http://schemas.openxmlformats.org/drawingml/2006/main">
            <a:off x="4613634" y="6626877"/>
            <a:ext cx="678124" cy="137161"/>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ctr">
              <a:spcBef>
                <a:spcPts val="0"/>
              </a:spcBef>
              <a:buNone/>
              <a:defRPr sz="650" spc="-25" baseline="0">
                <a:solidFill>
                  <a:schemeClr val="tx1"/>
                </a:solidFill>
                <a:latin typeface="+mn-lt"/>
                <a:ea typeface="+mn-lt"/>
                <a:cs typeface="+mn-lt"/>
              </a:defRPr>
            </a:lvl1pPr>
          </a:lstStyle>
          <a:p xmlns:a="http://schemas.openxmlformats.org/drawingml/2006/main">
            <a:fld id="{7870704B-CE94-48CC-AF30-84932A1262A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a48c7f9f7b4683"/>
    <p:sldLayoutId xmlns:r="http://schemas.openxmlformats.org/officeDocument/2006/relationships" id="2147483650" r:id="R1ce47141f3d74278"/>
    <p:sldLayoutId xmlns:r="http://schemas.openxmlformats.org/officeDocument/2006/relationships" id="2147483651" r:id="Rac58dd1d6aa14393"/>
    <p:sldLayoutId xmlns:r="http://schemas.openxmlformats.org/officeDocument/2006/relationships" id="2147483652" r:id="R0fd65cdc34754cbd"/>
    <p:sldLayoutId xmlns:r="http://schemas.openxmlformats.org/officeDocument/2006/relationships" id="2147483653" r:id="Rfdf5a05b1d184a29"/>
    <p:sldLayoutId xmlns:r="http://schemas.openxmlformats.org/officeDocument/2006/relationships" id="2147483654" r:id="R25fac0b9741a44a4"/>
  </p:sldLayoutIdLst>
  <p:hf hdr="0"/>
  <p:txStyles>
    <p:titleStyle>
      <a:lvl1pPr xmlns:a="http://schemas.openxmlformats.org/drawingml/2006/main" algn="l" defTabSz="742926">
        <a:lnSpc>
          <a:spcPct val="100000"/>
        </a:lnSpc>
        <a:spcBef>
          <a:spcPts val="0"/>
        </a:spcBef>
        <a:buNone/>
        <a:defRPr sz="2600" kern="1200" spc="-25" baseline="0">
          <a:solidFill>
            <a:schemeClr val="tx1"/>
          </a:solidFill>
          <a:latin typeface="+mn-lt"/>
          <a:ea typeface="+mn-lt"/>
          <a:cs typeface="+mn-lt"/>
        </a:defRPr>
      </a:lvl1pPr>
    </p:titleStyle>
    <p:bodyStyle>
      <a:lvl1pPr xmlns:a="http://schemas.openxmlformats.org/drawingml/2006/main" marL="0" marR="0" indent="-116996" algn="l" defTabSz="742705">
        <a:lnSpc>
          <a:spcPct val="120000"/>
        </a:lnSpc>
        <a:spcBef>
          <a:spcPts val="0"/>
        </a:spcBef>
        <a:spcAft>
          <a:spcPts val="489"/>
        </a:spcAft>
        <a:buClr>
          <a:prstClr val="black"/>
        </a:buClr>
        <a:buSzTx/>
        <a:buFontTx/>
        <a:buNone/>
        <a:defRPr sz="1139" b="1" kern="1200" spc="-25" baseline="0">
          <a:solidFill>
            <a:schemeClr val="accent1"/>
          </a:solidFill>
          <a:latin typeface="+mn-lt"/>
          <a:ea typeface="+mn-lt"/>
          <a:cs typeface="+mn-lt"/>
        </a:defRPr>
      </a:lvl1pPr>
      <a:lvl2pPr xmlns:a="http://schemas.openxmlformats.org/drawingml/2006/main" marL="116996" marR="0" indent="-116996" algn="l" defTabSz="742705">
        <a:lnSpc>
          <a:spcPct val="120000"/>
        </a:lnSpc>
        <a:spcBef>
          <a:spcPts val="0"/>
        </a:spcBef>
        <a:spcAft>
          <a:spcPts val="489"/>
        </a:spcAft>
        <a:buClrTx/>
        <a:buSzTx/>
        <a:buFont typeface="Georgia"/>
        <a:buChar char="•"/>
        <a:defRPr sz="1139" kern="1200" spc="-25" baseline="0">
          <a:solidFill>
            <a:schemeClr val="tx1"/>
          </a:solidFill>
          <a:latin typeface="+mn-lt"/>
          <a:ea typeface="+mn-lt"/>
          <a:cs typeface="+mn-lt"/>
        </a:defRPr>
      </a:lvl2pPr>
      <a:lvl3pPr xmlns:a="http://schemas.openxmlformats.org/drawingml/2006/main" marL="292491" marR="0" indent="-116996" algn="l" defTabSz="742705">
        <a:lnSpc>
          <a:spcPct val="120000"/>
        </a:lnSpc>
        <a:spcBef>
          <a:spcPts val="0"/>
        </a:spcBef>
        <a:spcAft>
          <a:spcPts val="489"/>
        </a:spcAft>
        <a:buClrTx/>
        <a:buSzTx/>
        <a:buFont typeface="Georgia"/>
        <a:buChar char="-"/>
        <a:defRPr sz="1139" kern="1200" spc="-25" baseline="0">
          <a:solidFill>
            <a:schemeClr val="tx1"/>
          </a:solidFill>
          <a:latin typeface="+mn-lt"/>
          <a:ea typeface="+mn-lt"/>
          <a:cs typeface="+mn-lt"/>
        </a:defRPr>
      </a:lvl3pPr>
      <a:lvl4pPr xmlns:a="http://schemas.openxmlformats.org/drawingml/2006/main" marL="467987" marR="0" indent="-116996" algn="l" defTabSz="742705">
        <a:lnSpc>
          <a:spcPct val="120000"/>
        </a:lnSpc>
        <a:spcBef>
          <a:spcPts val="0"/>
        </a:spcBef>
        <a:spcAft>
          <a:spcPts val="489"/>
        </a:spcAft>
        <a:buClrTx/>
        <a:buSzTx/>
        <a:buFont typeface="Wingdings"/>
        <a:buChar char="§"/>
        <a:defRPr sz="1139" kern="1200" spc="-25" baseline="0">
          <a:solidFill>
            <a:schemeClr val="tx1"/>
          </a:solidFill>
          <a:latin typeface="+mn-lt"/>
          <a:ea typeface="+mn-lt"/>
          <a:cs typeface="+mn-lt"/>
        </a:defRPr>
      </a:lvl4pPr>
      <a:lvl5pPr xmlns:a="http://schemas.openxmlformats.org/drawingml/2006/main" marL="584982" marR="0" indent="-116996" algn="l" defTabSz="742705">
        <a:lnSpc>
          <a:spcPct val="120000"/>
        </a:lnSpc>
        <a:spcBef>
          <a:spcPts val="0"/>
        </a:spcBef>
        <a:spcAft>
          <a:spcPts val="489"/>
        </a:spcAft>
        <a:buClrTx/>
        <a:buSzTx/>
        <a:buFont typeface="Georgia"/>
        <a:buChar char="›"/>
        <a:defRPr sz="1139" kern="1200" spc="-25" baseline="0">
          <a:solidFill>
            <a:schemeClr val="tx1"/>
          </a:solidFill>
          <a:latin typeface="+mn-lt"/>
          <a:ea typeface="+mn-lt"/>
          <a:cs typeface="+mn-lt"/>
        </a:defRPr>
      </a:lvl5pPr>
      <a:lvl6pPr xmlns:a="http://schemas.openxmlformats.org/drawingml/2006/main" marL="594342" indent="-148585" algn="l" defTabSz="742926">
        <a:lnSpc>
          <a:spcPct val="100000"/>
        </a:lnSpc>
        <a:spcBef>
          <a:spcPts val="0"/>
        </a:spcBef>
        <a:spcAft>
          <a:spcPts val="489"/>
        </a:spcAft>
        <a:buFont typeface="Arial"/>
        <a:buChar char="–"/>
        <a:defRPr sz="1300" kern="1200">
          <a:solidFill>
            <a:schemeClr val="tx1"/>
          </a:solidFill>
          <a:latin typeface="+mn-lt"/>
          <a:ea typeface="+mn-lt"/>
          <a:cs typeface="+mn-lt"/>
        </a:defRPr>
      </a:lvl6pPr>
      <a:lvl7pPr xmlns:a="http://schemas.openxmlformats.org/drawingml/2006/main" marL="742926" indent="-148585" algn="l" defTabSz="742926">
        <a:lnSpc>
          <a:spcPct val="100000"/>
        </a:lnSpc>
        <a:spcBef>
          <a:spcPts val="0"/>
        </a:spcBef>
        <a:spcAft>
          <a:spcPts val="489"/>
        </a:spcAft>
        <a:buFont typeface="Arial"/>
        <a:buChar char="•"/>
        <a:defRPr sz="1300" kern="1200">
          <a:solidFill>
            <a:schemeClr val="tx1"/>
          </a:solidFill>
          <a:latin typeface="+mn-lt"/>
          <a:ea typeface="+mn-lt"/>
          <a:cs typeface="+mn-lt"/>
        </a:defRPr>
      </a:lvl7pPr>
      <a:lvl8pPr xmlns:a="http://schemas.openxmlformats.org/drawingml/2006/main" marL="891513" indent="-148585" algn="l" defTabSz="742926">
        <a:lnSpc>
          <a:spcPct val="100000"/>
        </a:lnSpc>
        <a:spcBef>
          <a:spcPts val="0"/>
        </a:spcBef>
        <a:spcAft>
          <a:spcPts val="489"/>
        </a:spcAft>
        <a:buFont typeface="Arial"/>
        <a:buChar char="–"/>
        <a:defRPr sz="1300" kern="1200">
          <a:solidFill>
            <a:schemeClr val="tx1"/>
          </a:solidFill>
          <a:latin typeface="+mn-lt"/>
          <a:ea typeface="+mn-lt"/>
          <a:cs typeface="+mn-lt"/>
        </a:defRPr>
      </a:lvl8pPr>
      <a:lvl9pPr xmlns:a="http://schemas.openxmlformats.org/drawingml/2006/main" marL="1040098" indent="-148585" algn="l" defTabSz="742926">
        <a:lnSpc>
          <a:spcPct val="100000"/>
        </a:lnSpc>
        <a:spcBef>
          <a:spcPts val="0"/>
        </a:spcBef>
        <a:spcAft>
          <a:spcPts val="489"/>
        </a:spcAft>
        <a:buFont typeface="Arial"/>
        <a:buChar char="•"/>
        <a:defRPr sz="1300" kern="1200">
          <a:solidFill>
            <a:schemeClr val="tx1"/>
          </a:solidFill>
          <a:latin typeface="+mn-lt"/>
          <a:ea typeface="+mn-lt"/>
          <a:cs typeface="+mn-lt"/>
        </a:defRPr>
      </a:lvl9pPr>
    </p:bodyStyle>
    <p:otherStyle>
      <a:lvl1pPr xmlns:a="http://schemas.openxmlformats.org/drawingml/2006/main" marL="0" algn="l" defTabSz="742926">
        <a:buNone/>
        <a:defRPr sz="1300" kern="1200">
          <a:solidFill>
            <a:schemeClr val="tx1"/>
          </a:solidFill>
          <a:latin typeface="+mn-lt"/>
          <a:ea typeface="+mn-lt"/>
          <a:cs typeface="+mn-lt"/>
        </a:defRPr>
      </a:lvl1pPr>
      <a:lvl2pPr xmlns:a="http://schemas.openxmlformats.org/drawingml/2006/main" marL="371464" algn="l" defTabSz="742926">
        <a:buNone/>
        <a:defRPr sz="1300" kern="1200">
          <a:solidFill>
            <a:schemeClr val="tx1"/>
          </a:solidFill>
          <a:latin typeface="+mn-lt"/>
          <a:ea typeface="+mn-lt"/>
          <a:cs typeface="+mn-lt"/>
        </a:defRPr>
      </a:lvl2pPr>
      <a:lvl3pPr xmlns:a="http://schemas.openxmlformats.org/drawingml/2006/main" marL="742926" algn="l" defTabSz="742926">
        <a:buNone/>
        <a:defRPr sz="1300" kern="1200">
          <a:solidFill>
            <a:schemeClr val="tx1"/>
          </a:solidFill>
          <a:latin typeface="+mn-lt"/>
          <a:ea typeface="+mn-lt"/>
          <a:cs typeface="+mn-lt"/>
        </a:defRPr>
      </a:lvl3pPr>
      <a:lvl4pPr xmlns:a="http://schemas.openxmlformats.org/drawingml/2006/main" marL="1114391" algn="l" defTabSz="742926">
        <a:buNone/>
        <a:defRPr sz="1300" kern="1200">
          <a:solidFill>
            <a:schemeClr val="tx1"/>
          </a:solidFill>
          <a:latin typeface="+mn-lt"/>
          <a:ea typeface="+mn-lt"/>
          <a:cs typeface="+mn-lt"/>
        </a:defRPr>
      </a:lvl4pPr>
      <a:lvl5pPr xmlns:a="http://schemas.openxmlformats.org/drawingml/2006/main" marL="1485854" algn="l" defTabSz="742926">
        <a:buNone/>
        <a:defRPr sz="1300" kern="1200">
          <a:solidFill>
            <a:schemeClr val="tx1"/>
          </a:solidFill>
          <a:latin typeface="+mn-lt"/>
          <a:ea typeface="+mn-lt"/>
          <a:cs typeface="+mn-lt"/>
        </a:defRPr>
      </a:lvl5pPr>
      <a:lvl6pPr xmlns:a="http://schemas.openxmlformats.org/drawingml/2006/main" marL="1857319" algn="l" defTabSz="742926">
        <a:buNone/>
        <a:defRPr sz="1300" kern="1200">
          <a:solidFill>
            <a:schemeClr val="tx1"/>
          </a:solidFill>
          <a:latin typeface="+mn-lt"/>
          <a:ea typeface="+mn-lt"/>
          <a:cs typeface="+mn-lt"/>
        </a:defRPr>
      </a:lvl6pPr>
      <a:lvl7pPr xmlns:a="http://schemas.openxmlformats.org/drawingml/2006/main" marL="2228781" algn="l" defTabSz="742926">
        <a:buNone/>
        <a:defRPr sz="1300" kern="1200">
          <a:solidFill>
            <a:schemeClr val="tx1"/>
          </a:solidFill>
          <a:latin typeface="+mn-lt"/>
          <a:ea typeface="+mn-lt"/>
          <a:cs typeface="+mn-lt"/>
        </a:defRPr>
      </a:lvl7pPr>
      <a:lvl8pPr xmlns:a="http://schemas.openxmlformats.org/drawingml/2006/main" marL="2600245" algn="l" defTabSz="742926">
        <a:buNone/>
        <a:defRPr sz="1300" kern="1200">
          <a:solidFill>
            <a:schemeClr val="tx1"/>
          </a:solidFill>
          <a:latin typeface="+mn-lt"/>
          <a:ea typeface="+mn-lt"/>
          <a:cs typeface="+mn-lt"/>
        </a:defRPr>
      </a:lvl8pPr>
      <a:lvl9pPr xmlns:a="http://schemas.openxmlformats.org/drawingml/2006/main" marL="2971709" algn="l" defTabSz="742926">
        <a:buNone/>
        <a:defRPr sz="1300" kern="1200">
          <a:solidFill>
            <a:schemeClr val="tx1"/>
          </a:solidFill>
          <a:latin typeface="+mn-lt"/>
          <a:ea typeface="+mn-lt"/>
          <a:cs typeface="+mn-lt"/>
        </a:defRPr>
      </a:lvl9pPr>
    </p:otherStyle>
  </p:txStyles>
  <p:extLst>
    <p:ext uri="{27BBF7A9-308A-43DC-89C8-2F10F3537804}">
      <p15:sldGuideLst xmlns:p15="http://schemas.microsoft.com/office/powerpoint/2012/main">
        <p15:guide id="0" pos="3120" userDrawn="1">
          <p15:clr>
            <a:srgbClr xmlns:a="http://schemas.openxmlformats.org/drawingml/2006/main" val="F26B43"/>
          </p15:clr>
        </p15:guide>
        <p15:guide id="1" pos="172" userDrawn="1">
          <p15:clr>
            <a:srgbClr xmlns:a="http://schemas.openxmlformats.org/drawingml/2006/main" val="9FCC3B"/>
          </p15:clr>
        </p15:guide>
        <p15:guide id="2" pos="6068" userDrawn="1">
          <p15:clr>
            <a:srgbClr xmlns:a="http://schemas.openxmlformats.org/drawingml/2006/main" val="9FCC3B"/>
          </p15:clr>
        </p15:guide>
        <p15:guide id="3" pos="3194" userDrawn="1">
          <p15:clr>
            <a:srgbClr xmlns:a="http://schemas.openxmlformats.org/drawingml/2006/main" val="A4A3A4"/>
          </p15:clr>
        </p15:guide>
        <p15:guide id="4" pos="3046" userDrawn="1">
          <p15:clr>
            <a:srgbClr xmlns:a="http://schemas.openxmlformats.org/drawingml/2006/main" val="A4A3A4"/>
          </p15:clr>
        </p15:guide>
        <p15:guide id="10" orient="horz" pos="2523" userDrawn="1">
          <p15:clr>
            <a:srgbClr xmlns:a="http://schemas.openxmlformats.org/drawingml/2006/main" val="A4A3A4"/>
          </p15:clr>
        </p15:guide>
        <p15:guide id="13" orient="horz" pos="255" userDrawn="1">
          <p15:clr>
            <a:srgbClr xmlns:a="http://schemas.openxmlformats.org/drawingml/2006/main" val="F26B43"/>
          </p15:clr>
        </p15:guide>
        <p15:guide id="14" orient="horz" pos="3952" userDrawn="1">
          <p15:clr>
            <a:srgbClr xmlns:a="http://schemas.openxmlformats.org/drawingml/2006/main" val="F26B43"/>
          </p15:clr>
        </p15:guide>
      </p15:sldGuideLst>
    </p:ext>
  </p:extLst>
</p:sldMaster>
</file>

<file path=ppt/slideMasters/theme/theme2.xml><?xml version="1.0" encoding="utf-8"?>
<a:theme xmlns:a="http://schemas.openxmlformats.org/drawingml/2006/main" name="기본">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사용자 지정 2">
      <a:majorFont>
        <a:latin typeface="Arial"/>
        <a:ea typeface="맑은 고딕"/>
        <a:cs typeface=""/>
      </a:majorFont>
      <a:minorFont>
        <a:latin typeface="Arial"/>
        <a:ea typeface="맑은 고딕"/>
        <a:cs typeface=""/>
      </a:minorFont>
    </a:fontScheme>
    <a:fmtScheme name="PwC Colors">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c8fa424e4348e2" /><Relationship Type="http://schemas.openxmlformats.org/officeDocument/2006/relationships/notesSlide" Target="/ppt/notesSlides/notesSlide1.xml" Id="Rd52fbafce3c646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dbad25bf37cb433f" /><Relationship Type="http://schemas.openxmlformats.org/officeDocument/2006/relationships/notesSlide" Target="/ppt/notesSlides/notesSlide2.xml" Id="R436eaa6cd83c4d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7263bc1d7dc418e" /><Relationship Type="http://schemas.openxmlformats.org/officeDocument/2006/relationships/notesSlide" Target="/ppt/notesSlides/notesSlide3.xml" Id="R3661f98e782c48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31dc1b1d3a0444d" /><Relationship Type="http://schemas.openxmlformats.org/officeDocument/2006/relationships/notesSlide" Target="/ppt/notesSlides/notesSlide4.xml" Id="Rc82660d168e740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45c81b6c28d4c40" /><Relationship Type="http://schemas.openxmlformats.org/officeDocument/2006/relationships/notesSlide" Target="/ppt/notesSlides/notesSlide5.xml" Id="R0e199c249f854c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9c98eb68382412a" /><Relationship Type="http://schemas.openxmlformats.org/officeDocument/2006/relationships/notesSlide" Target="/ppt/notesSlides/notesSlide6.xml" Id="R45e6acd4b90b40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3b3536eb18b4d75" /><Relationship Type="http://schemas.openxmlformats.org/officeDocument/2006/relationships/notesSlide" Target="/ppt/notesSlides/notesSlide7.xml" Id="R63cadc55ac0d4f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6ae28be60604b46" /><Relationship Type="http://schemas.openxmlformats.org/officeDocument/2006/relationships/notesSlide" Target="/ppt/notesSlides/notesSlide8.xml" Id="R89c4c8e6f75c4a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8a115d261324e35" /><Relationship Type="http://schemas.openxmlformats.org/officeDocument/2006/relationships/notesSlide" Target="/ppt/notesSlides/notesSlide9.xml" Id="R4c1a1f1ff9d74d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36beff245b840a9" /><Relationship Type="http://schemas.openxmlformats.org/officeDocument/2006/relationships/notesSlide" Target="/ppt/notesSlides/notesSlide10.xml" Id="R81f2b73b73c648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72112807cb94ec1" /><Relationship Type="http://schemas.openxmlformats.org/officeDocument/2006/relationships/notesSlide" Target="/ppt/notesSlides/notesSlide11.xml" Id="Rcf4ea874e13347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5fa5858b8934ab7" /><Relationship Type="http://schemas.openxmlformats.org/officeDocument/2006/relationships/notesSlide" Target="/ppt/notesSlides/notesSlide12.xml" Id="Re518c7321e4c4f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da4aefdfbb94dbe" /><Relationship Type="http://schemas.openxmlformats.org/officeDocument/2006/relationships/notesSlide" Target="/ppt/notesSlides/notesSlide13.xml" Id="R60017750410b4c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e0dfc05453a4381" /><Relationship Type="http://schemas.openxmlformats.org/officeDocument/2006/relationships/notesSlide" Target="/ppt/notesSlides/notesSlide14.xml" Id="R6b3ad20cd3bb49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10afc48446f4387" /><Relationship Type="http://schemas.openxmlformats.org/officeDocument/2006/relationships/notesSlide" Target="/ppt/notesSlides/notesSlide15.xml" Id="R119c844a814145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f06f869bb9be43cd" /><Relationship Type="http://schemas.openxmlformats.org/officeDocument/2006/relationships/notesSlide" Target="/ppt/notesSlides/notesSlide16.xml" Id="R1e11787e1ebf47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e462e36796c4931" /><Relationship Type="http://schemas.openxmlformats.org/officeDocument/2006/relationships/notesSlide" Target="/ppt/notesSlides/notesSlide17.xml" Id="R2142787240d34d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9b6c3d669d347ac" /><Relationship Type="http://schemas.openxmlformats.org/officeDocument/2006/relationships/notesSlide" Target="/ppt/notesSlides/notesSlide18.xml" Id="R28ea956775ca4d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5c4babaf9de47c0" /><Relationship Type="http://schemas.openxmlformats.org/officeDocument/2006/relationships/notesSlide" Target="/ppt/notesSlides/notesSlide19.xml" Id="R6b50e39f107a431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794eb7822291494b" /><Relationship Type="http://schemas.openxmlformats.org/officeDocument/2006/relationships/notesSlide" Target="/ppt/notesSlides/notesSlide20.xml" Id="R97eb6ec3387c4af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1021869b7d0b4a9b" /><Relationship Type="http://schemas.openxmlformats.org/officeDocument/2006/relationships/notesSlide" Target="/ppt/notesSlides/notesSlide21.xml" Id="R7f33b7711daa4a5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d05afd52ae52488f" /><Relationship Type="http://schemas.openxmlformats.org/officeDocument/2006/relationships/notesSlide" Target="/ppt/notesSlides/notesSlide22.xml" Id="R97edb8dfa4274ce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62bf0e718d0e4b5b" /><Relationship Type="http://schemas.openxmlformats.org/officeDocument/2006/relationships/notesSlide" Target="/ppt/notesSlides/notesSlide23.xml" Id="Rf1849eb37d214fe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3bb2345824d4ccd" /><Relationship Type="http://schemas.openxmlformats.org/officeDocument/2006/relationships/notesSlide" Target="/ppt/notesSlides/notesSlide24.xml" Id="R7996f508dcd24f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4.xml" Id="Rc92ca625b7a04a42" /><Relationship Type="http://schemas.openxmlformats.org/officeDocument/2006/relationships/notesSlide" Target="/ppt/notesSlides/notesSlide25.xml" Id="R8b1c6792752c46c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제목 11">
            <a:extLst xmlns:a="http://schemas.openxmlformats.org/drawingml/2006/main">
              <a:ext uri="{FF2B5EF4-FFF2-40B4-BE49-F238E27FC236}">
                <a16:creationId xmlns:a16="http://schemas.microsoft.com/office/drawing/2014/main" id="{C7B7E838-D123-493C-818B-C1C50A58D386}"/>
              </a:ext>
            </a:extLst>
          </p:cNvPr>
          <p:cNvSpPr>
            <a:spLocks xmlns:a="http://schemas.openxmlformats.org/drawingml/2006/main" noGrp="1"/>
          </p:cNvSpPr>
          <p:nvPr>
            <p:ph type="ctrTitle" idx="0"/>
          </p:nvPr>
        </p:nvSpPr>
        <p:spPr>
          <a:xfrm xmlns:a="http://schemas.openxmlformats.org/drawingml/2006/main">
            <a:off x="441094" y="769567"/>
            <a:ext cx="6203548" cy="2339637"/>
          </a:xfrm>
        </p:spPr>
        <p:txBody>
          <a:bodyPr xmlns:a="http://schemas.openxmlformats.org/drawingml/2006/main" anchor="t">
            <a:normAutofit fontScale="100000"/>
          </a:bodyPr>
          <a:lstStyle xmlns:a="http://schemas.openxmlformats.org/drawingml/2006/main"/>
          <a:p xmlns:a="http://schemas.openxmlformats.org/drawingml/2006/main">
            <a:pPr>
              <a:lnSpc>
                <a:spcPct val="100000"/>
              </a:lnSpc>
              <a:spcAft>
                <a:spcPts val="489"/>
              </a:spcAft>
              <a:buNone/>
            </a:pPr>
            <a:r>
              <a:rPr sz="4000" b="1" spc="-41">
                <a:latin typeface="+mn-ea"/>
                <a:ea typeface="+mn-ea"/>
                <a:cs typeface="+mn-ea"/>
              </a:rPr>
              <a:t>AI·SW</a:t>
            </a:r>
            <a:r>
              <a:rPr sz="4000" b="1" spc="-41">
                <a:latin typeface="+mn-ea"/>
                <a:ea typeface="+mn-ea"/>
                <a:cs typeface="+mn-ea"/>
              </a:rPr>
              <a:t> </a:t>
            </a:r>
            <a:r>
              <a:rPr sz="4000" b="1" spc="-41">
                <a:latin typeface="+mn-ea"/>
                <a:ea typeface="+mn-ea"/>
                <a:cs typeface="+mn-ea"/>
              </a:rPr>
              <a:t>융합프로젝트</a:t>
            </a:r>
            <a:br/>
            <a:br/>
            <a:r>
              <a:rPr sz="2800" b="1" spc="-41">
                <a:latin typeface="+mn-ea"/>
                <a:ea typeface="+mn-ea"/>
                <a:cs typeface="+mn-ea"/>
              </a:rPr>
              <a:t>수행계획서</a:t>
            </a:r>
            <a:endParaRPr sz="2800" spc="-41">
              <a:latin typeface="+mn-ea"/>
              <a:ea typeface="+mn-ea"/>
              <a:cs typeface="+mn-ea"/>
            </a:endParaRPr>
          </a:p>
        </p:txBody>
      </p:sp>
      <p:sp>
        <p:nvSpPr>
          <p:cNvPr id="4" name="부제목 3">
            <a:extLst xmlns:a="http://schemas.openxmlformats.org/drawingml/2006/main">
              <a:ext uri="{FF2B5EF4-FFF2-40B4-BE49-F238E27FC236}">
                <a16:creationId xmlns:a16="http://schemas.microsoft.com/office/drawing/2014/main" id="{F083118B-73CC-4759-BB91-844DE9222BB1}"/>
              </a:ext>
            </a:extLst>
          </p:cNvPr>
          <p:cNvSpPr>
            <a:spLocks xmlns:a="http://schemas.openxmlformats.org/drawingml/2006/main" noGrp="1"/>
          </p:cNvSpPr>
          <p:nvPr>
            <p:ph type="subTitle" idx="1"/>
          </p:nvPr>
        </p:nvSpPr>
        <p:spPr/>
        <p:txBody>
          <a:bodyPr xmlns:a="http://schemas.openxmlformats.org/drawingml/2006/main">
            <a:normAutofit/>
          </a:bodyPr>
          <a:lstStyle xmlns:a="http://schemas.openxmlformats.org/drawingml/2006/main"/>
          <a:p xmlns:a="http://schemas.openxmlformats.org/drawingml/2006/main">
            <a:pPr lvl="0">
              <a:buNone/>
            </a:pPr>
            <a:r>
              <a:rPr sz="1600" b="1" cap="all">
                <a:latin typeface="+mj-ea"/>
                <a:ea typeface="+mj-ea"/>
                <a:cs typeface="+mj-ea"/>
              </a:rPr>
              <a:t>2026</a:t>
            </a:r>
            <a:r>
              <a:rPr sz="1600" b="1" cap="all">
                <a:latin typeface="+mj-ea"/>
                <a:ea typeface="+mj-ea"/>
                <a:cs typeface="+mj-ea"/>
              </a:rPr>
              <a:t>년 </a:t>
            </a:r>
            <a:r>
              <a:rPr sz="1600" b="1" cap="all">
                <a:latin typeface="+mj-ea"/>
                <a:ea typeface="+mj-ea"/>
                <a:cs typeface="+mj-ea"/>
              </a:rPr>
              <a:t>2</a:t>
            </a:r>
            <a:r>
              <a:rPr sz="1600" b="1" cap="all">
                <a:latin typeface="+mj-ea"/>
                <a:ea typeface="+mj-ea"/>
                <a:cs typeface="+mj-ea"/>
              </a:rPr>
              <a:t>학기</a:t>
            </a:r>
          </a:p>
        </p:txBody>
      </p:sp>
      <p:sp>
        <p:nvSpPr>
          <p:cNvPr id="7" name="TextBox 6">
            <a:extLst xmlns:a="http://schemas.openxmlformats.org/drawingml/2006/main">
              <a:ext uri="{FF2B5EF4-FFF2-40B4-BE49-F238E27FC236}">
                <a16:creationId xmlns:a16="http://schemas.microsoft.com/office/drawing/2014/main" id="{90C0104A-0A95-400C-9146-BFA620E66B0C}"/>
              </a:ext>
            </a:extLst>
          </p:cNvPr>
          <p:cNvSpPr>
            <a:spLocks xmlns:a="http://schemas.openxmlformats.org/drawingml/2006/main" noGrp="1"/>
          </p:cNvSpPr>
          <p:nvPr/>
        </p:nvSpPr>
        <p:spPr>
          <a:xfrm xmlns:a="http://schemas.openxmlformats.org/drawingml/2006/main">
            <a:off x="411480" y="2487168"/>
            <a:ext cx="5760720" cy="82296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a:spcBef>
                <a:spcPts val="0"/>
              </a:spcBef>
              <a:spcAft>
                <a:spcPts val="0"/>
              </a:spcAft>
            </a:pPr>
            <a:r>
              <a:rPr sz="1800" b="1">
                <a:solidFill>
                  <a:srgbClr val="FFFFFF"/>
                </a:solidFill>
                <a:latin typeface="맑은 고딕"/>
                <a:ea typeface="맑은 고딕"/>
                <a:cs typeface="맑은 고딕"/>
              </a:rPr>
              <a:t>선호 기반 프롬프트 자동 생성 도구</a:t>
            </a:r>
          </a:p>
          <a:p xmlns:a="http://schemas.openxmlformats.org/drawingml/2006/main">
            <a:pPr>
              <a:spcBef>
                <a:spcPts val="0"/>
              </a:spcBef>
              <a:spcAft>
                <a:spcPts val="0"/>
              </a:spcAft>
            </a:pPr>
            <a:r>
              <a:rPr sz="1100" b="0">
                <a:solidFill>
                  <a:srgbClr val="D9D9D9"/>
                </a:solidFill>
                <a:latin typeface="맑은 고딕"/>
                <a:ea typeface="맑은 고딕"/>
                <a:cs typeface="맑은 고딕"/>
              </a:rPr>
              <a:t>수행계획 발표   2026.09.30   팀명·팀원: 협의 예정</a:t>
            </a:r>
          </a:p>
        </p:txBody>
      </p:sp>
    </p:spTree>
    <p:extLst>
      <p:ext uri="{BB962C8B-B14F-4D97-AF65-F5344CB8AC3E}">
        <p14:creationId xmlns:p14="http://schemas.microsoft.com/office/powerpoint/2010/main" val="25265884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88CF68ED-BAAB-4131-A8BE-BD46BE7479BE}"/>
              </a:ext>
            </a:extLst>
          </p:cNvPr>
          <p:cNvSpPr>
            <a:spLocks xmlns:a="http://schemas.openxmlformats.org/drawingml/2006/main" noGrp="1"/>
          </p:cNvSpPr>
          <p:nvPr/>
        </p:nvSpPr>
        <p:spPr>
          <a:xfrm xmlns:a="http://schemas.openxmlformats.org/drawingml/2006/main">
            <a:off x="3513141" y="958583"/>
            <a:ext cx="5976937" cy="380364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ct val="150000"/>
              </a:lnSpc>
              <a:spcAft>
                <a:spcPts val="600"/>
              </a:spcAft>
              <a:buSzPct val="100000"/>
              <a:buNone/>
            </a:pPr>
            <a:r>
              <a:rPr sz="5400" b="1" spc="-30">
                <a:solidFill>
                  <a:srgbClr val="FFFFFF"/>
                </a:solidFill>
                <a:latin typeface="Arial"/>
                <a:ea typeface="Arial"/>
                <a:cs typeface="Arial"/>
              </a:rPr>
              <a:t>Agenda</a:t>
            </a:r>
          </a:p>
          <a:p xmlns:a="http://schemas.openxmlformats.org/drawingml/2006/main">
            <a:pPr marL="831486" lvl="1" indent="-342900" defTabSz="977172">
              <a:lnSpc>
                <a:spcPct val="120000"/>
              </a:lnSpc>
              <a:spcAft>
                <a:spcPts val="600"/>
              </a:spcAft>
              <a:buSzPct val="100000"/>
              <a:buFont typeface="+mj-lt"/>
              <a:buAutoNum type="arabicPeriod"/>
            </a:pPr>
            <a:r>
              <a:rPr sz="2800" b="1" spc="-30">
                <a:solidFill>
                  <a:srgbClr val="FFFFFF"/>
                </a:solidFill>
                <a:latin typeface="Arial"/>
                <a:ea typeface="Arial"/>
                <a:cs typeface="Arial"/>
              </a:rPr>
              <a:t> 추진배경 및 목표</a:t>
            </a:r>
            <a:endParaRPr sz="2800" b="1" spc="-30">
              <a:solidFill>
                <a:srgbClr val="FFFFFF"/>
              </a:solidFill>
              <a:latin typeface="Arial"/>
              <a:ea typeface="Arial"/>
              <a:cs typeface="Arial"/>
            </a:endParaRPr>
          </a:p>
          <a:p xmlns:a="http://schemas.openxmlformats.org/drawingml/2006/main">
            <a:pPr marL="831486" lvl="1" indent="-342900" defTabSz="977172">
              <a:lnSpc>
                <a:spcPct val="120000"/>
              </a:lnSpc>
              <a:spcAft>
                <a:spcPts val="600"/>
              </a:spcAft>
              <a:buSzPct val="100000"/>
              <a:buFont typeface="+mj-lt"/>
              <a:buAutoNum type="arabicPeriod"/>
            </a:pPr>
            <a:r>
              <a:rPr sz="2800" b="1" spc="-30">
                <a:solidFill>
                  <a:srgbClr val="FFFFFF"/>
                </a:solidFill>
                <a:latin typeface="Arial"/>
                <a:ea typeface="Arial"/>
                <a:cs typeface="Arial"/>
              </a:rPr>
              <a:t> 수행 범위</a:t>
            </a:r>
            <a:endParaRPr sz="2800" b="1" spc="-30">
              <a:solidFill>
                <a:srgbClr val="FFFFFF"/>
              </a:solidFill>
              <a:latin typeface="Arial"/>
              <a:ea typeface="Arial"/>
              <a:cs typeface="Arial"/>
            </a:endParaRPr>
          </a:p>
          <a:p xmlns:a="http://schemas.openxmlformats.org/drawingml/2006/main">
            <a:pPr marL="831486" lvl="1" indent="-342900" defTabSz="977172">
              <a:lnSpc>
                <a:spcPct val="120000"/>
              </a:lnSpc>
              <a:spcAft>
                <a:spcPts val="600"/>
              </a:spcAft>
              <a:buSzPct val="100000"/>
              <a:buFont typeface="+mj-lt"/>
              <a:buAutoNum type="arabicPeriod"/>
            </a:pPr>
            <a:r>
              <a:rPr sz="2800" b="1" spc="-30">
                <a:solidFill>
                  <a:srgbClr val="FFFFFF"/>
                </a:solidFill>
                <a:latin typeface="Arial"/>
                <a:ea typeface="Arial"/>
                <a:cs typeface="Arial"/>
              </a:rPr>
              <a:t> 수행 방안 및 일정</a:t>
            </a:r>
            <a:endParaRPr sz="2800" b="1" spc="-30">
              <a:solidFill>
                <a:srgbClr val="FFFFFF"/>
              </a:solidFill>
              <a:latin typeface="Arial"/>
              <a:ea typeface="Arial"/>
              <a:cs typeface="Arial"/>
            </a:endParaRPr>
          </a:p>
          <a:p xmlns:a="http://schemas.openxmlformats.org/drawingml/2006/main">
            <a:pPr marL="831486" lvl="1" indent="-342900" defTabSz="977172">
              <a:lnSpc>
                <a:spcPct val="120000"/>
              </a:lnSpc>
              <a:spcAft>
                <a:spcPts val="600"/>
              </a:spcAft>
              <a:buSzPct val="100000"/>
              <a:buFont typeface="+mj-lt"/>
              <a:buAutoNum type="arabicPeriod"/>
            </a:pPr>
            <a:r>
              <a:rPr sz="2800" b="1" spc="-30">
                <a:solidFill>
                  <a:srgbClr val="FFFFFF"/>
                </a:solidFill>
                <a:latin typeface="Arial"/>
                <a:ea typeface="Arial"/>
                <a:cs typeface="Arial"/>
              </a:rPr>
              <a:t> 추진 조직 및 인력</a:t>
            </a:r>
            <a:endParaRPr sz="2800" b="1" spc="-30">
              <a:solidFill>
                <a:srgbClr val="FFFFFF"/>
              </a:solidFill>
              <a:latin typeface="Arial"/>
              <a:ea typeface="Arial"/>
              <a:cs typeface="Arial"/>
            </a:endParaRPr>
          </a:p>
          <a:p xmlns:a="http://schemas.openxmlformats.org/drawingml/2006/main">
            <a:pPr marL="831486" lvl="1" indent="-342900" defTabSz="977172">
              <a:lnSpc>
                <a:spcPct val="120000"/>
              </a:lnSpc>
              <a:spcAft>
                <a:spcPts val="600"/>
              </a:spcAft>
              <a:buSzPct val="100000"/>
              <a:buFont typeface="+mj-lt"/>
              <a:buAutoNum type="arabicPeriod"/>
            </a:pPr>
            <a:r>
              <a:rPr sz="2800" b="1" spc="-30">
                <a:solidFill>
                  <a:srgbClr val="FFFFFF"/>
                </a:solidFill>
                <a:latin typeface="Arial"/>
                <a:ea typeface="Arial"/>
                <a:cs typeface="Arial"/>
              </a:rPr>
              <a:t> </a:t>
            </a:r>
            <a:r>
              <a:rPr sz="2800" b="1" spc="-30">
                <a:solidFill>
                  <a:srgbClr val="FFFFFF"/>
                </a:solidFill>
                <a:latin typeface="Arial"/>
                <a:ea typeface="Arial"/>
                <a:cs typeface="Arial"/>
              </a:rPr>
              <a:t>프로젝트 관리</a:t>
            </a:r>
            <a:endParaRPr sz="2800" b="1" spc="-30">
              <a:solidFill>
                <a:srgbClr val="FFFFFF"/>
              </a:solidFill>
              <a:latin typeface="Arial"/>
              <a:ea typeface="Arial"/>
              <a:cs typeface="Arial"/>
            </a:endParaRPr>
          </a:p>
        </p:txBody>
      </p:sp>
    </p:spTree>
    <p:extLst>
      <p:ext uri="{BB962C8B-B14F-4D97-AF65-F5344CB8AC3E}">
        <p14:creationId xmlns:p14="http://schemas.microsoft.com/office/powerpoint/2010/main" val="35502065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5355396-8B7B-4444-9CE9-1F08806E138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1. 추진배경 및 목표</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202359C0-8A7A-196E-DD58-8E6569619F09}" type="slidenum">
              <a:rPr b="0">
                <a:solidFill>
                  <a:srgbClr val="000000"/>
                </a:solidFill>
                <a:latin typeface="맑은 고딕"/>
                <a:ea typeface="맑은 고딕"/>
                <a:cs typeface="맑은 고딕"/>
              </a:rPr>
              <a:t>3</a:t>
            </a:fld>
            <a:endParaRPr/>
          </a:p>
        </p:txBody>
      </p:sp>
      <p:sp>
        <p:nvSpPr>
          <p:cNvPr id="5" name="TextBox 4">
            <a:extLst xmlns:a="http://schemas.openxmlformats.org/drawingml/2006/main">
              <a:ext uri="{FF2B5EF4-FFF2-40B4-BE49-F238E27FC236}">
                <a16:creationId xmlns:a16="http://schemas.microsoft.com/office/drawing/2014/main" id="{C1383C38-7EC0-4A35-9D46-0FB9B93907E6}"/>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1-1. 프로젝트 추진 배경</a:t>
            </a:r>
          </a:p>
        </p:txBody>
      </p:sp>
      <p:sp>
        <p:nvSpPr>
          <p:cNvPr id="6" name="TextBox 5">
            <a:extLst xmlns:a="http://schemas.openxmlformats.org/drawingml/2006/main">
              <a:ext uri="{FF2B5EF4-FFF2-40B4-BE49-F238E27FC236}">
                <a16:creationId xmlns:a16="http://schemas.microsoft.com/office/drawing/2014/main" id="{2EDB0DFF-D1F7-4E66-8721-16FC9E432333}"/>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반복 작업에서 원하는 출력 방식을 설명하는 부담을 비교 선택으로 줄일 수 있는지 검증합니다</a:t>
            </a:r>
          </a:p>
        </p:txBody>
      </p:sp>
      <p:sp>
        <p:nvSpPr>
          <p:cNvPr id="7" name="Rounded Rectangle 6">
            <a:extLst xmlns:a="http://schemas.openxmlformats.org/drawingml/2006/main">
              <a:ext uri="{FF2B5EF4-FFF2-40B4-BE49-F238E27FC236}">
                <a16:creationId xmlns:a16="http://schemas.microsoft.com/office/drawing/2014/main" id="{DD4804E2-E437-4BE0-9E72-042AAA87DB9F}"/>
              </a:ext>
            </a:extLst>
          </p:cNvPr>
          <p:cNvSpPr>
            <a:spLocks xmlns:a="http://schemas.openxmlformats.org/drawingml/2006/main" noGrp="1"/>
          </p:cNvSpPr>
          <p:nvPr/>
        </p:nvSpPr>
        <p:spPr>
          <a:xfrm xmlns:a="http://schemas.openxmlformats.org/drawingml/2006/main">
            <a:off x="429768" y="1783080"/>
            <a:ext cx="2923032" cy="17830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600"/>
              </a:spcAft>
            </a:pPr>
            <a:r>
              <a:rPr sz="1150" b="1">
                <a:solidFill>
                  <a:srgbClr val="002060"/>
                </a:solidFill>
                <a:latin typeface="맑은 고딕"/>
                <a:ea typeface="맑은 고딕"/>
                <a:cs typeface="맑은 고딕"/>
              </a:rPr>
              <a:t>초기 사용자 가설</a:t>
            </a:r>
          </a:p>
          <a:p xmlns:a="http://schemas.openxmlformats.org/drawingml/2006/main">
            <a:pPr marL="146304" indent="-146304" algn="l">
              <a:spcBef>
                <a:spcPts val="0"/>
              </a:spcBef>
              <a:spcAft>
                <a:spcPts val="400"/>
              </a:spcAft>
              <a:buChar char="•"/>
            </a:pPr>
            <a:r>
              <a:rPr sz="1050" b="0">
                <a:solidFill>
                  <a:srgbClr val="262626"/>
                </a:solidFill>
                <a:latin typeface="맑은 고딕"/>
                <a:ea typeface="맑은 고딕"/>
                <a:cs typeface="맑은 고딕"/>
              </a:rPr>
              <a:t>AI로 문서 이해·코딩·비용 현황 확인을 반복하는 학생 개발팀과 주니어 개발자</a:t>
            </a:r>
          </a:p>
          <a:p xmlns:a="http://schemas.openxmlformats.org/drawingml/2006/main">
            <a:pPr marL="146304" indent="-146304" algn="l">
              <a:spcBef>
                <a:spcPts val="0"/>
              </a:spcBef>
              <a:spcAft>
                <a:spcPts val="400"/>
              </a:spcAft>
              <a:buChar char="•"/>
            </a:pPr>
            <a:r>
              <a:rPr sz="1050" b="0">
                <a:solidFill>
                  <a:srgbClr val="262626"/>
                </a:solidFill>
                <a:latin typeface="맑은 고딕"/>
                <a:ea typeface="맑은 고딕"/>
                <a:cs typeface="맑은 고딕"/>
              </a:rPr>
              <a:t>원하는 길이와 표현 방식을 매번 지시하는 부담</a:t>
            </a:r>
          </a:p>
        </p:txBody>
      </p:sp>
      <p:sp>
        <p:nvSpPr>
          <p:cNvPr id="8" name="Rounded Rectangle 7">
            <a:extLst xmlns:a="http://schemas.openxmlformats.org/drawingml/2006/main">
              <a:ext uri="{FF2B5EF4-FFF2-40B4-BE49-F238E27FC236}">
                <a16:creationId xmlns:a16="http://schemas.microsoft.com/office/drawing/2014/main" id="{24A1C3AE-B8FF-4CA6-9058-F7F65F08F794}"/>
              </a:ext>
            </a:extLst>
          </p:cNvPr>
          <p:cNvSpPr>
            <a:spLocks xmlns:a="http://schemas.openxmlformats.org/drawingml/2006/main" noGrp="1"/>
          </p:cNvSpPr>
          <p:nvPr/>
        </p:nvSpPr>
        <p:spPr>
          <a:xfrm xmlns:a="http://schemas.openxmlformats.org/drawingml/2006/main">
            <a:off x="3489960" y="1783080"/>
            <a:ext cx="2923032" cy="17830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600"/>
              </a:spcAft>
            </a:pPr>
            <a:r>
              <a:rPr sz="1150" b="1">
                <a:solidFill>
                  <a:srgbClr val="002060"/>
                </a:solidFill>
                <a:latin typeface="맑은 고딕"/>
                <a:ea typeface="맑은 고딕"/>
                <a:cs typeface="맑은 고딕"/>
              </a:rPr>
              <a:t>프롬프트 설계의 어려움</a:t>
            </a:r>
          </a:p>
          <a:p xmlns:a="http://schemas.openxmlformats.org/drawingml/2006/main">
            <a:pPr marL="146304" indent="-146304" algn="l">
              <a:spcBef>
                <a:spcPts val="0"/>
              </a:spcBef>
              <a:spcAft>
                <a:spcPts val="400"/>
              </a:spcAft>
              <a:buChar char="•"/>
            </a:pPr>
            <a:r>
              <a:rPr sz="1050" b="0">
                <a:solidFill>
                  <a:srgbClr val="262626"/>
                </a:solidFill>
                <a:latin typeface="맑은 고딕"/>
                <a:ea typeface="맑은 고딕"/>
                <a:cs typeface="맑은 고딕"/>
              </a:rPr>
              <a:t>비전문 사용자는 지침을 체계적으로 개선하는 데 어려움을 겪음</a:t>
            </a:r>
          </a:p>
          <a:p xmlns:a="http://schemas.openxmlformats.org/drawingml/2006/main">
            <a:pPr marL="146304" indent="-146304" algn="l">
              <a:spcBef>
                <a:spcPts val="0"/>
              </a:spcBef>
              <a:spcAft>
                <a:spcPts val="400"/>
              </a:spcAft>
              <a:buChar char="•"/>
            </a:pPr>
            <a:r>
              <a:rPr sz="1050" b="0">
                <a:solidFill>
                  <a:srgbClr val="262626"/>
                </a:solidFill>
                <a:latin typeface="맑은 고딕"/>
                <a:ea typeface="맑은 고딕"/>
                <a:cs typeface="맑은 고딕"/>
              </a:rPr>
              <a:t>직접 작성 시간과 수정 횟수로 사용자 부담 측정</a:t>
            </a:r>
          </a:p>
        </p:txBody>
      </p:sp>
      <p:sp>
        <p:nvSpPr>
          <p:cNvPr id="9" name="Rounded Rectangle 8">
            <a:extLst xmlns:a="http://schemas.openxmlformats.org/drawingml/2006/main">
              <a:ext uri="{FF2B5EF4-FFF2-40B4-BE49-F238E27FC236}">
                <a16:creationId xmlns:a16="http://schemas.microsoft.com/office/drawing/2014/main" id="{B45B7AD8-E907-42F1-9560-C74E7C8E78F6}"/>
              </a:ext>
            </a:extLst>
          </p:cNvPr>
          <p:cNvSpPr>
            <a:spLocks xmlns:a="http://schemas.openxmlformats.org/drawingml/2006/main" noGrp="1"/>
          </p:cNvSpPr>
          <p:nvPr/>
        </p:nvSpPr>
        <p:spPr>
          <a:xfrm xmlns:a="http://schemas.openxmlformats.org/drawingml/2006/main">
            <a:off x="6550152" y="1783080"/>
            <a:ext cx="2923032" cy="17830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600"/>
              </a:spcAft>
            </a:pPr>
            <a:r>
              <a:rPr sz="1150" b="1">
                <a:solidFill>
                  <a:srgbClr val="002060"/>
                </a:solidFill>
                <a:latin typeface="맑은 고딕"/>
                <a:ea typeface="맑은 고딕"/>
                <a:cs typeface="맑은 고딕"/>
              </a:rPr>
              <a:t>본 과제의 접근</a:t>
            </a:r>
          </a:p>
          <a:p xmlns:a="http://schemas.openxmlformats.org/drawingml/2006/main">
            <a:pPr marL="146304" indent="-146304" algn="l">
              <a:spcBef>
                <a:spcPts val="0"/>
              </a:spcBef>
              <a:spcAft>
                <a:spcPts val="400"/>
              </a:spcAft>
              <a:buChar char="•"/>
            </a:pPr>
            <a:r>
              <a:rPr sz="1050" b="0">
                <a:solidFill>
                  <a:srgbClr val="262626"/>
                </a:solidFill>
                <a:latin typeface="맑은 고딕"/>
                <a:ea typeface="맑은 고딕"/>
                <a:cs typeface="맑은 고딕"/>
              </a:rPr>
              <a:t>두 결과 중 선호하는 쪽을 선택</a:t>
            </a:r>
          </a:p>
          <a:p xmlns:a="http://schemas.openxmlformats.org/drawingml/2006/main">
            <a:pPr marL="146304" indent="-146304" algn="l">
              <a:spcBef>
                <a:spcPts val="0"/>
              </a:spcBef>
              <a:spcAft>
                <a:spcPts val="400"/>
              </a:spcAft>
              <a:buChar char="•"/>
            </a:pPr>
            <a:r>
              <a:rPr sz="1050" b="0">
                <a:solidFill>
                  <a:srgbClr val="262626"/>
                </a:solidFill>
                <a:latin typeface="맑은 고딕"/>
                <a:ea typeface="맑은 고딕"/>
                <a:cs typeface="맑은 고딕"/>
              </a:rPr>
              <a:t>모델 재학습 없이 개인별 선호를 프롬프트 문구와 평가 함수로 변환</a:t>
            </a:r>
          </a:p>
        </p:txBody>
      </p:sp>
      <p:sp>
        <p:nvSpPr>
          <p:cNvPr id="10" name="Down Arrow 9">
            <a:extLst xmlns:a="http://schemas.openxmlformats.org/drawingml/2006/main">
              <a:ext uri="{FF2B5EF4-FFF2-40B4-BE49-F238E27FC236}">
                <a16:creationId xmlns:a16="http://schemas.microsoft.com/office/drawing/2014/main" id="{04C7A82B-5340-48AD-867C-E40BB5492B26}"/>
              </a:ext>
            </a:extLst>
          </p:cNvPr>
          <p:cNvSpPr>
            <a:spLocks xmlns:a="http://schemas.openxmlformats.org/drawingml/2006/main" noGrp="1"/>
          </p:cNvSpPr>
          <p:nvPr/>
        </p:nvSpPr>
        <p:spPr>
          <a:xfrm xmlns:a="http://schemas.openxmlformats.org/drawingml/2006/main">
            <a:off x="4722876" y="3675887"/>
            <a:ext cx="457200" cy="274320"/>
          </a:xfrm>
          <a:prstGeom xmlns:a="http://schemas.openxmlformats.org/drawingml/2006/main" prst="down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3955B974-DB78-410E-B590-40801F2D57C3}"/>
              </a:ext>
            </a:extLst>
          </p:cNvPr>
          <p:cNvSpPr>
            <a:spLocks xmlns:a="http://schemas.openxmlformats.org/drawingml/2006/main" noGrp="1"/>
          </p:cNvSpPr>
          <p:nvPr/>
        </p:nvSpPr>
        <p:spPr>
          <a:xfrm xmlns:a="http://schemas.openxmlformats.org/drawingml/2006/main">
            <a:off x="429768" y="4069080"/>
            <a:ext cx="9043416" cy="868680"/>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64592" tIns="123444" rIns="164592" bIns="123444" anchor="ctr"/>
          <a:lstStyle xmlns:a="http://schemas.openxmlformats.org/drawingml/2006/main"/>
          <a:p xmlns:a="http://schemas.openxmlformats.org/drawingml/2006/main">
            <a:pPr algn="l">
              <a:spcBef>
                <a:spcPts val="0"/>
              </a:spcBef>
              <a:spcAft>
                <a:spcPts val="300"/>
              </a:spcAft>
            </a:pPr>
            <a:r>
              <a:rPr sz="1050" b="1">
                <a:solidFill>
                  <a:srgbClr val="BFD0EA"/>
                </a:solidFill>
                <a:latin typeface="맑은 고딕"/>
                <a:ea typeface="맑은 고딕"/>
                <a:cs typeface="맑은 고딕"/>
              </a:rPr>
              <a:t>프로젝트 목적</a:t>
            </a:r>
          </a:p>
          <a:p xmlns:a="http://schemas.openxmlformats.org/drawingml/2006/main">
            <a:pPr algn="l">
              <a:spcBef>
                <a:spcPts val="0"/>
              </a:spcBef>
              <a:spcAft>
                <a:spcPts val="0"/>
              </a:spcAft>
            </a:pPr>
            <a:r>
              <a:rPr sz="1250" b="1">
                <a:solidFill>
                  <a:srgbClr val="FFFFFF"/>
                </a:solidFill>
                <a:latin typeface="맑은 고딕"/>
                <a:ea typeface="맑은 고딕"/>
                <a:cs typeface="맑은 고딕"/>
              </a:rPr>
              <a:t>분야별 작업 템플릿을 비교 선택으로 개인화하고, 저장해 반복 사용하는 서비스 구축</a:t>
            </a:r>
          </a:p>
        </p:txBody>
      </p:sp>
      <p:sp>
        <p:nvSpPr>
          <p:cNvPr id="12" name="Rounded Rectangle 11">
            <a:extLst xmlns:a="http://schemas.openxmlformats.org/drawingml/2006/main">
              <a:ext uri="{FF2B5EF4-FFF2-40B4-BE49-F238E27FC236}">
                <a16:creationId xmlns:a16="http://schemas.microsoft.com/office/drawing/2014/main" id="{5DCB4665-F366-444E-B3B6-BD989EBCC342}"/>
              </a:ext>
            </a:extLst>
          </p:cNvPr>
          <p:cNvSpPr>
            <a:spLocks xmlns:a="http://schemas.openxmlformats.org/drawingml/2006/main" noGrp="1"/>
          </p:cNvSpPr>
          <p:nvPr/>
        </p:nvSpPr>
        <p:spPr>
          <a:xfrm xmlns:a="http://schemas.openxmlformats.org/drawingml/2006/main">
            <a:off x="429768" y="5212080"/>
            <a:ext cx="9043416" cy="91440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검증 질문  </a:t>
            </a:r>
            <a:r>
              <a:rPr sz="1050" b="0">
                <a:solidFill>
                  <a:srgbClr val="864027"/>
                </a:solidFill>
                <a:latin typeface="맑은 고딕"/>
                <a:ea typeface="맑은 고딕"/>
                <a:cs typeface="맑은 고딕"/>
              </a:rPr>
              <a:t>직접 지침 작성과 비교해 결과 만족도를 유지하면서 시간·수정 부담을 줄일 수 있는가? 초기 사용자 가설은 파일럿에서 확인합니다.</a:t>
            </a:r>
          </a:p>
        </p:txBody>
      </p:sp>
    </p:spTree>
    <p:extLst>
      <p:ext uri="{BB962C8B-B14F-4D97-AF65-F5344CB8AC3E}">
        <p14:creationId xmlns:p14="http://schemas.microsoft.com/office/powerpoint/2010/main" val="17028440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8928101-A852-4252-92AD-C42FC4E97A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1. 추진배경 및 목표</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EFD6AB9A-5F9E-5F59-51AB-3C8734130965}" type="slidenum">
              <a:rPr b="0">
                <a:solidFill>
                  <a:srgbClr val="000000"/>
                </a:solidFill>
                <a:latin typeface="맑은 고딕"/>
                <a:ea typeface="맑은 고딕"/>
                <a:cs typeface="맑은 고딕"/>
              </a:rPr>
              <a:t>4</a:t>
            </a:fld>
            <a:endParaRPr/>
          </a:p>
        </p:txBody>
      </p:sp>
      <p:sp>
        <p:nvSpPr>
          <p:cNvPr id="5" name="TextBox 4">
            <a:extLst xmlns:a="http://schemas.openxmlformats.org/drawingml/2006/main">
              <a:ext uri="{FF2B5EF4-FFF2-40B4-BE49-F238E27FC236}">
                <a16:creationId xmlns:a16="http://schemas.microsoft.com/office/drawing/2014/main" id="{79AC9F78-473B-4858-90D6-C397A9456F84}"/>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1-2. 문제 정의 및 추진 전략</a:t>
            </a:r>
          </a:p>
        </p:txBody>
      </p:sp>
      <p:sp>
        <p:nvSpPr>
          <p:cNvPr id="6" name="TextBox 5">
            <a:extLst xmlns:a="http://schemas.openxmlformats.org/drawingml/2006/main">
              <a:ext uri="{FF2B5EF4-FFF2-40B4-BE49-F238E27FC236}">
                <a16:creationId xmlns:a16="http://schemas.microsoft.com/office/drawing/2014/main" id="{60BDC84D-1533-4D12-9931-6783B171D779}"/>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선택 이력에서 선호를 추정해 프롬프트를 조립하고, GEPA는 선택 단계로 연결합니다</a:t>
            </a:r>
          </a:p>
        </p:txBody>
      </p:sp>
      <p:sp>
        <p:nvSpPr>
          <p:cNvPr id="7" name="Rounded Rectangle 6">
            <a:extLst xmlns:a="http://schemas.openxmlformats.org/drawingml/2006/main">
              <a:ext uri="{FF2B5EF4-FFF2-40B4-BE49-F238E27FC236}">
                <a16:creationId xmlns:a16="http://schemas.microsoft.com/office/drawing/2014/main" id="{5BCE2C97-B927-45F0-8DD4-5548A8213C47}"/>
              </a:ext>
            </a:extLst>
          </p:cNvPr>
          <p:cNvSpPr>
            <a:spLocks xmlns:a="http://schemas.openxmlformats.org/drawingml/2006/main" noGrp="1"/>
          </p:cNvSpPr>
          <p:nvPr/>
        </p:nvSpPr>
        <p:spPr>
          <a:xfrm xmlns:a="http://schemas.openxmlformats.org/drawingml/2006/main">
            <a:off x="429768" y="1828800"/>
            <a:ext cx="1572768" cy="12344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68580" bIns="68580" anchor="t"/>
          <a:lstStyle xmlns:a="http://schemas.openxmlformats.org/drawingml/2006/main"/>
          <a:p xmlns:a="http://schemas.openxmlformats.org/drawingml/2006/main">
            <a:pPr algn="l">
              <a:spcBef>
                <a:spcPts val="0"/>
              </a:spcBef>
              <a:spcAft>
                <a:spcPts val="200"/>
              </a:spcAft>
            </a:pPr>
            <a:r>
              <a:rPr sz="900" b="1">
                <a:solidFill>
                  <a:srgbClr val="6E6E6E"/>
                </a:solidFill>
                <a:latin typeface="맑은 고딕"/>
                <a:ea typeface="맑은 고딕"/>
                <a:cs typeface="맑은 고딕"/>
              </a:rPr>
              <a:t>STEP 1</a:t>
            </a:r>
          </a:p>
          <a:p xmlns:a="http://schemas.openxmlformats.org/drawingml/2006/main">
            <a:pPr algn="l">
              <a:spcBef>
                <a:spcPts val="0"/>
              </a:spcBef>
              <a:spcAft>
                <a:spcPts val="400"/>
              </a:spcAft>
            </a:pPr>
            <a:r>
              <a:rPr sz="1200" b="1">
                <a:solidFill>
                  <a:srgbClr val="002060"/>
                </a:solidFill>
                <a:latin typeface="맑은 고딕"/>
                <a:ea typeface="맑은 고딕"/>
                <a:cs typeface="맑은 고딕"/>
              </a:rPr>
              <a:t>비교 선택</a:t>
            </a:r>
          </a:p>
          <a:p xmlns:a="http://schemas.openxmlformats.org/drawingml/2006/main">
            <a:pPr algn="l">
              <a:spcBef>
                <a:spcPts val="0"/>
              </a:spcBef>
              <a:spcAft>
                <a:spcPts val="0"/>
              </a:spcAft>
            </a:pPr>
            <a:r>
              <a:rPr sz="950" b="0">
                <a:solidFill>
                  <a:srgbClr val="262626"/>
                </a:solidFill>
                <a:latin typeface="맑은 고딕"/>
                <a:ea typeface="맑은 고딕"/>
                <a:cs typeface="맑은 고딕"/>
              </a:rPr>
              <a:t>지시 축 하나를 바꾼 A/B 비교, 기본 예산 8회</a:t>
            </a:r>
          </a:p>
        </p:txBody>
      </p:sp>
      <p:sp>
        <p:nvSpPr>
          <p:cNvPr id="8" name="Right Arrow 7">
            <a:extLst xmlns:a="http://schemas.openxmlformats.org/drawingml/2006/main">
              <a:ext uri="{FF2B5EF4-FFF2-40B4-BE49-F238E27FC236}">
                <a16:creationId xmlns:a16="http://schemas.microsoft.com/office/drawing/2014/main" id="{DBBD22A8-3E47-4A6C-AC64-FC5BD2F24682}"/>
              </a:ext>
            </a:extLst>
          </p:cNvPr>
          <p:cNvSpPr>
            <a:spLocks xmlns:a="http://schemas.openxmlformats.org/drawingml/2006/main" noGrp="1"/>
          </p:cNvSpPr>
          <p:nvPr/>
        </p:nvSpPr>
        <p:spPr>
          <a:xfrm xmlns:a="http://schemas.openxmlformats.org/drawingml/2006/main">
            <a:off x="2039112" y="2331720"/>
            <a:ext cx="201167" cy="228600"/>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ounded Rectangle 8">
            <a:extLst xmlns:a="http://schemas.openxmlformats.org/drawingml/2006/main">
              <a:ext uri="{FF2B5EF4-FFF2-40B4-BE49-F238E27FC236}">
                <a16:creationId xmlns:a16="http://schemas.microsoft.com/office/drawing/2014/main" id="{DC4D5CC4-9CAB-44E7-AA6F-7E3F5DD8A73F}"/>
              </a:ext>
            </a:extLst>
          </p:cNvPr>
          <p:cNvSpPr>
            <a:spLocks xmlns:a="http://schemas.openxmlformats.org/drawingml/2006/main" noGrp="1"/>
          </p:cNvSpPr>
          <p:nvPr/>
        </p:nvSpPr>
        <p:spPr>
          <a:xfrm xmlns:a="http://schemas.openxmlformats.org/drawingml/2006/main">
            <a:off x="2276856" y="1828800"/>
            <a:ext cx="1572768" cy="12344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68580" bIns="68580" anchor="t"/>
          <a:lstStyle xmlns:a="http://schemas.openxmlformats.org/drawingml/2006/main"/>
          <a:p xmlns:a="http://schemas.openxmlformats.org/drawingml/2006/main">
            <a:pPr algn="l">
              <a:spcAft>
                <a:spcPts val="200"/>
              </a:spcAft>
              <a:buNone/>
            </a:pPr>
            <a:r>
              <a:rPr sz="900" b="1">
                <a:solidFill>
                  <a:srgbClr val="6E6E6E"/>
                </a:solidFill>
              </a:rPr>
              <a:t>STEP 2</a:t>
            </a:r>
          </a:p>
          <a:p xmlns:a="http://schemas.openxmlformats.org/drawingml/2006/main">
            <a:pPr algn="l">
              <a:spcAft>
                <a:spcPts val="400"/>
              </a:spcAft>
              <a:buNone/>
            </a:pPr>
            <a:r>
              <a:rPr sz="1200" b="1">
                <a:solidFill>
                  <a:srgbClr val="002060"/>
                </a:solidFill>
              </a:rPr>
              <a:t>선호 추정</a:t>
            </a:r>
          </a:p>
          <a:p xmlns:a="http://schemas.openxmlformats.org/drawingml/2006/main">
            <a:pPr algn="l">
              <a:buNone/>
            </a:pPr>
            <a:r>
              <a:rPr sz="950" b="0">
                <a:solidFill>
                  <a:srgbClr val="262626"/>
                </a:solidFill>
              </a:rPr>
              <a:t>Bradley-Terry로 축별 선호값 추정</a:t>
            </a:r>
          </a:p>
        </p:txBody>
      </p:sp>
      <p:sp>
        <p:nvSpPr>
          <p:cNvPr id="10" name="Right Arrow 9">
            <a:extLst xmlns:a="http://schemas.openxmlformats.org/drawingml/2006/main">
              <a:ext uri="{FF2B5EF4-FFF2-40B4-BE49-F238E27FC236}">
                <a16:creationId xmlns:a16="http://schemas.microsoft.com/office/drawing/2014/main" id="{B79EA307-1450-44B5-8E33-8B87864911F4}"/>
              </a:ext>
            </a:extLst>
          </p:cNvPr>
          <p:cNvSpPr>
            <a:spLocks xmlns:a="http://schemas.openxmlformats.org/drawingml/2006/main" noGrp="1"/>
          </p:cNvSpPr>
          <p:nvPr/>
        </p:nvSpPr>
        <p:spPr>
          <a:xfrm xmlns:a="http://schemas.openxmlformats.org/drawingml/2006/main">
            <a:off x="3886200" y="2331720"/>
            <a:ext cx="201167" cy="228600"/>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86CD1E26-4C14-44F9-B9CA-75FBDC36172D}"/>
              </a:ext>
            </a:extLst>
          </p:cNvPr>
          <p:cNvSpPr>
            <a:spLocks xmlns:a="http://schemas.openxmlformats.org/drawingml/2006/main" noGrp="1"/>
          </p:cNvSpPr>
          <p:nvPr/>
        </p:nvSpPr>
        <p:spPr>
          <a:xfrm xmlns:a="http://schemas.openxmlformats.org/drawingml/2006/main">
            <a:off x="4123944" y="1828800"/>
            <a:ext cx="1572768" cy="1234440"/>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68580" bIns="68580" anchor="t"/>
          <a:lstStyle xmlns:a="http://schemas.openxmlformats.org/drawingml/2006/main"/>
          <a:p xmlns:a="http://schemas.openxmlformats.org/drawingml/2006/main">
            <a:pPr algn="l">
              <a:spcAft>
                <a:spcPts val="200"/>
              </a:spcAft>
              <a:buNone/>
            </a:pPr>
            <a:r>
              <a:rPr sz="900" b="1">
                <a:solidFill>
                  <a:srgbClr val="BFD0EA"/>
                </a:solidFill>
              </a:rPr>
              <a:t>STEP 3</a:t>
            </a:r>
          </a:p>
          <a:p xmlns:a="http://schemas.openxmlformats.org/drawingml/2006/main">
            <a:pPr algn="l">
              <a:spcAft>
                <a:spcPts val="400"/>
              </a:spcAft>
              <a:buNone/>
            </a:pPr>
            <a:r>
              <a:rPr sz="1200" b="1">
                <a:solidFill>
                  <a:srgbClr val="FFFFFF"/>
                </a:solidFill>
              </a:rPr>
              <a:t>평가 함수 조립</a:t>
            </a:r>
          </a:p>
          <a:p xmlns:a="http://schemas.openxmlformats.org/drawingml/2006/main">
            <a:pPr algn="l">
              <a:buNone/>
            </a:pPr>
            <a:r>
              <a:rPr sz="950" b="0">
                <a:solidFill>
                  <a:srgbClr val="FFFFFF"/>
                </a:solidFill>
              </a:rPr>
              <a:t>점수 + 축별 위반 내역(자연어 피드백)</a:t>
            </a:r>
          </a:p>
        </p:txBody>
      </p:sp>
      <p:sp>
        <p:nvSpPr>
          <p:cNvPr id="12" name="Right Arrow 11">
            <a:extLst xmlns:a="http://schemas.openxmlformats.org/drawingml/2006/main">
              <a:ext uri="{FF2B5EF4-FFF2-40B4-BE49-F238E27FC236}">
                <a16:creationId xmlns:a16="http://schemas.microsoft.com/office/drawing/2014/main" id="{FBA3A3CC-B94E-4130-BC7A-0F3CF04E60D6}"/>
              </a:ext>
            </a:extLst>
          </p:cNvPr>
          <p:cNvSpPr>
            <a:spLocks xmlns:a="http://schemas.openxmlformats.org/drawingml/2006/main" noGrp="1"/>
          </p:cNvSpPr>
          <p:nvPr/>
        </p:nvSpPr>
        <p:spPr>
          <a:xfrm xmlns:a="http://schemas.openxmlformats.org/drawingml/2006/main">
            <a:off x="5733288" y="2331720"/>
            <a:ext cx="201167" cy="228600"/>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ounded Rectangle 12">
            <a:extLst xmlns:a="http://schemas.openxmlformats.org/drawingml/2006/main">
              <a:ext uri="{FF2B5EF4-FFF2-40B4-BE49-F238E27FC236}">
                <a16:creationId xmlns:a16="http://schemas.microsoft.com/office/drawing/2014/main" id="{CD1107DD-E9C6-4297-B552-31A9A7ED62A1}"/>
              </a:ext>
            </a:extLst>
          </p:cNvPr>
          <p:cNvSpPr>
            <a:spLocks xmlns:a="http://schemas.openxmlformats.org/drawingml/2006/main" noGrp="1"/>
          </p:cNvSpPr>
          <p:nvPr/>
        </p:nvSpPr>
        <p:spPr>
          <a:xfrm xmlns:a="http://schemas.openxmlformats.org/drawingml/2006/main">
            <a:off x="5971032" y="1828800"/>
            <a:ext cx="1572768" cy="12344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68580" bIns="68580" anchor="t"/>
          <a:lstStyle xmlns:a="http://schemas.openxmlformats.org/drawingml/2006/main"/>
          <a:p xmlns:a="http://schemas.openxmlformats.org/drawingml/2006/main">
            <a:pPr algn="l">
              <a:spcAft>
                <a:spcPts val="200"/>
              </a:spcAft>
              <a:buNone/>
            </a:pPr>
            <a:r>
              <a:rPr sz="900" b="1">
                <a:solidFill>
                  <a:srgbClr val="6E6E6E"/>
                </a:solidFill>
              </a:rPr>
              <a:t>STEP 4</a:t>
            </a:r>
          </a:p>
          <a:p xmlns:a="http://schemas.openxmlformats.org/drawingml/2006/main">
            <a:pPr algn="l">
              <a:spcAft>
                <a:spcPts val="400"/>
              </a:spcAft>
              <a:buNone/>
            </a:pPr>
            <a:r>
              <a:rPr sz="1200" b="1">
                <a:solidFill>
                  <a:srgbClr val="002060"/>
                </a:solidFill>
              </a:rPr>
              <a:t>프롬프트 조립</a:t>
            </a:r>
          </a:p>
          <a:p xmlns:a="http://schemas.openxmlformats.org/drawingml/2006/main">
            <a:pPr algn="l">
              <a:buNone/>
            </a:pPr>
            <a:r>
              <a:rPr sz="950" b="0">
                <a:solidFill>
                  <a:srgbClr val="262626"/>
                </a:solidFill>
              </a:rPr>
              <a:t>역할 · 선호 · 지킬 것 · 출력 형식</a:t>
            </a:r>
          </a:p>
        </p:txBody>
      </p:sp>
      <p:sp>
        <p:nvSpPr>
          <p:cNvPr id="14" name="Right Arrow 13">
            <a:extLst xmlns:a="http://schemas.openxmlformats.org/drawingml/2006/main">
              <a:ext uri="{FF2B5EF4-FFF2-40B4-BE49-F238E27FC236}">
                <a16:creationId xmlns:a16="http://schemas.microsoft.com/office/drawing/2014/main" id="{5070A055-90D6-4149-81F8-A83A36E412CA}"/>
              </a:ext>
            </a:extLst>
          </p:cNvPr>
          <p:cNvSpPr>
            <a:spLocks xmlns:a="http://schemas.openxmlformats.org/drawingml/2006/main" noGrp="1"/>
          </p:cNvSpPr>
          <p:nvPr/>
        </p:nvSpPr>
        <p:spPr>
          <a:xfrm xmlns:a="http://schemas.openxmlformats.org/drawingml/2006/main">
            <a:off x="7580375" y="2331720"/>
            <a:ext cx="201167" cy="228600"/>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ounded Rectangle 14">
            <a:extLst xmlns:a="http://schemas.openxmlformats.org/drawingml/2006/main">
              <a:ext uri="{FF2B5EF4-FFF2-40B4-BE49-F238E27FC236}">
                <a16:creationId xmlns:a16="http://schemas.microsoft.com/office/drawing/2014/main" id="{BA6480A1-AF86-4EB5-9AD5-2BB72CE3ADA9}"/>
              </a:ext>
            </a:extLst>
          </p:cNvPr>
          <p:cNvSpPr>
            <a:spLocks xmlns:a="http://schemas.openxmlformats.org/drawingml/2006/main" noGrp="1"/>
          </p:cNvSpPr>
          <p:nvPr/>
        </p:nvSpPr>
        <p:spPr>
          <a:xfrm xmlns:a="http://schemas.openxmlformats.org/drawingml/2006/main">
            <a:off x="7818120" y="1828800"/>
            <a:ext cx="1572768" cy="12344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w="9525">
            <a:solidFill>
              <a:srgbClr val="6E6E6E"/>
            </a:solidFill>
            <a:prstDash val="dash"/>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tIns="68580" bIns="68580" anchor="t"/>
          <a:lstStyle xmlns:a="http://schemas.openxmlformats.org/drawingml/2006/main"/>
          <a:p xmlns:a="http://schemas.openxmlformats.org/drawingml/2006/main">
            <a:pPr algn="l">
              <a:spcAft>
                <a:spcPts val="200"/>
              </a:spcAft>
              <a:buNone/>
            </a:pPr>
            <a:r>
              <a:rPr sz="900" b="1">
                <a:solidFill>
                  <a:srgbClr val="6E6E6E"/>
                </a:solidFill>
              </a:rPr>
              <a:t>STEP 5</a:t>
            </a:r>
          </a:p>
          <a:p xmlns:a="http://schemas.openxmlformats.org/drawingml/2006/main">
            <a:pPr algn="l">
              <a:spcAft>
                <a:spcPts val="400"/>
              </a:spcAft>
              <a:buNone/>
            </a:pPr>
            <a:r>
              <a:rPr sz="1200" b="1">
                <a:solidFill>
                  <a:srgbClr val="002060"/>
                </a:solidFill>
              </a:rPr>
              <a:t>(선택) GEPA</a:t>
            </a:r>
          </a:p>
          <a:p xmlns:a="http://schemas.openxmlformats.org/drawingml/2006/main">
            <a:pPr algn="l">
              <a:buNone/>
            </a:pPr>
            <a:r>
              <a:rPr sz="950" b="0">
                <a:solidFill>
                  <a:srgbClr val="262626"/>
                </a:solidFill>
              </a:rPr>
              <a:t>평가 점수가 오를 때만 교체</a:t>
            </a:r>
          </a:p>
        </p:txBody>
      </p:sp>
      <p:sp>
        <p:nvSpPr>
          <p:cNvPr id="16" name="TextBox 15">
            <a:extLst xmlns:a="http://schemas.openxmlformats.org/drawingml/2006/main">
              <a:ext uri="{FF2B5EF4-FFF2-40B4-BE49-F238E27FC236}">
                <a16:creationId xmlns:a16="http://schemas.microsoft.com/office/drawing/2014/main" id="{59CD47EF-F4C4-4B86-B80A-C52A8518A705}"/>
              </a:ext>
            </a:extLst>
          </p:cNvPr>
          <p:cNvSpPr>
            <a:spLocks xmlns:a="http://schemas.openxmlformats.org/drawingml/2006/main" noGrp="1"/>
          </p:cNvSpPr>
          <p:nvPr/>
        </p:nvSpPr>
        <p:spPr>
          <a:xfrm xmlns:a="http://schemas.openxmlformats.org/drawingml/2006/main">
            <a:off x="4123944" y="3108960"/>
            <a:ext cx="1572768" cy="27432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algn="ctr">
              <a:buNone/>
            </a:pPr>
            <a:r>
              <a:rPr sz="1000" b="1">
                <a:solidFill>
                  <a:srgbClr val="002060"/>
                </a:solidFill>
              </a:rPr>
              <a:t>▲ 핵심 기여</a:t>
            </a:r>
          </a:p>
        </p:txBody>
      </p:sp>
      <p:sp>
        <p:nvSpPr>
          <p:cNvPr id="17" name="Rounded Rectangle 16">
            <a:extLst xmlns:a="http://schemas.openxmlformats.org/drawingml/2006/main">
              <a:ext uri="{FF2B5EF4-FFF2-40B4-BE49-F238E27FC236}">
                <a16:creationId xmlns:a16="http://schemas.microsoft.com/office/drawing/2014/main" id="{BD074C66-CEC9-44C0-9853-4DD854E7E32A}"/>
              </a:ext>
            </a:extLst>
          </p:cNvPr>
          <p:cNvSpPr>
            <a:spLocks xmlns:a="http://schemas.openxmlformats.org/drawingml/2006/main" noGrp="1"/>
          </p:cNvSpPr>
          <p:nvPr/>
        </p:nvSpPr>
        <p:spPr>
          <a:xfrm xmlns:a="http://schemas.openxmlformats.org/drawingml/2006/main">
            <a:off x="429768" y="3520440"/>
            <a:ext cx="4430268" cy="1691640"/>
          </a:xfrm>
          <a:prstGeom xmlns:a="http://schemas.openxmlformats.org/drawingml/2006/main" prst="roundRect">
            <a:avLst>
              <a:gd name="adj" fmla="val 6000"/>
            </a:avLst>
          </a:prstGeom>
          <a:solidFill xmlns:a="http://schemas.openxmlformats.org/drawingml/2006/main">
            <a:srgbClr val="E4F0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600"/>
              </a:spcAft>
            </a:pPr>
            <a:r>
              <a:rPr sz="1200" b="1">
                <a:solidFill>
                  <a:srgbClr val="175C2C"/>
                </a:solidFill>
                <a:latin typeface="맑은 고딕"/>
                <a:ea typeface="맑은 고딕"/>
                <a:cs typeface="맑은 고딕"/>
              </a:rPr>
              <a:t>현재 핵심 기능</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상용 API로 후보 결과 생성</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축별 선호를 프롬프트 문구로 조립</a:t>
            </a:r>
          </a:p>
          <a:p xmlns:a="http://schemas.openxmlformats.org/drawingml/2006/main">
            <a:pPr marL="146304" indent="-146304" algn="l">
              <a:spcBef>
                <a:spcPts val="0"/>
              </a:spcBef>
              <a:spcAft>
                <a:spcPts val="0"/>
              </a:spcAft>
              <a:buChar char="•"/>
            </a:pPr>
            <a:r>
              <a:rPr sz="1050" b="0">
                <a:solidFill>
                  <a:srgbClr val="262626"/>
                </a:solidFill>
                <a:latin typeface="맑은 고딕"/>
                <a:ea typeface="맑은 고딕"/>
                <a:cs typeface="맑은 고딕"/>
              </a:rPr>
              <a:t>선호를 점수와 자연어 피드백으로 변환</a:t>
            </a:r>
          </a:p>
        </p:txBody>
      </p:sp>
      <p:sp>
        <p:nvSpPr>
          <p:cNvPr id="18" name="Rounded Rectangle 17">
            <a:extLst xmlns:a="http://schemas.openxmlformats.org/drawingml/2006/main">
              <a:ext uri="{FF2B5EF4-FFF2-40B4-BE49-F238E27FC236}">
                <a16:creationId xmlns:a16="http://schemas.microsoft.com/office/drawing/2014/main" id="{5F36E758-79CD-4900-96F6-1D61BFD878F5}"/>
              </a:ext>
            </a:extLst>
          </p:cNvPr>
          <p:cNvSpPr>
            <a:spLocks xmlns:a="http://schemas.openxmlformats.org/drawingml/2006/main" noGrp="1"/>
          </p:cNvSpPr>
          <p:nvPr/>
        </p:nvSpPr>
        <p:spPr>
          <a:xfrm xmlns:a="http://schemas.openxmlformats.org/drawingml/2006/main">
            <a:off x="5042916" y="3520440"/>
            <a:ext cx="4430268" cy="16916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600"/>
              </a:spcAft>
            </a:pPr>
            <a:r>
              <a:rPr sz="1200" b="1">
                <a:solidFill>
                  <a:srgbClr val="464646"/>
                </a:solidFill>
                <a:latin typeface="맑은 고딕"/>
                <a:ea typeface="맑은 고딕"/>
                <a:cs typeface="맑은 고딕"/>
              </a:rPr>
              <a:t>수행 범위의 경계</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개인화할 표현 축에 집중</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도메인별 내용 정확성은 별도 검증</a:t>
            </a:r>
          </a:p>
          <a:p xmlns:a="http://schemas.openxmlformats.org/drawingml/2006/main">
            <a:pPr marL="146304" indent="-146304" algn="l">
              <a:spcBef>
                <a:spcPts val="0"/>
              </a:spcBef>
              <a:spcAft>
                <a:spcPts val="0"/>
              </a:spcAft>
              <a:buChar char="•"/>
            </a:pPr>
            <a:r>
              <a:rPr sz="1050" b="0">
                <a:solidFill>
                  <a:srgbClr val="262626"/>
                </a:solidFill>
                <a:latin typeface="맑은 고딕"/>
                <a:ea typeface="맑은 고딕"/>
                <a:cs typeface="맑은 고딕"/>
              </a:rPr>
              <a:t>모델 학습·대규모 상용 운영은 범위 제외</a:t>
            </a:r>
          </a:p>
        </p:txBody>
      </p:sp>
      <p:sp>
        <p:nvSpPr>
          <p:cNvPr id="19" name="TextBox 18">
            <a:extLst xmlns:a="http://schemas.openxmlformats.org/drawingml/2006/main">
              <a:ext uri="{FF2B5EF4-FFF2-40B4-BE49-F238E27FC236}">
                <a16:creationId xmlns:a16="http://schemas.microsoft.com/office/drawing/2014/main" id="{8700A186-1B3F-4DBA-921D-2409174F4E8D}"/>
              </a:ext>
            </a:extLst>
          </p:cNvPr>
          <p:cNvSpPr>
            <a:spLocks xmlns:a="http://schemas.openxmlformats.org/drawingml/2006/main" noGrp="1"/>
          </p:cNvSpPr>
          <p:nvPr/>
        </p:nvSpPr>
        <p:spPr>
          <a:xfrm xmlns:a="http://schemas.openxmlformats.org/drawingml/2006/main">
            <a:off x="429768" y="539496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950" b="0">
                <a:solidFill>
                  <a:srgbClr val="666666"/>
                </a:solidFill>
                <a:latin typeface="맑은 고딕"/>
                <a:ea typeface="맑은 고딕"/>
                <a:cs typeface="맑은 고딕"/>
              </a:rPr>
              <a:t>비교 실험의 D는 GEPA 없는 조립본입니다. 후보 지시를 한 축만 바꿔도 출력의 여러 성질이 함께 달라질 수 있습니다.</a:t>
            </a:r>
          </a:p>
        </p:txBody>
      </p:sp>
    </p:spTree>
    <p:extLst>
      <p:ext uri="{BB962C8B-B14F-4D97-AF65-F5344CB8AC3E}">
        <p14:creationId xmlns:p14="http://schemas.microsoft.com/office/powerpoint/2010/main" val="85046275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CBD6D41F-D742-4861-8C92-E63B7B48BA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1. 추진배경 및 목표</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EE5B3003-2C54-13C6-9832-7637201064DE}" type="slidenum">
              <a:rPr b="0">
                <a:solidFill>
                  <a:srgbClr val="000000"/>
                </a:solidFill>
                <a:latin typeface="맑은 고딕"/>
                <a:ea typeface="맑은 고딕"/>
                <a:cs typeface="맑은 고딕"/>
              </a:rPr>
              <a:t>5</a:t>
            </a:fld>
            <a:endParaRPr/>
          </a:p>
        </p:txBody>
      </p:sp>
      <p:sp>
        <p:nvSpPr>
          <p:cNvPr id="5" name="TextBox 4">
            <a:extLst xmlns:a="http://schemas.openxmlformats.org/drawingml/2006/main">
              <a:ext uri="{FF2B5EF4-FFF2-40B4-BE49-F238E27FC236}">
                <a16:creationId xmlns:a16="http://schemas.microsoft.com/office/drawing/2014/main" id="{F3A84F6F-E3A5-4C0F-AEBC-49E214DB307B}"/>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1-3. 프로젝트 목표 및 성과 지표</a:t>
            </a:r>
          </a:p>
        </p:txBody>
      </p:sp>
      <p:sp>
        <p:nvSpPr>
          <p:cNvPr id="6" name="TextBox 5">
            <a:extLst xmlns:a="http://schemas.openxmlformats.org/drawingml/2006/main">
              <a:ext uri="{FF2B5EF4-FFF2-40B4-BE49-F238E27FC236}">
                <a16:creationId xmlns:a16="http://schemas.microsoft.com/office/drawing/2014/main" id="{75C0E070-7263-4441-8660-CF477AB4072E}"/>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선호 반영, 사용자 부담, 도메인 확장성을 각각 측정하고 구현 상태와 검증 결과를 구분합니다</a:t>
            </a:r>
          </a:p>
        </p:txBody>
      </p:sp>
      <p:graphicFrame>
        <p:nvGraphicFramePr>
          <p:cNvPr id="14" name="Table 6"/>
          <p:cNvGraphicFramePr/>
          <p:nvPr/>
        </p:nvGraphicFramePr>
        <p:xfrm>
          <a:off xmlns:a="http://schemas.openxmlformats.org/drawingml/2006/main" x="429768" y="1737360"/>
          <a:ext xmlns:a="http://schemas.openxmlformats.org/drawingml/2006/main" cx="9043414" cy="3785616"/>
        </p:xfrm>
        <a:graphic xmlns:a="http://schemas.openxmlformats.org/drawingml/2006/main">
          <a:graphicData uri="http://schemas.openxmlformats.org/drawingml/2006/table">
            <a:tbl>
              <a:tblPr firstRow="1">
                <a:tableStyleId>{5C22544A-7EE6-4342-B048-85BDC9FD1C3A}</a:tableStyleId>
              </a:tblPr>
              <a:tblGrid>
                <a:gridCol w="1196219"/>
                <a:gridCol w="2296740"/>
                <a:gridCol w="1818252"/>
                <a:gridCol w="2775228"/>
                <a:gridCol w="956975"/>
              </a:tblGrid>
              <a:tr h="420624">
                <a:tc>
                  <a:txBody>
                    <a:bodyPr wrap="square">
                      <a:noAutofit/>
                    </a:bodyPr>
                    <a:lstStyle/>
                    <a:p>
                      <a:r>
                        <a:rPr sz="1000" b="1">
                          <a:solidFill>
                            <a:srgbClr val="FFFFFF"/>
                          </a:solidFill>
                          <a:latin typeface="맑은 고딕"/>
                          <a:ea typeface="맑은 고딕"/>
                          <a:cs typeface="맑은 고딕"/>
                        </a:rPr>
                        <a:t>구분</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지표</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완료 기준(안)</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현재 근거</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상태</a:t>
                      </a:r>
                    </a:p>
                  </a:txBody>
                  <a:tcPr marL="64008" marR="64008" marT="32004" marB="32004" anchor="ctr">
                    <a:solidFill>
                      <a:srgbClr val="002060"/>
                    </a:solidFill>
                  </a:tcPr>
                </a:tc>
              </a:tr>
              <a:tr h="420624">
                <a:tc>
                  <a:txBody>
                    <a:bodyPr wrap="square">
                      <a:noAutofit/>
                    </a:bodyPr>
                    <a:lstStyle/>
                    <a:p>
                      <a:r>
                        <a:rPr sz="1000" b="1">
                          <a:solidFill>
                            <a:srgbClr val="262626"/>
                          </a:solidFill>
                          <a:latin typeface="맑은 고딕"/>
                          <a:ea typeface="맑은 고딕"/>
                          <a:cs typeface="맑은 고딕"/>
                        </a:rPr>
                        <a:t>선호 복원</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숨긴 선호 완전복원율</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새 문서·선택기로 재측정</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과거 모의 실험 80%</a:t>
                      </a:r>
                    </a:p>
                  </a:txBody>
                  <a:tcPr marL="64008" marR="64008" marT="32004" marB="32004" anchor="ctr">
                    <a:solidFill>
                      <a:srgbClr val="FFFFFF"/>
                    </a:solidFill>
                  </a:tcPr>
                </a:tc>
                <a:tc>
                  <a:txBody>
                    <a:bodyPr wrap="square">
                      <a:noAutofit/>
                    </a:bodyPr>
                    <a:lstStyle/>
                    <a:p>
                      <a:r>
                        <a:rPr sz="1000" b="1">
                          <a:solidFill>
                            <a:srgbClr val="002060"/>
                          </a:solidFill>
                          <a:latin typeface="맑은 고딕"/>
                          <a:ea typeface="맑은 고딕"/>
                          <a:cs typeface="맑은 고딕"/>
                        </a:rPr>
                        <a:t>관찰</a:t>
                      </a:r>
                    </a:p>
                  </a:txBody>
                  <a:tcPr marL="64008" marR="64008" marT="32004" marB="32004" anchor="ctr">
                    <a:solidFill>
                      <a:srgbClr val="FFFFFF"/>
                    </a:solidFill>
                  </a:tcPr>
                </a:tc>
              </a:tr>
              <a:tr h="420624">
                <a:tc>
                  <a:txBody>
                    <a:bodyPr wrap="square">
                      <a:noAutofit/>
                    </a:bodyPr>
                    <a:lstStyle/>
                    <a:p>
                      <a:r>
                        <a:rPr sz="1000" b="1">
                          <a:solidFill>
                            <a:srgbClr val="262626"/>
                          </a:solidFill>
                          <a:latin typeface="맑은 고딕"/>
                          <a:ea typeface="맑은 고딕"/>
                          <a:cs typeface="맑은 고딕"/>
                        </a:rPr>
                        <a:t>비교 예산</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질문 수와 전체 소요 시간</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8회 예산의 부담 확인</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기본 비교 예산 8회</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3F4F7"/>
                    </a:solidFill>
                  </a:tcPr>
                </a:tc>
              </a:tr>
              <a:tr h="420624">
                <a:tc>
                  <a:txBody>
                    <a:bodyPr wrap="square">
                      <a:noAutofit/>
                    </a:bodyPr>
                    <a:lstStyle/>
                    <a:p>
                      <a:r>
                        <a:rPr sz="1000" b="1">
                          <a:solidFill>
                            <a:srgbClr val="262626"/>
                          </a:solidFill>
                          <a:latin typeface="맑은 고딕"/>
                          <a:ea typeface="맑은 고딕"/>
                          <a:cs typeface="맑은 고딕"/>
                        </a:rPr>
                        <a:t>개인화 효과</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강한 비교군 대비 ROUGE-L</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분리 문서 결과·불확실성 보고</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B+ 0.200, D 0.209 (n=5)</a:t>
                      </a:r>
                    </a:p>
                  </a:txBody>
                  <a:tcPr marL="64008" marR="64008" marT="32004" marB="32004" anchor="ctr">
                    <a:solidFill>
                      <a:srgbClr val="FBE9DF"/>
                    </a:solidFill>
                  </a:tcPr>
                </a:tc>
                <a:tc>
                  <a:txBody>
                    <a:bodyPr wrap="square">
                      <a:noAutofit/>
                    </a:bodyPr>
                    <a:lstStyle/>
                    <a:p>
                      <a:r>
                        <a:rPr sz="1000" b="1">
                          <a:solidFill>
                            <a:srgbClr val="002060"/>
                          </a:solidFill>
                          <a:latin typeface="맑은 고딕"/>
                          <a:ea typeface="맑은 고딕"/>
                          <a:cs typeface="맑은 고딕"/>
                        </a:rPr>
                        <a:t>탐색</a:t>
                      </a:r>
                    </a:p>
                  </a:txBody>
                  <a:tcPr marL="64008" marR="64008" marT="32004" marB="32004" anchor="ctr">
                    <a:solidFill>
                      <a:srgbClr val="FBE9DF"/>
                    </a:solidFill>
                  </a:tcPr>
                </a:tc>
              </a:tr>
              <a:tr h="420624">
                <a:tc>
                  <a:txBody>
                    <a:bodyPr wrap="square">
                      <a:noAutofit/>
                    </a:bodyPr>
                    <a:lstStyle/>
                    <a:p>
                      <a:r>
                        <a:rPr sz="1000" b="1">
                          <a:solidFill>
                            <a:srgbClr val="262626"/>
                          </a:solidFill>
                          <a:latin typeface="맑은 고딕"/>
                          <a:ea typeface="맑은 고딕"/>
                          <a:cs typeface="맑은 고딕"/>
                        </a:rPr>
                        <a:t>사용자 부담</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작성 시간·글자 수·수정 횟수</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직접 작성과 참여자별 비교</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실사용자 측정 예정</a:t>
                      </a:r>
                    </a:p>
                  </a:txBody>
                  <a:tcPr marL="64008" marR="64008" marT="32004" marB="32004" anchor="ctr">
                    <a:solidFill>
                      <a:srgbClr val="FBE9DF"/>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BE9DF"/>
                    </a:solidFill>
                  </a:tcPr>
                </a:tc>
              </a:tr>
              <a:tr h="420624">
                <a:tc>
                  <a:txBody>
                    <a:bodyPr wrap="square">
                      <a:noAutofit/>
                    </a:bodyPr>
                    <a:lstStyle/>
                    <a:p>
                      <a:r>
                        <a:rPr sz="1000" b="1">
                          <a:solidFill>
                            <a:srgbClr val="262626"/>
                          </a:solidFill>
                          <a:latin typeface="맑은 고딕"/>
                          <a:ea typeface="맑은 고딕"/>
                          <a:cs typeface="맑은 고딕"/>
                        </a:rPr>
                        <a:t>사용자 선호</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블라인드 선호·오류·누락</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5~8명 파일럿 결과 보고</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두 조건 파일럿 도구 준비</a:t>
                      </a:r>
                    </a:p>
                  </a:txBody>
                  <a:tcPr marL="64008" marR="64008" marT="32004" marB="32004" anchor="ctr">
                    <a:solidFill>
                      <a:srgbClr val="FBE9DF"/>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BE9DF"/>
                    </a:solidFill>
                  </a:tcPr>
                </a:tc>
              </a:tr>
              <a:tr h="420624">
                <a:tc>
                  <a:txBody>
                    <a:bodyPr wrap="square">
                      <a:noAutofit/>
                    </a:bodyPr>
                    <a:lstStyle/>
                    <a:p>
                      <a:r>
                        <a:rPr sz="1000" b="1">
                          <a:solidFill>
                            <a:srgbClr val="262626"/>
                          </a:solidFill>
                          <a:latin typeface="맑은 고딕"/>
                          <a:ea typeface="맑은 고딕"/>
                          <a:cs typeface="맑은 고딕"/>
                        </a:rPr>
                        <a:t>재사용</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저장한 프롬프트의 재실행</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저장 후 새 입력에 적용</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통합 보관함 구현 예정</a:t>
                      </a:r>
                    </a:p>
                  </a:txBody>
                  <a:tcPr marL="64008" marR="64008" marT="32004" marB="32004" anchor="ctr">
                    <a:solidFill>
                      <a:srgbClr val="F3F4F7"/>
                    </a:solidFill>
                  </a:tcPr>
                </a:tc>
                <a:tc>
                  <a:txBody>
                    <a:bodyPr wrap="square">
                      <a:noAutofit/>
                    </a:bodyPr>
                    <a:lstStyle/>
                    <a:p>
                      <a:r>
                        <a:rPr sz="1000" b="1">
                          <a:solidFill>
                            <a:srgbClr val="D04A02"/>
                          </a:solidFill>
                          <a:latin typeface="맑은 고딕"/>
                          <a:ea typeface="맑은 고딕"/>
                          <a:cs typeface="맑은 고딕"/>
                        </a:rPr>
                        <a:t>계획</a:t>
                      </a:r>
                    </a:p>
                  </a:txBody>
                  <a:tcPr marL="64008" marR="64008" marT="32004" marB="32004" anchor="ctr">
                    <a:solidFill>
                      <a:srgbClr val="F3F4F7"/>
                    </a:solidFill>
                  </a:tcPr>
                </a:tc>
              </a:tr>
              <a:tr h="420624">
                <a:tc>
                  <a:txBody>
                    <a:bodyPr wrap="square">
                      <a:noAutofit/>
                    </a:bodyPr>
                    <a:lstStyle/>
                    <a:p>
                      <a:r>
                        <a:rPr sz="1000" b="1">
                          <a:solidFill>
                            <a:srgbClr val="262626"/>
                          </a:solidFill>
                          <a:latin typeface="맑은 고딕"/>
                          <a:ea typeface="맑은 고딕"/>
                          <a:cs typeface="맑은 고딕"/>
                        </a:rPr>
                        <a:t>확장성</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도메인 추가 공수·정확성</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요약·코딩·AWS 팩 검증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YAML 정의 8개, 실험용 포함</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FFFFF"/>
                    </a:solidFill>
                  </a:tcPr>
                </a:tc>
              </a:tr>
              <a:tr h="420624">
                <a:tc>
                  <a:txBody>
                    <a:bodyPr wrap="square">
                      <a:noAutofit/>
                    </a:bodyPr>
                    <a:lstStyle/>
                    <a:p>
                      <a:r>
                        <a:rPr sz="1000" b="1">
                          <a:solidFill>
                            <a:srgbClr val="262626"/>
                          </a:solidFill>
                          <a:latin typeface="맑은 고딕"/>
                          <a:ea typeface="맑은 고딕"/>
                          <a:cs typeface="맑은 고딕"/>
                        </a:rPr>
                        <a:t>운영 비용</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세션·GEPA별 호출량과 비용</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실측 후 예산·상한 결정</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전체 경로 비용 측정 예정</a:t>
                      </a:r>
                    </a:p>
                  </a:txBody>
                  <a:tcPr marL="64008" marR="64008" marT="32004" marB="32004" anchor="ctr">
                    <a:solidFill>
                      <a:srgbClr val="FBE9DF"/>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BE9DF"/>
                    </a:solidFill>
                  </a:tcPr>
                </a:tc>
              </a:tr>
            </a:tbl>
          </a:graphicData>
        </a:graphic>
      </p:graphicFrame>
      <p:sp>
        <p:nvSpPr>
          <p:cNvPr id="8" name="TextBox 7">
            <a:extLst xmlns:a="http://schemas.openxmlformats.org/drawingml/2006/main">
              <a:ext uri="{FF2B5EF4-FFF2-40B4-BE49-F238E27FC236}">
                <a16:creationId xmlns:a16="http://schemas.microsoft.com/office/drawing/2014/main" id="{CF7EE115-DE72-41C6-940F-6D7BA84514B5}"/>
              </a:ext>
            </a:extLst>
          </p:cNvPr>
          <p:cNvSpPr>
            <a:spLocks xmlns:a="http://schemas.openxmlformats.org/drawingml/2006/main" noGrp="1"/>
          </p:cNvSpPr>
          <p:nvPr/>
        </p:nvSpPr>
        <p:spPr>
          <a:xfrm xmlns:a="http://schemas.openxmlformats.org/drawingml/2006/main">
            <a:off x="429768" y="5760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950" b="0">
                <a:solidFill>
                  <a:srgbClr val="666666"/>
                </a:solidFill>
                <a:latin typeface="맑은 고딕"/>
                <a:ea typeface="맑은 고딕"/>
                <a:cs typeface="맑은 고딕"/>
              </a:rPr>
              <a:t>정량 목표값은 파일럿과 팀 협의를 거쳐 확정합니다. 비교 8회 완료와 선호 복원 성공은 별도로 평가합니다.</a:t>
            </a:r>
          </a:p>
        </p:txBody>
      </p:sp>
    </p:spTree>
    <p:extLst>
      <p:ext uri="{BB962C8B-B14F-4D97-AF65-F5344CB8AC3E}">
        <p14:creationId xmlns:p14="http://schemas.microsoft.com/office/powerpoint/2010/main" val="14626534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9791434C-1F99-4231-A05D-AF514A08CA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1. 추진배경 및 목표</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8C630A04-5A25-9E0C-9436-126091DB86B3}" type="slidenum">
              <a:rPr b="0">
                <a:solidFill>
                  <a:srgbClr val="000000"/>
                </a:solidFill>
                <a:latin typeface="맑은 고딕"/>
                <a:ea typeface="맑은 고딕"/>
                <a:cs typeface="맑은 고딕"/>
              </a:rPr>
              <a:t>6</a:t>
            </a:fld>
            <a:endParaRPr/>
          </a:p>
        </p:txBody>
      </p:sp>
      <p:sp>
        <p:nvSpPr>
          <p:cNvPr id="5" name="TextBox 4">
            <a:extLst xmlns:a="http://schemas.openxmlformats.org/drawingml/2006/main">
              <a:ext uri="{FF2B5EF4-FFF2-40B4-BE49-F238E27FC236}">
                <a16:creationId xmlns:a16="http://schemas.microsoft.com/office/drawing/2014/main" id="{D3393343-F557-463D-9AE2-C1416EB9D222}"/>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1-4. 프로젝트 기대효과</a:t>
            </a:r>
          </a:p>
        </p:txBody>
      </p:sp>
      <p:sp>
        <p:nvSpPr>
          <p:cNvPr id="6" name="TextBox 5">
            <a:extLst xmlns:a="http://schemas.openxmlformats.org/drawingml/2006/main">
              <a:ext uri="{FF2B5EF4-FFF2-40B4-BE49-F238E27FC236}">
                <a16:creationId xmlns:a16="http://schemas.microsoft.com/office/drawing/2014/main" id="{2F10F036-5329-4603-9F21-C219A899DFE7}"/>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개인화한 프롬프트의 반복 사용과 분야별 템플릿 확장을 목표로 하고, 효과는 실제 사용에서 확인합니다</a:t>
            </a:r>
          </a:p>
        </p:txBody>
      </p:sp>
      <p:graphicFrame>
        <p:nvGraphicFramePr>
          <p:cNvPr id="14" name="Table 6"/>
          <p:cNvGraphicFramePr/>
          <p:nvPr/>
        </p:nvGraphicFramePr>
        <p:xfrm>
          <a:off xmlns:a="http://schemas.openxmlformats.org/drawingml/2006/main" x="429768" y="1737360"/>
          <a:ext xmlns:a="http://schemas.openxmlformats.org/drawingml/2006/main" cx="9043416" cy="3017520"/>
        </p:xfrm>
        <a:graphic xmlns:a="http://schemas.openxmlformats.org/drawingml/2006/main">
          <a:graphicData uri="http://schemas.openxmlformats.org/drawingml/2006/table">
            <a:tbl>
              <a:tblPr firstRow="1">
                <a:tableStyleId>{5C22544A-7EE6-4342-B048-85BDC9FD1C3A}</a:tableStyleId>
              </a:tblPr>
              <a:tblGrid>
                <a:gridCol w="3145536"/>
                <a:gridCol w="3342132"/>
                <a:gridCol w="2555748"/>
              </a:tblGrid>
              <a:tr h="502920">
                <a:tc>
                  <a:txBody>
                    <a:bodyPr wrap="square">
                      <a:noAutofit/>
                    </a:bodyPr>
                    <a:lstStyle/>
                    <a:p>
                      <a:r>
                        <a:rPr sz="1000" b="1">
                          <a:solidFill>
                            <a:srgbClr val="FFFFFF"/>
                          </a:solidFill>
                          <a:latin typeface="맑은 고딕"/>
                          <a:ea typeface="맑은 고딕"/>
                          <a:cs typeface="맑은 고딕"/>
                        </a:rPr>
                        <a:t>현안</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구현·개선 방향</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확인할 효과</a:t>
                      </a:r>
                    </a:p>
                  </a:txBody>
                  <a:tcPr marL="64008" marR="64008" marT="32004" marB="32004" anchor="ctr">
                    <a:solidFill>
                      <a:srgbClr val="002060"/>
                    </a:solidFill>
                  </a:tcPr>
                </a:tc>
              </a:tr>
              <a:tr h="502920">
                <a:tc>
                  <a:txBody>
                    <a:bodyPr wrap="square">
                      <a:noAutofit/>
                    </a:bodyPr>
                    <a:lstStyle/>
                    <a:p>
                      <a:r>
                        <a:rPr sz="1000" b="1">
                          <a:solidFill>
                            <a:srgbClr val="262626"/>
                          </a:solidFill>
                          <a:latin typeface="맑은 고딕"/>
                          <a:ea typeface="맑은 고딕"/>
                          <a:cs typeface="맑은 고딕"/>
                        </a:rPr>
                        <a:t>출력 방식 지시를 반복함</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결과 비교로 개인화한 프롬프트 생성</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작성 시간·수정 횟수 변화</a:t>
                      </a:r>
                    </a:p>
                  </a:txBody>
                  <a:tcPr marL="64008" marR="64008" marT="32004" marB="32004" anchor="ctr">
                    <a:solidFill>
                      <a:srgbClr val="FFFFFF"/>
                    </a:solidFill>
                  </a:tcPr>
                </a:tc>
              </a:tr>
              <a:tr h="502920">
                <a:tc>
                  <a:txBody>
                    <a:bodyPr wrap="square">
                      <a:noAutofit/>
                    </a:bodyPr>
                    <a:lstStyle/>
                    <a:p>
                      <a:r>
                        <a:rPr sz="1000" b="1">
                          <a:solidFill>
                            <a:srgbClr val="262626"/>
                          </a:solidFill>
                          <a:latin typeface="맑은 고딕"/>
                          <a:ea typeface="맑은 고딕"/>
                          <a:cs typeface="맑은 고딕"/>
                        </a:rPr>
                        <a:t>원하는 스타일을 표현하기 어려움</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축별 선택 결과를 구체적인 문구로 조립</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새 문서의 선호·오류·누락</a:t>
                      </a:r>
                    </a:p>
                  </a:txBody>
                  <a:tcPr marL="64008" marR="64008" marT="32004" marB="32004" anchor="ctr">
                    <a:solidFill>
                      <a:srgbClr val="F3F4F7"/>
                    </a:solidFill>
                  </a:tcPr>
                </a:tc>
              </a:tr>
              <a:tr h="502920">
                <a:tc>
                  <a:txBody>
                    <a:bodyPr wrap="square">
                      <a:noAutofit/>
                    </a:bodyPr>
                    <a:lstStyle/>
                    <a:p>
                      <a:r>
                        <a:rPr sz="1000" b="1">
                          <a:solidFill>
                            <a:srgbClr val="262626"/>
                          </a:solidFill>
                          <a:latin typeface="맑은 고딕"/>
                          <a:ea typeface="맑은 고딕"/>
                          <a:cs typeface="맑은 고딕"/>
                        </a:rPr>
                        <a:t>생성한 지침을 다시 찾기 어려움</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개인 프롬프트 저장·보관함 연결</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재실행 여부와 반복 사용</a:t>
                      </a:r>
                    </a:p>
                  </a:txBody>
                  <a:tcPr marL="64008" marR="64008" marT="32004" marB="32004" anchor="ctr">
                    <a:solidFill>
                      <a:srgbClr val="FFFFFF"/>
                    </a:solidFill>
                  </a:tcPr>
                </a:tc>
              </a:tr>
              <a:tr h="502920">
                <a:tc>
                  <a:txBody>
                    <a:bodyPr wrap="square">
                      <a:noAutofit/>
                    </a:bodyPr>
                    <a:lstStyle/>
                    <a:p>
                      <a:r>
                        <a:rPr sz="1000" b="1">
                          <a:solidFill>
                            <a:srgbClr val="262626"/>
                          </a:solidFill>
                          <a:latin typeface="맑은 고딕"/>
                          <a:ea typeface="맑은 고딕"/>
                          <a:cs typeface="맑은 고딕"/>
                        </a:rPr>
                        <a:t>분야마다 도구를 새로 구현함</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전문가의 템플릿·축·검사를 도메인 팩으로 제공</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도메인 추가 공수와 정확성</a:t>
                      </a:r>
                    </a:p>
                  </a:txBody>
                  <a:tcPr marL="64008" marR="64008" marT="32004" marB="32004" anchor="ctr">
                    <a:solidFill>
                      <a:srgbClr val="F3F4F7"/>
                    </a:solidFill>
                  </a:tcPr>
                </a:tc>
              </a:tr>
              <a:tr h="502920">
                <a:tc>
                  <a:txBody>
                    <a:bodyPr wrap="square">
                      <a:noAutofit/>
                    </a:bodyPr>
                    <a:lstStyle/>
                    <a:p>
                      <a:r>
                        <a:rPr sz="1000" b="1">
                          <a:solidFill>
                            <a:srgbClr val="262626"/>
                          </a:solidFill>
                          <a:latin typeface="맑은 고딕"/>
                          <a:ea typeface="맑은 고딕"/>
                          <a:cs typeface="맑은 고딕"/>
                        </a:rPr>
                        <a:t>최적화 효과와 비용을 알기 어려움</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조립본과 GEPA 결과·비용을 함께 비교</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추가 효과 대비 호출 비용</a:t>
                      </a:r>
                    </a:p>
                  </a:txBody>
                  <a:tcPr marL="64008" marR="64008" marT="32004" marB="32004" anchor="ctr">
                    <a:solidFill>
                      <a:srgbClr val="FFFFFF"/>
                    </a:solidFill>
                  </a:tcPr>
                </a:tc>
              </a:tr>
            </a:tbl>
          </a:graphicData>
        </a:graphic>
      </p:graphicFrame>
      <p:sp>
        <p:nvSpPr>
          <p:cNvPr id="8" name="Rounded Rectangle 7">
            <a:extLst xmlns:a="http://schemas.openxmlformats.org/drawingml/2006/main">
              <a:ext uri="{FF2B5EF4-FFF2-40B4-BE49-F238E27FC236}">
                <a16:creationId xmlns:a16="http://schemas.microsoft.com/office/drawing/2014/main" id="{83E5DCDC-B4DF-44AB-A64A-24C45E11CC4B}"/>
              </a:ext>
            </a:extLst>
          </p:cNvPr>
          <p:cNvSpPr>
            <a:spLocks xmlns:a="http://schemas.openxmlformats.org/drawingml/2006/main" noGrp="1"/>
          </p:cNvSpPr>
          <p:nvPr/>
        </p:nvSpPr>
        <p:spPr>
          <a:xfrm xmlns:a="http://schemas.openxmlformats.org/drawingml/2006/main">
            <a:off x="429768" y="5074920"/>
            <a:ext cx="9043416" cy="77724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제품 목표  </a:t>
            </a:r>
            <a:r>
              <a:rPr sz="1050" b="0">
                <a:solidFill>
                  <a:srgbClr val="864027"/>
                </a:solidFill>
                <a:latin typeface="맑은 고딕"/>
                <a:ea typeface="맑은 고딕"/>
                <a:cs typeface="맑은 고딕"/>
              </a:rPr>
              <a:t>저장·보관함·재실행의 통합 경험은 계획입니다. 시간 절감률과 사용자 만족 효과는 파일럿에서 측정합니다.</a:t>
            </a:r>
          </a:p>
        </p:txBody>
      </p:sp>
    </p:spTree>
    <p:extLst>
      <p:ext uri="{BB962C8B-B14F-4D97-AF65-F5344CB8AC3E}">
        <p14:creationId xmlns:p14="http://schemas.microsoft.com/office/powerpoint/2010/main" val="4209533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CF0ED087-BED5-4AE7-82D8-BF21351FA41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2. 수행 범위</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D3D7D1C8-AE23-AA48-DF65-C742588DBE47}" type="slidenum">
              <a:rPr b="0">
                <a:solidFill>
                  <a:srgbClr val="000000"/>
                </a:solidFill>
                <a:latin typeface="맑은 고딕"/>
                <a:ea typeface="맑은 고딕"/>
                <a:cs typeface="맑은 고딕"/>
              </a:rPr>
              <a:t>7</a:t>
            </a:fld>
            <a:endParaRPr/>
          </a:p>
        </p:txBody>
      </p:sp>
      <p:sp>
        <p:nvSpPr>
          <p:cNvPr id="5" name="TextBox 4">
            <a:extLst xmlns:a="http://schemas.openxmlformats.org/drawingml/2006/main">
              <a:ext uri="{FF2B5EF4-FFF2-40B4-BE49-F238E27FC236}">
                <a16:creationId xmlns:a16="http://schemas.microsoft.com/office/drawing/2014/main" id="{A5B29BF1-C8D9-4643-8ADA-5C993D945F4B}"/>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2-1. 구축 범위 개요</a:t>
            </a:r>
          </a:p>
        </p:txBody>
      </p:sp>
      <p:sp>
        <p:nvSpPr>
          <p:cNvPr id="6" name="TextBox 5">
            <a:extLst xmlns:a="http://schemas.openxmlformats.org/drawingml/2006/main">
              <a:ext uri="{FF2B5EF4-FFF2-40B4-BE49-F238E27FC236}">
                <a16:creationId xmlns:a16="http://schemas.microsoft.com/office/drawing/2014/main" id="{E7189BA9-02BC-4C28-A859-113DA3B8A0FC}"/>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요약을 기준 도메인으로 검증하고, 코딩과 AWS 비용 보고를 우선 확장하는 범위를 제안합니다</a:t>
            </a:r>
          </a:p>
        </p:txBody>
      </p:sp>
      <p:sp>
        <p:nvSpPr>
          <p:cNvPr id="7" name="Rounded Rectangle 6">
            <a:extLst xmlns:a="http://schemas.openxmlformats.org/drawingml/2006/main">
              <a:ext uri="{FF2B5EF4-FFF2-40B4-BE49-F238E27FC236}">
                <a16:creationId xmlns:a16="http://schemas.microsoft.com/office/drawing/2014/main" id="{AF3E6967-AAD6-4682-B272-9252D7536FE0}"/>
              </a:ext>
            </a:extLst>
          </p:cNvPr>
          <p:cNvSpPr>
            <a:spLocks xmlns:a="http://schemas.openxmlformats.org/drawingml/2006/main" noGrp="1"/>
          </p:cNvSpPr>
          <p:nvPr/>
        </p:nvSpPr>
        <p:spPr>
          <a:xfrm xmlns:a="http://schemas.openxmlformats.org/drawingml/2006/main">
            <a:off x="429768" y="1783080"/>
            <a:ext cx="2923032" cy="13258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① 공통 선호 엔진</a:t>
            </a:r>
          </a:p>
          <a:p xmlns:a="http://schemas.openxmlformats.org/drawingml/2006/main">
            <a:pPr algn="l">
              <a:spcBef>
                <a:spcPts val="0"/>
              </a:spcBef>
              <a:spcAft>
                <a:spcPts val="600"/>
              </a:spcAft>
            </a:pPr>
            <a:r>
              <a:rPr sz="1000" b="0">
                <a:solidFill>
                  <a:srgbClr val="262626"/>
                </a:solidFill>
                <a:latin typeface="맑은 고딕"/>
                <a:ea typeface="맑은 고딕"/>
                <a:cs typeface="맑은 고딕"/>
              </a:rPr>
              <a:t>질의 선택, 선호 추정, 평가 함수와 프롬프트 조립</a:t>
            </a:r>
          </a:p>
          <a:p xmlns:a="http://schemas.openxmlformats.org/drawingml/2006/main">
            <a:pPr algn="l">
              <a:spcBef>
                <a:spcPts val="0"/>
              </a:spcBef>
              <a:spcAft>
                <a:spcPts val="0"/>
              </a:spcAft>
            </a:pPr>
            <a:r>
              <a:rPr sz="1000" b="1">
                <a:solidFill>
                  <a:srgbClr val="175C2C"/>
                </a:solidFill>
                <a:latin typeface="맑은 고딕"/>
                <a:ea typeface="맑은 고딕"/>
                <a:cs typeface="맑은 고딕"/>
              </a:rPr>
              <a:t>구현 완료, 회귀 검증</a:t>
            </a:r>
          </a:p>
        </p:txBody>
      </p:sp>
      <p:sp>
        <p:nvSpPr>
          <p:cNvPr id="8" name="Rounded Rectangle 7">
            <a:extLst xmlns:a="http://schemas.openxmlformats.org/drawingml/2006/main">
              <a:ext uri="{FF2B5EF4-FFF2-40B4-BE49-F238E27FC236}">
                <a16:creationId xmlns:a16="http://schemas.microsoft.com/office/drawing/2014/main" id="{0AC5CD0F-4FE9-4D2D-99BC-1D8F31A5445F}"/>
              </a:ext>
            </a:extLst>
          </p:cNvPr>
          <p:cNvSpPr>
            <a:spLocks xmlns:a="http://schemas.openxmlformats.org/drawingml/2006/main" noGrp="1"/>
          </p:cNvSpPr>
          <p:nvPr/>
        </p:nvSpPr>
        <p:spPr>
          <a:xfrm xmlns:a="http://schemas.openxmlformats.org/drawingml/2006/main">
            <a:off x="3489960" y="1783080"/>
            <a:ext cx="2923032" cy="13258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② 우선 도메인 팩</a:t>
            </a:r>
          </a:p>
          <a:p xmlns:a="http://schemas.openxmlformats.org/drawingml/2006/main">
            <a:pPr algn="l">
              <a:spcBef>
                <a:spcPts val="0"/>
              </a:spcBef>
              <a:spcAft>
                <a:spcPts val="600"/>
              </a:spcAft>
            </a:pPr>
            <a:r>
              <a:rPr sz="1000" b="0">
                <a:solidFill>
                  <a:srgbClr val="262626"/>
                </a:solidFill>
                <a:latin typeface="맑은 고딕"/>
                <a:ea typeface="맑은 고딕"/>
                <a:cs typeface="맑은 고딕"/>
              </a:rPr>
              <a:t>요약·코딩·AWS 비용 보고의 템플릿과 평가 사례</a:t>
            </a:r>
          </a:p>
          <a:p xmlns:a="http://schemas.openxmlformats.org/drawingml/2006/main">
            <a:pPr algn="l">
              <a:spcBef>
                <a:spcPts val="0"/>
              </a:spcBef>
              <a:spcAft>
                <a:spcPts val="0"/>
              </a:spcAft>
            </a:pPr>
            <a:r>
              <a:rPr sz="1000" b="1">
                <a:solidFill>
                  <a:srgbClr val="175C2C"/>
                </a:solidFill>
                <a:latin typeface="맑은 고딕"/>
                <a:ea typeface="맑은 고딕"/>
                <a:cs typeface="맑은 고딕"/>
              </a:rPr>
              <a:t>분야별 검증 예정</a:t>
            </a:r>
          </a:p>
        </p:txBody>
      </p:sp>
      <p:sp>
        <p:nvSpPr>
          <p:cNvPr id="9" name="Rounded Rectangle 8">
            <a:extLst xmlns:a="http://schemas.openxmlformats.org/drawingml/2006/main">
              <a:ext uri="{FF2B5EF4-FFF2-40B4-BE49-F238E27FC236}">
                <a16:creationId xmlns:a16="http://schemas.microsoft.com/office/drawing/2014/main" id="{EC9CA57F-60DA-4757-9261-7A532871AD26}"/>
              </a:ext>
            </a:extLst>
          </p:cNvPr>
          <p:cNvSpPr>
            <a:spLocks xmlns:a="http://schemas.openxmlformats.org/drawingml/2006/main" noGrp="1"/>
          </p:cNvSpPr>
          <p:nvPr/>
        </p:nvSpPr>
        <p:spPr>
          <a:xfrm xmlns:a="http://schemas.openxmlformats.org/drawingml/2006/main">
            <a:off x="6550152" y="1783080"/>
            <a:ext cx="2923032" cy="13258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③ 선택 기능</a:t>
            </a:r>
          </a:p>
          <a:p xmlns:a="http://schemas.openxmlformats.org/drawingml/2006/main">
            <a:pPr algn="l">
              <a:spcBef>
                <a:spcPts val="0"/>
              </a:spcBef>
              <a:spcAft>
                <a:spcPts val="600"/>
              </a:spcAft>
            </a:pPr>
            <a:r>
              <a:rPr sz="1000" b="0">
                <a:solidFill>
                  <a:srgbClr val="262626"/>
                </a:solidFill>
                <a:latin typeface="맑은 고딕"/>
                <a:ea typeface="맑은 고딕"/>
                <a:cs typeface="맑은 고딕"/>
              </a:rPr>
              <a:t>GEPA 최적화, 가져온 프롬프트 구조 점검·재작성</a:t>
            </a:r>
          </a:p>
          <a:p xmlns:a="http://schemas.openxmlformats.org/drawingml/2006/main">
            <a:pPr algn="l">
              <a:spcBef>
                <a:spcPts val="0"/>
              </a:spcBef>
              <a:spcAft>
                <a:spcPts val="0"/>
              </a:spcAft>
            </a:pPr>
            <a:r>
              <a:rPr sz="1000" b="1">
                <a:solidFill>
                  <a:srgbClr val="002060"/>
                </a:solidFill>
                <a:latin typeface="맑은 고딕"/>
                <a:ea typeface="맑은 고딕"/>
                <a:cs typeface="맑은 고딕"/>
              </a:rPr>
              <a:t>두 경로 구분, 효과·비용 검증</a:t>
            </a:r>
          </a:p>
        </p:txBody>
      </p:sp>
      <p:sp>
        <p:nvSpPr>
          <p:cNvPr id="10" name="Rounded Rectangle 9">
            <a:extLst xmlns:a="http://schemas.openxmlformats.org/drawingml/2006/main">
              <a:ext uri="{FF2B5EF4-FFF2-40B4-BE49-F238E27FC236}">
                <a16:creationId xmlns:a16="http://schemas.microsoft.com/office/drawing/2014/main" id="{83DBACA9-D493-41B4-88FE-E20D07D283C1}"/>
              </a:ext>
            </a:extLst>
          </p:cNvPr>
          <p:cNvSpPr>
            <a:spLocks xmlns:a="http://schemas.openxmlformats.org/drawingml/2006/main" noGrp="1"/>
          </p:cNvSpPr>
          <p:nvPr/>
        </p:nvSpPr>
        <p:spPr>
          <a:xfrm xmlns:a="http://schemas.openxmlformats.org/drawingml/2006/main">
            <a:off x="429768" y="3246120"/>
            <a:ext cx="2923032" cy="13258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④ 사용자 화면</a:t>
            </a:r>
          </a:p>
          <a:p xmlns:a="http://schemas.openxmlformats.org/drawingml/2006/main">
            <a:pPr algn="l">
              <a:spcBef>
                <a:spcPts val="0"/>
              </a:spcBef>
              <a:spcAft>
                <a:spcPts val="600"/>
              </a:spcAft>
            </a:pPr>
            <a:r>
              <a:rPr sz="1000" b="0">
                <a:solidFill>
                  <a:srgbClr val="262626"/>
                </a:solidFill>
                <a:latin typeface="맑은 고딕"/>
                <a:ea typeface="맑은 고딕"/>
                <a:cs typeface="맑은 고딕"/>
              </a:rPr>
              <a:t>React 개발 화면과 기존 Streamlit 공개 데모</a:t>
            </a:r>
          </a:p>
          <a:p xmlns:a="http://schemas.openxmlformats.org/drawingml/2006/main">
            <a:pPr algn="l">
              <a:spcBef>
                <a:spcPts val="0"/>
              </a:spcBef>
              <a:spcAft>
                <a:spcPts val="0"/>
              </a:spcAft>
            </a:pPr>
            <a:r>
              <a:rPr sz="1000" b="1">
                <a:solidFill>
                  <a:srgbClr val="D04A02"/>
                </a:solidFill>
                <a:latin typeface="맑은 고딕"/>
                <a:ea typeface="맑은 고딕"/>
                <a:cs typeface="맑은 고딕"/>
              </a:rPr>
              <a:t>핵심 흐름 확인 후 공개 전환</a:t>
            </a:r>
          </a:p>
        </p:txBody>
      </p:sp>
      <p:sp>
        <p:nvSpPr>
          <p:cNvPr id="11" name="Rounded Rectangle 10">
            <a:extLst xmlns:a="http://schemas.openxmlformats.org/drawingml/2006/main">
              <a:ext uri="{FF2B5EF4-FFF2-40B4-BE49-F238E27FC236}">
                <a16:creationId xmlns:a16="http://schemas.microsoft.com/office/drawing/2014/main" id="{C53E0748-61F0-4260-A56B-47BCB6F653EF}"/>
              </a:ext>
            </a:extLst>
          </p:cNvPr>
          <p:cNvSpPr>
            <a:spLocks xmlns:a="http://schemas.openxmlformats.org/drawingml/2006/main" noGrp="1"/>
          </p:cNvSpPr>
          <p:nvPr/>
        </p:nvSpPr>
        <p:spPr>
          <a:xfrm xmlns:a="http://schemas.openxmlformats.org/drawingml/2006/main">
            <a:off x="3489960" y="3246120"/>
            <a:ext cx="2923032" cy="13258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⑤ 제품 경험</a:t>
            </a:r>
          </a:p>
          <a:p xmlns:a="http://schemas.openxmlformats.org/drawingml/2006/main">
            <a:pPr algn="l">
              <a:spcBef>
                <a:spcPts val="0"/>
              </a:spcBef>
              <a:spcAft>
                <a:spcPts val="600"/>
              </a:spcAft>
            </a:pPr>
            <a:r>
              <a:rPr sz="1000" b="0">
                <a:solidFill>
                  <a:srgbClr val="262626"/>
                </a:solidFill>
                <a:latin typeface="맑은 고딕"/>
                <a:ea typeface="맑은 고딕"/>
                <a:cs typeface="맑은 고딕"/>
              </a:rPr>
              <a:t>템플릿 탐색, 개인화, 저장, 새 입력에 재실행</a:t>
            </a:r>
          </a:p>
          <a:p xmlns:a="http://schemas.openxmlformats.org/drawingml/2006/main">
            <a:pPr algn="l">
              <a:spcBef>
                <a:spcPts val="0"/>
              </a:spcBef>
              <a:spcAft>
                <a:spcPts val="0"/>
              </a:spcAft>
            </a:pPr>
            <a:r>
              <a:rPr sz="1000" b="1">
                <a:solidFill>
                  <a:srgbClr val="D04A02"/>
                </a:solidFill>
                <a:latin typeface="맑은 고딕"/>
                <a:ea typeface="맑은 고딕"/>
                <a:cs typeface="맑은 고딕"/>
              </a:rPr>
              <a:t>보관함 통합 계획</a:t>
            </a:r>
          </a:p>
        </p:txBody>
      </p:sp>
      <p:sp>
        <p:nvSpPr>
          <p:cNvPr id="12" name="Rounded Rectangle 11">
            <a:extLst xmlns:a="http://schemas.openxmlformats.org/drawingml/2006/main">
              <a:ext uri="{FF2B5EF4-FFF2-40B4-BE49-F238E27FC236}">
                <a16:creationId xmlns:a16="http://schemas.microsoft.com/office/drawing/2014/main" id="{9C661044-D4A0-4E47-8CE6-DF6075EF9706}"/>
              </a:ext>
            </a:extLst>
          </p:cNvPr>
          <p:cNvSpPr>
            <a:spLocks xmlns:a="http://schemas.openxmlformats.org/drawingml/2006/main" noGrp="1"/>
          </p:cNvSpPr>
          <p:nvPr/>
        </p:nvSpPr>
        <p:spPr>
          <a:xfrm xmlns:a="http://schemas.openxmlformats.org/drawingml/2006/main">
            <a:off x="6550152" y="3246120"/>
            <a:ext cx="2923032" cy="13258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⑥ 실험 범위</a:t>
            </a:r>
          </a:p>
          <a:p xmlns:a="http://schemas.openxmlformats.org/drawingml/2006/main">
            <a:pPr algn="l">
              <a:spcBef>
                <a:spcPts val="0"/>
              </a:spcBef>
              <a:spcAft>
                <a:spcPts val="600"/>
              </a:spcAft>
            </a:pPr>
            <a:r>
              <a:rPr sz="1000" b="0">
                <a:solidFill>
                  <a:srgbClr val="262626"/>
                </a:solidFill>
                <a:latin typeface="맑은 고딕"/>
                <a:ea typeface="맑은 고딕"/>
                <a:cs typeface="맑은 고딕"/>
              </a:rPr>
              <a:t>리뷰·이메일·자동 축 발견·내 글 형식 분석</a:t>
            </a:r>
          </a:p>
          <a:p xmlns:a="http://schemas.openxmlformats.org/drawingml/2006/main">
            <a:pPr algn="l">
              <a:spcBef>
                <a:spcPts val="0"/>
              </a:spcBef>
              <a:spcAft>
                <a:spcPts val="0"/>
              </a:spcAft>
            </a:pPr>
            <a:r>
              <a:rPr sz="1000" b="1">
                <a:solidFill>
                  <a:srgbClr val="6E6E6E"/>
                </a:solidFill>
                <a:latin typeface="맑은 고딕"/>
                <a:ea typeface="맑은 고딕"/>
                <a:cs typeface="맑은 고딕"/>
              </a:rPr>
              <a:t>우선 제품 검증과 분리</a:t>
            </a:r>
          </a:p>
        </p:txBody>
      </p:sp>
      <p:sp>
        <p:nvSpPr>
          <p:cNvPr id="13" name="Rounded Rectangle 12">
            <a:extLst xmlns:a="http://schemas.openxmlformats.org/drawingml/2006/main">
              <a:ext uri="{FF2B5EF4-FFF2-40B4-BE49-F238E27FC236}">
                <a16:creationId xmlns:a16="http://schemas.microsoft.com/office/drawing/2014/main" id="{832AB3C8-319B-4ECA-915D-92D9F32D7966}"/>
              </a:ext>
            </a:extLst>
          </p:cNvPr>
          <p:cNvSpPr>
            <a:spLocks xmlns:a="http://schemas.openxmlformats.org/drawingml/2006/main" noGrp="1"/>
          </p:cNvSpPr>
          <p:nvPr/>
        </p:nvSpPr>
        <p:spPr>
          <a:xfrm xmlns:a="http://schemas.openxmlformats.org/drawingml/2006/main">
            <a:off x="429768" y="4800600"/>
            <a:ext cx="9043416" cy="86868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범위 원칙  </a:t>
            </a:r>
            <a:r>
              <a:rPr sz="1050" b="0">
                <a:solidFill>
                  <a:srgbClr val="864027"/>
                </a:solidFill>
                <a:latin typeface="맑은 고딕"/>
                <a:ea typeface="맑은 고딕"/>
                <a:cs typeface="맑은 고딕"/>
              </a:rPr>
              <a:t>YAML 정의 8개에는 실험용 정의가 포함됩니다. 초기 사용자와 요약·코딩·AWS의 우선순위는 팀 협의 후 확정합니다.</a:t>
            </a:r>
          </a:p>
        </p:txBody>
      </p:sp>
    </p:spTree>
    <p:extLst>
      <p:ext uri="{BB962C8B-B14F-4D97-AF65-F5344CB8AC3E}">
        <p14:creationId xmlns:p14="http://schemas.microsoft.com/office/powerpoint/2010/main" val="1777923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15FA5E2-8F1C-4F68-B736-04E7F817043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2. 수행 범위</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BA58DA2A-B818-18A9-29C1-B697728D5BCE}" type="slidenum">
              <a:rPr b="0">
                <a:solidFill>
                  <a:srgbClr val="000000"/>
                </a:solidFill>
                <a:latin typeface="맑은 고딕"/>
                <a:ea typeface="맑은 고딕"/>
                <a:cs typeface="맑은 고딕"/>
              </a:rPr>
              <a:t>8</a:t>
            </a:fld>
            <a:endParaRPr/>
          </a:p>
        </p:txBody>
      </p:sp>
      <p:sp>
        <p:nvSpPr>
          <p:cNvPr id="5" name="TextBox 4">
            <a:extLst xmlns:a="http://schemas.openxmlformats.org/drawingml/2006/main">
              <a:ext uri="{FF2B5EF4-FFF2-40B4-BE49-F238E27FC236}">
                <a16:creationId xmlns:a16="http://schemas.microsoft.com/office/drawing/2014/main" id="{FBCC1236-2E07-4FF9-9E41-351BF7230B6C}"/>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2-2. 시스템 아키텍처</a:t>
            </a:r>
          </a:p>
        </p:txBody>
      </p:sp>
      <p:sp>
        <p:nvSpPr>
          <p:cNvPr id="6" name="TextBox 5">
            <a:extLst xmlns:a="http://schemas.openxmlformats.org/drawingml/2006/main">
              <a:ext uri="{FF2B5EF4-FFF2-40B4-BE49-F238E27FC236}">
                <a16:creationId xmlns:a16="http://schemas.microsoft.com/office/drawing/2014/main" id="{37B094EB-AA23-437A-BF58-DE25BC52D0AE}"/>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화면, 서비스, 선호 엔진과 도메인 팩을 분리해 공통 기반 위에 분야별 작업을 추가합니다</a:t>
            </a:r>
          </a:p>
        </p:txBody>
      </p:sp>
      <p:sp>
        <p:nvSpPr>
          <p:cNvPr id="7" name="TextBox 6">
            <a:extLst xmlns:a="http://schemas.openxmlformats.org/drawingml/2006/main">
              <a:ext uri="{FF2B5EF4-FFF2-40B4-BE49-F238E27FC236}">
                <a16:creationId xmlns:a16="http://schemas.microsoft.com/office/drawing/2014/main" id="{237BCD20-F665-48FB-8F37-E856896D7C78}"/>
              </a:ext>
            </a:extLst>
          </p:cNvPr>
          <p:cNvSpPr>
            <a:spLocks xmlns:a="http://schemas.openxmlformats.org/drawingml/2006/main" noGrp="1"/>
          </p:cNvSpPr>
          <p:nvPr/>
        </p:nvSpPr>
        <p:spPr>
          <a:xfrm xmlns:a="http://schemas.openxmlformats.org/drawingml/2006/main">
            <a:off x="429768" y="1737360"/>
            <a:ext cx="1234440" cy="65836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ctr">
            <a:spAutoFit/>
          </a:bodyPr>
          <a:lstStyle xmlns:a="http://schemas.openxmlformats.org/drawingml/2006/main"/>
          <a:p xmlns:a="http://schemas.openxmlformats.org/drawingml/2006/main">
            <a:r>
              <a:rPr sz="1100" b="1">
                <a:solidFill>
                  <a:srgbClr val="002060"/>
                </a:solidFill>
              </a:rPr>
              <a:t>사용자 화면</a:t>
            </a:r>
          </a:p>
        </p:txBody>
      </p:sp>
      <p:sp>
        <p:nvSpPr>
          <p:cNvPr id="8" name="Rounded Rectangle 7">
            <a:extLst xmlns:a="http://schemas.openxmlformats.org/drawingml/2006/main">
              <a:ext uri="{FF2B5EF4-FFF2-40B4-BE49-F238E27FC236}">
                <a16:creationId xmlns:a16="http://schemas.microsoft.com/office/drawing/2014/main" id="{6A27929E-954A-4894-B63F-99D24FB6D45C}"/>
              </a:ext>
            </a:extLst>
          </p:cNvPr>
          <p:cNvSpPr>
            <a:spLocks xmlns:a="http://schemas.openxmlformats.org/drawingml/2006/main" noGrp="1"/>
          </p:cNvSpPr>
          <p:nvPr/>
        </p:nvSpPr>
        <p:spPr>
          <a:xfrm xmlns:a="http://schemas.openxmlformats.org/drawingml/2006/main">
            <a:off x="1755648" y="1737360"/>
            <a:ext cx="3813048" cy="658368"/>
          </a:xfrm>
          <a:prstGeom xmlns:a="http://schemas.openxmlformats.org/drawingml/2006/main" prst="roundRect">
            <a:avLst>
              <a:gd name="adj" fmla="val 6000"/>
            </a:avLst>
          </a:prstGeom>
          <a:solidFill xmlns:a="http://schemas.openxmlformats.org/drawingml/2006/main">
            <a:srgbClr val="E6EBF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spcBef>
                <a:spcPts val="0"/>
              </a:spcBef>
              <a:spcAft>
                <a:spcPts val="0"/>
              </a:spcAft>
            </a:pPr>
            <a:r>
              <a:rPr sz="1000" b="1">
                <a:solidFill>
                  <a:srgbClr val="262626"/>
                </a:solidFill>
                <a:latin typeface="맑은 고딕"/>
                <a:ea typeface="맑은 고딕"/>
                <a:cs typeface="맑은 고딕"/>
              </a:rPr>
              <a:t>React 개발 화면 (frontend/)</a:t>
            </a:r>
          </a:p>
        </p:txBody>
      </p:sp>
      <p:sp>
        <p:nvSpPr>
          <p:cNvPr id="9" name="Rounded Rectangle 8">
            <a:extLst xmlns:a="http://schemas.openxmlformats.org/drawingml/2006/main">
              <a:ext uri="{FF2B5EF4-FFF2-40B4-BE49-F238E27FC236}">
                <a16:creationId xmlns:a16="http://schemas.microsoft.com/office/drawing/2014/main" id="{51D38626-A522-4BAB-9E78-341C9AB26294}"/>
              </a:ext>
            </a:extLst>
          </p:cNvPr>
          <p:cNvSpPr>
            <a:spLocks xmlns:a="http://schemas.openxmlformats.org/drawingml/2006/main" noGrp="1"/>
          </p:cNvSpPr>
          <p:nvPr/>
        </p:nvSpPr>
        <p:spPr>
          <a:xfrm xmlns:a="http://schemas.openxmlformats.org/drawingml/2006/main">
            <a:off x="5660136" y="1737360"/>
            <a:ext cx="3813048" cy="658368"/>
          </a:xfrm>
          <a:prstGeom xmlns:a="http://schemas.openxmlformats.org/drawingml/2006/main" prst="roundRect">
            <a:avLst>
              <a:gd name="adj" fmla="val 6000"/>
            </a:avLst>
          </a:prstGeom>
          <a:solidFill xmlns:a="http://schemas.openxmlformats.org/drawingml/2006/main">
            <a:srgbClr val="E6EBF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262626"/>
                </a:solidFill>
              </a:rPr>
              <a:t>Streamlit 화면 (app.py) · 공개 데모</a:t>
            </a:r>
          </a:p>
        </p:txBody>
      </p:sp>
      <p:sp>
        <p:nvSpPr>
          <p:cNvPr id="10" name="TextBox 9">
            <a:extLst xmlns:a="http://schemas.openxmlformats.org/drawingml/2006/main">
              <a:ext uri="{FF2B5EF4-FFF2-40B4-BE49-F238E27FC236}">
                <a16:creationId xmlns:a16="http://schemas.microsoft.com/office/drawing/2014/main" id="{E309E91D-949B-4D9E-B605-A142BC5901B8}"/>
              </a:ext>
            </a:extLst>
          </p:cNvPr>
          <p:cNvSpPr>
            <a:spLocks xmlns:a="http://schemas.openxmlformats.org/drawingml/2006/main" noGrp="1"/>
          </p:cNvSpPr>
          <p:nvPr/>
        </p:nvSpPr>
        <p:spPr>
          <a:xfrm xmlns:a="http://schemas.openxmlformats.org/drawingml/2006/main">
            <a:off x="429768" y="2523744"/>
            <a:ext cx="1234440" cy="65836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ctr">
            <a:spAutoFit/>
          </a:bodyPr>
          <a:lstStyle xmlns:a="http://schemas.openxmlformats.org/drawingml/2006/main"/>
          <a:p xmlns:a="http://schemas.openxmlformats.org/drawingml/2006/main">
            <a:r>
              <a:rPr sz="1100" b="1">
                <a:solidFill>
                  <a:srgbClr val="002060"/>
                </a:solidFill>
              </a:rPr>
              <a:t>서비스 계층</a:t>
            </a:r>
          </a:p>
        </p:txBody>
      </p:sp>
      <p:sp>
        <p:nvSpPr>
          <p:cNvPr id="11" name="Rounded Rectangle 10">
            <a:extLst xmlns:a="http://schemas.openxmlformats.org/drawingml/2006/main">
              <a:ext uri="{FF2B5EF4-FFF2-40B4-BE49-F238E27FC236}">
                <a16:creationId xmlns:a16="http://schemas.microsoft.com/office/drawing/2014/main" id="{911D1631-921D-45EC-BA65-6FE22300D735}"/>
              </a:ext>
            </a:extLst>
          </p:cNvPr>
          <p:cNvSpPr>
            <a:spLocks xmlns:a="http://schemas.openxmlformats.org/drawingml/2006/main" noGrp="1"/>
          </p:cNvSpPr>
          <p:nvPr/>
        </p:nvSpPr>
        <p:spPr>
          <a:xfrm xmlns:a="http://schemas.openxmlformats.org/drawingml/2006/main">
            <a:off x="1755648" y="2523744"/>
            <a:ext cx="7717536" cy="658368"/>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spcBef>
                <a:spcPts val="0"/>
              </a:spcBef>
              <a:spcAft>
                <a:spcPts val="0"/>
              </a:spcAft>
            </a:pPr>
            <a:r>
              <a:rPr sz="1000" b="1">
                <a:solidFill>
                  <a:srgbClr val="262626"/>
                </a:solidFill>
                <a:latin typeface="맑은 고딕"/>
                <a:ea typeface="맑은 고딕"/>
                <a:cs typeface="맑은 고딕"/>
              </a:rPr>
              <a:t>api_server.py · service.py   세션 재생, 오류 분류, 사용량 관리</a:t>
            </a:r>
          </a:p>
        </p:txBody>
      </p:sp>
      <p:sp>
        <p:nvSpPr>
          <p:cNvPr id="12" name="TextBox 11">
            <a:extLst xmlns:a="http://schemas.openxmlformats.org/drawingml/2006/main">
              <a:ext uri="{FF2B5EF4-FFF2-40B4-BE49-F238E27FC236}">
                <a16:creationId xmlns:a16="http://schemas.microsoft.com/office/drawing/2014/main" id="{0897844E-8481-4A19-B0D0-4EC02361BE0A}"/>
              </a:ext>
            </a:extLst>
          </p:cNvPr>
          <p:cNvSpPr>
            <a:spLocks xmlns:a="http://schemas.openxmlformats.org/drawingml/2006/main" noGrp="1"/>
          </p:cNvSpPr>
          <p:nvPr/>
        </p:nvSpPr>
        <p:spPr>
          <a:xfrm xmlns:a="http://schemas.openxmlformats.org/drawingml/2006/main">
            <a:off x="429768" y="3310127"/>
            <a:ext cx="1234440" cy="65836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ctr">
            <a:spAutoFit/>
          </a:bodyPr>
          <a:lstStyle xmlns:a="http://schemas.openxmlformats.org/drawingml/2006/main"/>
          <a:p xmlns:a="http://schemas.openxmlformats.org/drawingml/2006/main">
            <a:r>
              <a:rPr sz="1100" b="1">
                <a:solidFill>
                  <a:srgbClr val="002060"/>
                </a:solidFill>
              </a:rPr>
              <a:t>선호 엔진</a:t>
            </a:r>
          </a:p>
        </p:txBody>
      </p:sp>
      <p:sp>
        <p:nvSpPr>
          <p:cNvPr id="13" name="Rounded Rectangle 12">
            <a:extLst xmlns:a="http://schemas.openxmlformats.org/drawingml/2006/main">
              <a:ext uri="{FF2B5EF4-FFF2-40B4-BE49-F238E27FC236}">
                <a16:creationId xmlns:a16="http://schemas.microsoft.com/office/drawing/2014/main" id="{F60CEA85-AD75-42BD-8F86-62A6A4082F68}"/>
              </a:ext>
            </a:extLst>
          </p:cNvPr>
          <p:cNvSpPr>
            <a:spLocks xmlns:a="http://schemas.openxmlformats.org/drawingml/2006/main" noGrp="1"/>
          </p:cNvSpPr>
          <p:nvPr/>
        </p:nvSpPr>
        <p:spPr>
          <a:xfrm xmlns:a="http://schemas.openxmlformats.org/drawingml/2006/main">
            <a:off x="1755648" y="3310127"/>
            <a:ext cx="1860804" cy="658368"/>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FFFFFF"/>
                </a:solidFill>
              </a:rPr>
              <a:t>selector</a:t>
            </a:r>
          </a:p>
          <a:p xmlns:a="http://schemas.openxmlformats.org/drawingml/2006/main">
            <a:pPr algn="ctr">
              <a:buNone/>
            </a:pPr>
            <a:r>
              <a:rPr sz="900" b="0">
                <a:solidFill>
                  <a:srgbClr val="FFFFFF"/>
                </a:solidFill>
              </a:rPr>
              <a:t>질의 선택</a:t>
            </a:r>
          </a:p>
        </p:txBody>
      </p:sp>
      <p:sp>
        <p:nvSpPr>
          <p:cNvPr id="14" name="Rounded Rectangle 13">
            <a:extLst xmlns:a="http://schemas.openxmlformats.org/drawingml/2006/main">
              <a:ext uri="{FF2B5EF4-FFF2-40B4-BE49-F238E27FC236}">
                <a16:creationId xmlns:a16="http://schemas.microsoft.com/office/drawing/2014/main" id="{5FDB88A3-B0E7-495F-BED0-031CAE2BA934}"/>
              </a:ext>
            </a:extLst>
          </p:cNvPr>
          <p:cNvSpPr>
            <a:spLocks xmlns:a="http://schemas.openxmlformats.org/drawingml/2006/main" noGrp="1"/>
          </p:cNvSpPr>
          <p:nvPr/>
        </p:nvSpPr>
        <p:spPr>
          <a:xfrm xmlns:a="http://schemas.openxmlformats.org/drawingml/2006/main">
            <a:off x="3707892" y="3310127"/>
            <a:ext cx="1860804" cy="658368"/>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FFFFFF"/>
                </a:solidFill>
              </a:rPr>
              <a:t>estimator</a:t>
            </a:r>
          </a:p>
          <a:p xmlns:a="http://schemas.openxmlformats.org/drawingml/2006/main">
            <a:pPr algn="ctr">
              <a:buNone/>
            </a:pPr>
            <a:r>
              <a:rPr sz="900" b="0">
                <a:solidFill>
                  <a:srgbClr val="FFFFFF"/>
                </a:solidFill>
              </a:rPr>
              <a:t>선호 추정</a:t>
            </a:r>
          </a:p>
        </p:txBody>
      </p:sp>
      <p:sp>
        <p:nvSpPr>
          <p:cNvPr id="15" name="Rounded Rectangle 14">
            <a:extLst xmlns:a="http://schemas.openxmlformats.org/drawingml/2006/main">
              <a:ext uri="{FF2B5EF4-FFF2-40B4-BE49-F238E27FC236}">
                <a16:creationId xmlns:a16="http://schemas.microsoft.com/office/drawing/2014/main" id="{E3523041-868E-4C15-A532-073894BA0D75}"/>
              </a:ext>
            </a:extLst>
          </p:cNvPr>
          <p:cNvSpPr>
            <a:spLocks xmlns:a="http://schemas.openxmlformats.org/drawingml/2006/main" noGrp="1"/>
          </p:cNvSpPr>
          <p:nvPr/>
        </p:nvSpPr>
        <p:spPr>
          <a:xfrm xmlns:a="http://schemas.openxmlformats.org/drawingml/2006/main">
            <a:off x="5660136" y="3310127"/>
            <a:ext cx="1860804" cy="658368"/>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FFFFFF"/>
                </a:solidFill>
              </a:rPr>
              <a:t>metric_builder</a:t>
            </a:r>
          </a:p>
          <a:p xmlns:a="http://schemas.openxmlformats.org/drawingml/2006/main">
            <a:pPr algn="ctr">
              <a:buNone/>
            </a:pPr>
            <a:r>
              <a:rPr sz="900" b="0">
                <a:solidFill>
                  <a:srgbClr val="FFFFFF"/>
                </a:solidFill>
              </a:rPr>
              <a:t>평가 함수</a:t>
            </a:r>
          </a:p>
        </p:txBody>
      </p:sp>
      <p:sp>
        <p:nvSpPr>
          <p:cNvPr id="16" name="Rounded Rectangle 15">
            <a:extLst xmlns:a="http://schemas.openxmlformats.org/drawingml/2006/main">
              <a:ext uri="{FF2B5EF4-FFF2-40B4-BE49-F238E27FC236}">
                <a16:creationId xmlns:a16="http://schemas.microsoft.com/office/drawing/2014/main" id="{DED7A16E-9020-45EE-B103-4B24FB15FD06}"/>
              </a:ext>
            </a:extLst>
          </p:cNvPr>
          <p:cNvSpPr>
            <a:spLocks xmlns:a="http://schemas.openxmlformats.org/drawingml/2006/main" noGrp="1"/>
          </p:cNvSpPr>
          <p:nvPr/>
        </p:nvSpPr>
        <p:spPr>
          <a:xfrm xmlns:a="http://schemas.openxmlformats.org/drawingml/2006/main">
            <a:off x="7612380" y="3310127"/>
            <a:ext cx="1860804" cy="658368"/>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FFFFFF"/>
                </a:solidFill>
              </a:rPr>
              <a:t>generator</a:t>
            </a:r>
          </a:p>
          <a:p xmlns:a="http://schemas.openxmlformats.org/drawingml/2006/main">
            <a:pPr algn="ctr">
              <a:buNone/>
            </a:pPr>
            <a:r>
              <a:rPr sz="900" b="0">
                <a:solidFill>
                  <a:srgbClr val="FFFFFF"/>
                </a:solidFill>
              </a:rPr>
              <a:t>생성 · 캐시</a:t>
            </a:r>
          </a:p>
        </p:txBody>
      </p:sp>
      <p:sp>
        <p:nvSpPr>
          <p:cNvPr id="17" name="TextBox 16">
            <a:extLst xmlns:a="http://schemas.openxmlformats.org/drawingml/2006/main">
              <a:ext uri="{FF2B5EF4-FFF2-40B4-BE49-F238E27FC236}">
                <a16:creationId xmlns:a16="http://schemas.microsoft.com/office/drawing/2014/main" id="{038B6A74-1E91-4ED9-AAC7-675EF61EF040}"/>
              </a:ext>
            </a:extLst>
          </p:cNvPr>
          <p:cNvSpPr>
            <a:spLocks xmlns:a="http://schemas.openxmlformats.org/drawingml/2006/main" noGrp="1"/>
          </p:cNvSpPr>
          <p:nvPr/>
        </p:nvSpPr>
        <p:spPr>
          <a:xfrm xmlns:a="http://schemas.openxmlformats.org/drawingml/2006/main">
            <a:off x="429768" y="4096511"/>
            <a:ext cx="1234440" cy="65836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ctr">
            <a:spAutoFit/>
          </a:bodyPr>
          <a:lstStyle xmlns:a="http://schemas.openxmlformats.org/drawingml/2006/main"/>
          <a:p xmlns:a="http://schemas.openxmlformats.org/drawingml/2006/main">
            <a:r>
              <a:rPr sz="1100" b="1">
                <a:solidFill>
                  <a:srgbClr val="002060"/>
                </a:solidFill>
              </a:rPr>
              <a:t>도메인 팩</a:t>
            </a:r>
          </a:p>
        </p:txBody>
      </p:sp>
      <p:sp>
        <p:nvSpPr>
          <p:cNvPr id="18" name="Rounded Rectangle 17">
            <a:extLst xmlns:a="http://schemas.openxmlformats.org/drawingml/2006/main">
              <a:ext uri="{FF2B5EF4-FFF2-40B4-BE49-F238E27FC236}">
                <a16:creationId xmlns:a16="http://schemas.microsoft.com/office/drawing/2014/main" id="{8F70EB6F-00DB-4651-B048-4B099239DB1F}"/>
              </a:ext>
            </a:extLst>
          </p:cNvPr>
          <p:cNvSpPr>
            <a:spLocks xmlns:a="http://schemas.openxmlformats.org/drawingml/2006/main" noGrp="1"/>
          </p:cNvSpPr>
          <p:nvPr/>
        </p:nvSpPr>
        <p:spPr>
          <a:xfrm xmlns:a="http://schemas.openxmlformats.org/drawingml/2006/main">
            <a:off x="1755648" y="4096511"/>
            <a:ext cx="2511552" cy="658368"/>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262626"/>
                </a:solidFill>
              </a:rPr>
              <a:t>domains/*.yaml</a:t>
            </a:r>
          </a:p>
          <a:p xmlns:a="http://schemas.openxmlformats.org/drawingml/2006/main">
            <a:pPr algn="ctr">
              <a:buNone/>
            </a:pPr>
            <a:r>
              <a:rPr sz="900" b="0">
                <a:solidFill>
                  <a:srgbClr val="262626"/>
                </a:solidFill>
              </a:rPr>
              <a:t>축 · 문구</a:t>
            </a:r>
          </a:p>
        </p:txBody>
      </p:sp>
      <p:sp>
        <p:nvSpPr>
          <p:cNvPr id="19" name="Rounded Rectangle 18">
            <a:extLst xmlns:a="http://schemas.openxmlformats.org/drawingml/2006/main">
              <a:ext uri="{FF2B5EF4-FFF2-40B4-BE49-F238E27FC236}">
                <a16:creationId xmlns:a16="http://schemas.microsoft.com/office/drawing/2014/main" id="{026A8330-4E71-436B-832C-4FDD91C91230}"/>
              </a:ext>
            </a:extLst>
          </p:cNvPr>
          <p:cNvSpPr>
            <a:spLocks xmlns:a="http://schemas.openxmlformats.org/drawingml/2006/main" noGrp="1"/>
          </p:cNvSpPr>
          <p:nvPr/>
        </p:nvSpPr>
        <p:spPr>
          <a:xfrm xmlns:a="http://schemas.openxmlformats.org/drawingml/2006/main">
            <a:off x="4358640" y="4096511"/>
            <a:ext cx="2511552" cy="658368"/>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262626"/>
                </a:solidFill>
              </a:rPr>
              <a:t>checks/*.py</a:t>
            </a:r>
          </a:p>
          <a:p xmlns:a="http://schemas.openxmlformats.org/drawingml/2006/main">
            <a:pPr algn="ctr">
              <a:buNone/>
            </a:pPr>
            <a:r>
              <a:rPr sz="900" b="0">
                <a:solidFill>
                  <a:srgbClr val="262626"/>
                </a:solidFill>
              </a:rPr>
              <a:t>검사 함수</a:t>
            </a:r>
          </a:p>
        </p:txBody>
      </p:sp>
      <p:sp>
        <p:nvSpPr>
          <p:cNvPr id="20" name="Rounded Rectangle 19">
            <a:extLst xmlns:a="http://schemas.openxmlformats.org/drawingml/2006/main">
              <a:ext uri="{FF2B5EF4-FFF2-40B4-BE49-F238E27FC236}">
                <a16:creationId xmlns:a16="http://schemas.microsoft.com/office/drawing/2014/main" id="{769792DB-36E2-4265-9DC5-CC82E63A8855}"/>
              </a:ext>
            </a:extLst>
          </p:cNvPr>
          <p:cNvSpPr>
            <a:spLocks xmlns:a="http://schemas.openxmlformats.org/drawingml/2006/main" noGrp="1"/>
          </p:cNvSpPr>
          <p:nvPr/>
        </p:nvSpPr>
        <p:spPr>
          <a:xfrm xmlns:a="http://schemas.openxmlformats.org/drawingml/2006/main">
            <a:off x="6961632" y="4096511"/>
            <a:ext cx="2511552" cy="658368"/>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buNone/>
            </a:pPr>
            <a:r>
              <a:rPr sz="1000" b="1">
                <a:solidFill>
                  <a:srgbClr val="262626"/>
                </a:solidFill>
              </a:rPr>
              <a:t>demos/</a:t>
            </a:r>
          </a:p>
          <a:p xmlns:a="http://schemas.openxmlformats.org/drawingml/2006/main">
            <a:pPr algn="ctr">
              <a:buNone/>
            </a:pPr>
            <a:r>
              <a:rPr sz="900" b="0">
                <a:solidFill>
                  <a:srgbClr val="262626"/>
                </a:solidFill>
              </a:rPr>
              <a:t>키 없는 데모</a:t>
            </a:r>
          </a:p>
        </p:txBody>
      </p:sp>
      <p:sp>
        <p:nvSpPr>
          <p:cNvPr id="21" name="TextBox 20">
            <a:extLst xmlns:a="http://schemas.openxmlformats.org/drawingml/2006/main">
              <a:ext uri="{FF2B5EF4-FFF2-40B4-BE49-F238E27FC236}">
                <a16:creationId xmlns:a16="http://schemas.microsoft.com/office/drawing/2014/main" id="{112E99FE-0420-4CC6-BF49-98D28A78AA55}"/>
              </a:ext>
            </a:extLst>
          </p:cNvPr>
          <p:cNvSpPr>
            <a:spLocks xmlns:a="http://schemas.openxmlformats.org/drawingml/2006/main" noGrp="1"/>
          </p:cNvSpPr>
          <p:nvPr/>
        </p:nvSpPr>
        <p:spPr>
          <a:xfrm xmlns:a="http://schemas.openxmlformats.org/drawingml/2006/main">
            <a:off x="429768" y="4882896"/>
            <a:ext cx="1234440" cy="65836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ctr">
            <a:spAutoFit/>
          </a:bodyPr>
          <a:lstStyle xmlns:a="http://schemas.openxmlformats.org/drawingml/2006/main"/>
          <a:p xmlns:a="http://schemas.openxmlformats.org/drawingml/2006/main">
            <a:r>
              <a:rPr sz="1100" b="1">
                <a:solidFill>
                  <a:srgbClr val="002060"/>
                </a:solidFill>
              </a:rPr>
              <a:t>외부 모델</a:t>
            </a:r>
          </a:p>
        </p:txBody>
      </p:sp>
      <p:sp>
        <p:nvSpPr>
          <p:cNvPr id="22" name="Rounded Rectangle 21">
            <a:extLst xmlns:a="http://schemas.openxmlformats.org/drawingml/2006/main">
              <a:ext uri="{FF2B5EF4-FFF2-40B4-BE49-F238E27FC236}">
                <a16:creationId xmlns:a16="http://schemas.microsoft.com/office/drawing/2014/main" id="{3845D1AF-0AF7-4279-B7C4-06079A024D87}"/>
              </a:ext>
            </a:extLst>
          </p:cNvPr>
          <p:cNvSpPr>
            <a:spLocks xmlns:a="http://schemas.openxmlformats.org/drawingml/2006/main" noGrp="1"/>
          </p:cNvSpPr>
          <p:nvPr/>
        </p:nvSpPr>
        <p:spPr>
          <a:xfrm xmlns:a="http://schemas.openxmlformats.org/drawingml/2006/main">
            <a:off x="1755648" y="4882896"/>
            <a:ext cx="2511552" cy="658368"/>
          </a:xfrm>
          <a:prstGeom xmlns:a="http://schemas.openxmlformats.org/drawingml/2006/main" prst="roundRect">
            <a:avLst>
              <a:gd name="adj" fmla="val 6000"/>
            </a:avLst>
          </a:prstGeom>
          <a:solidFill xmlns:a="http://schemas.openxmlformats.org/drawingml/2006/main">
            <a:srgbClr val="E4F0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spcBef>
                <a:spcPts val="0"/>
              </a:spcBef>
              <a:spcAft>
                <a:spcPts val="0"/>
              </a:spcAft>
            </a:pPr>
            <a:r>
              <a:rPr sz="1000" b="1">
                <a:solidFill>
                  <a:srgbClr val="262626"/>
                </a:solidFill>
                <a:latin typeface="맑은 고딕"/>
                <a:ea typeface="맑은 고딕"/>
                <a:cs typeface="맑은 고딕"/>
              </a:rPr>
              <a:t>앱·API 기본: gpt-5.6-luna</a:t>
            </a:r>
          </a:p>
        </p:txBody>
      </p:sp>
      <p:sp>
        <p:nvSpPr>
          <p:cNvPr id="23" name="Rounded Rectangle 22">
            <a:extLst xmlns:a="http://schemas.openxmlformats.org/drawingml/2006/main">
              <a:ext uri="{FF2B5EF4-FFF2-40B4-BE49-F238E27FC236}">
                <a16:creationId xmlns:a16="http://schemas.microsoft.com/office/drawing/2014/main" id="{A7BA85BD-6AE6-4049-88FE-DB239BB09E78}"/>
              </a:ext>
            </a:extLst>
          </p:cNvPr>
          <p:cNvSpPr>
            <a:spLocks xmlns:a="http://schemas.openxmlformats.org/drawingml/2006/main" noGrp="1"/>
          </p:cNvSpPr>
          <p:nvPr/>
        </p:nvSpPr>
        <p:spPr>
          <a:xfrm xmlns:a="http://schemas.openxmlformats.org/drawingml/2006/main">
            <a:off x="4358640" y="4882896"/>
            <a:ext cx="2511552" cy="658368"/>
          </a:xfrm>
          <a:prstGeom xmlns:a="http://schemas.openxmlformats.org/drawingml/2006/main" prst="roundRect">
            <a:avLst>
              <a:gd name="adj" fmla="val 6000"/>
            </a:avLst>
          </a:prstGeom>
          <a:solidFill xmlns:a="http://schemas.openxmlformats.org/drawingml/2006/main">
            <a:srgbClr val="E4F0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spcBef>
                <a:spcPts val="0"/>
              </a:spcBef>
              <a:spcAft>
                <a:spcPts val="0"/>
              </a:spcAft>
            </a:pPr>
            <a:r>
              <a:rPr sz="1000" b="1">
                <a:solidFill>
                  <a:srgbClr val="262626"/>
                </a:solidFill>
                <a:latin typeface="맑은 고딕"/>
                <a:ea typeface="맑은 고딕"/>
                <a:cs typeface="맑은 고딕"/>
              </a:rPr>
              <a:t>환경·호출 설정으로 변경 가능</a:t>
            </a:r>
          </a:p>
        </p:txBody>
      </p:sp>
      <p:sp>
        <p:nvSpPr>
          <p:cNvPr id="24" name="Rounded Rectangle 23">
            <a:extLst xmlns:a="http://schemas.openxmlformats.org/drawingml/2006/main">
              <a:ext uri="{FF2B5EF4-FFF2-40B4-BE49-F238E27FC236}">
                <a16:creationId xmlns:a16="http://schemas.microsoft.com/office/drawing/2014/main" id="{2B45BE4D-0509-4AAE-81D9-3ED3FCCECA2E}"/>
              </a:ext>
            </a:extLst>
          </p:cNvPr>
          <p:cNvSpPr>
            <a:spLocks xmlns:a="http://schemas.openxmlformats.org/drawingml/2006/main" noGrp="1"/>
          </p:cNvSpPr>
          <p:nvPr/>
        </p:nvSpPr>
        <p:spPr>
          <a:xfrm xmlns:a="http://schemas.openxmlformats.org/drawingml/2006/main">
            <a:off x="6961632" y="4882896"/>
            <a:ext cx="2511552" cy="658368"/>
          </a:xfrm>
          <a:prstGeom xmlns:a="http://schemas.openxmlformats.org/drawingml/2006/main" prst="roundRect">
            <a:avLst>
              <a:gd name="adj" fmla="val 6000"/>
            </a:avLst>
          </a:prstGeom>
          <a:solidFill xmlns:a="http://schemas.openxmlformats.org/drawingml/2006/main">
            <a:srgbClr val="E4F0E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41148" rIns="54864" bIns="41148" anchor="ctr"/>
          <a:lstStyle xmlns:a="http://schemas.openxmlformats.org/drawingml/2006/main"/>
          <a:p xmlns:a="http://schemas.openxmlformats.org/drawingml/2006/main">
            <a:pPr algn="ctr">
              <a:spcBef>
                <a:spcPts val="0"/>
              </a:spcBef>
              <a:spcAft>
                <a:spcPts val="0"/>
              </a:spcAft>
            </a:pPr>
            <a:r>
              <a:rPr sz="1000" b="1">
                <a:solidFill>
                  <a:srgbClr val="262626"/>
                </a:solidFill>
                <a:latin typeface="맑은 고딕"/>
                <a:ea typeface="맑은 고딕"/>
                <a:cs typeface="맑은 고딕"/>
              </a:rPr>
              <a:t>입력·프롬프트·모델별 캐시</a:t>
            </a:r>
          </a:p>
        </p:txBody>
      </p:sp>
      <p:sp>
        <p:nvSpPr>
          <p:cNvPr id="25" name="Rounded Rectangle 24">
            <a:extLst xmlns:a="http://schemas.openxmlformats.org/drawingml/2006/main">
              <a:ext uri="{FF2B5EF4-FFF2-40B4-BE49-F238E27FC236}">
                <a16:creationId xmlns:a16="http://schemas.microsoft.com/office/drawing/2014/main" id="{0D998CE3-4EAD-4DE3-AE46-677C3AE4FB9A}"/>
              </a:ext>
            </a:extLst>
          </p:cNvPr>
          <p:cNvSpPr>
            <a:spLocks xmlns:a="http://schemas.openxmlformats.org/drawingml/2006/main" noGrp="1"/>
          </p:cNvSpPr>
          <p:nvPr/>
        </p:nvSpPr>
        <p:spPr>
          <a:xfrm xmlns:a="http://schemas.openxmlformats.org/drawingml/2006/main">
            <a:off x="429768" y="5715000"/>
            <a:ext cx="9043416" cy="50292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확장 조건  </a:t>
            </a:r>
            <a:r>
              <a:rPr sz="1050" b="0">
                <a:solidFill>
                  <a:srgbClr val="864027"/>
                </a:solidFill>
                <a:latin typeface="맑은 고딕"/>
                <a:ea typeface="맑은 고딕"/>
                <a:cs typeface="맑은 고딕"/>
              </a:rPr>
              <a:t>도메인 팩 등록과 화면 연결, 분야별 정확성 검증이 필요합니다. React 공개 전환과 배포처는 협의 예정입니다.</a:t>
            </a:r>
          </a:p>
        </p:txBody>
      </p:sp>
    </p:spTree>
    <p:extLst>
      <p:ext uri="{BB962C8B-B14F-4D97-AF65-F5344CB8AC3E}">
        <p14:creationId xmlns:p14="http://schemas.microsoft.com/office/powerpoint/2010/main" val="1127201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4E137FF0-45F5-4C84-A203-18EE68E215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2. 수행 범위</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388657AE-30A1-5A7A-6A7F-315D84436430}" type="slidenum">
              <a:rPr b="0">
                <a:solidFill>
                  <a:srgbClr val="000000"/>
                </a:solidFill>
                <a:latin typeface="맑은 고딕"/>
                <a:ea typeface="맑은 고딕"/>
                <a:cs typeface="맑은 고딕"/>
              </a:rPr>
              <a:t>9</a:t>
            </a:fld>
            <a:endParaRPr/>
          </a:p>
        </p:txBody>
      </p:sp>
      <p:sp>
        <p:nvSpPr>
          <p:cNvPr id="5" name="TextBox 4">
            <a:extLst xmlns:a="http://schemas.openxmlformats.org/drawingml/2006/main">
              <a:ext uri="{FF2B5EF4-FFF2-40B4-BE49-F238E27FC236}">
                <a16:creationId xmlns:a16="http://schemas.microsoft.com/office/drawing/2014/main" id="{D06817A9-F37E-48E0-8811-B412626F4CCB}"/>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2-3. 기능 요구사항</a:t>
            </a:r>
          </a:p>
        </p:txBody>
      </p:sp>
      <p:sp>
        <p:nvSpPr>
          <p:cNvPr id="6" name="TextBox 5">
            <a:extLst xmlns:a="http://schemas.openxmlformats.org/drawingml/2006/main">
              <a:ext uri="{FF2B5EF4-FFF2-40B4-BE49-F238E27FC236}">
                <a16:creationId xmlns:a16="http://schemas.microsoft.com/office/drawing/2014/main" id="{73E3702E-F463-414C-B73D-F21524356202}"/>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현재 선택·조립 흐름과 선택 기능을 유지하고, 저장·반복 실행을 다음 제품 단계로 연결합니다</a:t>
            </a:r>
          </a:p>
        </p:txBody>
      </p:sp>
      <p:graphicFrame>
        <p:nvGraphicFramePr>
          <p:cNvPr id="14" name="Table 6"/>
          <p:cNvGraphicFramePr/>
          <p:nvPr/>
        </p:nvGraphicFramePr>
        <p:xfrm>
          <a:off xmlns:a="http://schemas.openxmlformats.org/drawingml/2006/main" x="429768" y="1691640"/>
          <a:ext xmlns:a="http://schemas.openxmlformats.org/drawingml/2006/main" cx="9043416" cy="4023360"/>
        </p:xfrm>
        <a:graphic xmlns:a="http://schemas.openxmlformats.org/drawingml/2006/main">
          <a:graphicData uri="http://schemas.openxmlformats.org/drawingml/2006/table">
            <a:tbl>
              <a:tblPr firstRow="1">
                <a:tableStyleId>{5C22544A-7EE6-4342-B048-85BDC9FD1C3A}</a:tableStyleId>
              </a:tblPr>
              <a:tblGrid>
                <a:gridCol w="786384"/>
                <a:gridCol w="2064258"/>
                <a:gridCol w="4718304"/>
                <a:gridCol w="1474470"/>
              </a:tblGrid>
              <a:tr h="365760">
                <a:tc>
                  <a:txBody>
                    <a:bodyPr wrap="square">
                      <a:noAutofit/>
                    </a:bodyPr>
                    <a:lstStyle/>
                    <a:p>
                      <a:r>
                        <a:rPr sz="1000" b="1">
                          <a:solidFill>
                            <a:srgbClr val="FFFFFF"/>
                          </a:solidFill>
                          <a:latin typeface="맑은 고딕"/>
                          <a:ea typeface="맑은 고딕"/>
                          <a:cs typeface="맑은 고딕"/>
                        </a:rPr>
                        <a:t>ID</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기능</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내용</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상태</a:t>
                      </a:r>
                    </a:p>
                  </a:txBody>
                  <a:tcPr marL="64008" marR="64008" marT="32004" marB="32004" anchor="ctr">
                    <a:solidFill>
                      <a:srgbClr val="002060"/>
                    </a:solidFill>
                  </a:tcPr>
                </a:tc>
              </a:tr>
              <a:tr h="365760">
                <a:tc>
                  <a:txBody>
                    <a:bodyPr wrap="square">
                      <a:noAutofit/>
                    </a:bodyPr>
                    <a:lstStyle/>
                    <a:p>
                      <a:r>
                        <a:rPr sz="1000" b="1">
                          <a:solidFill>
                            <a:srgbClr val="262626"/>
                          </a:solidFill>
                          <a:latin typeface="맑은 고딕"/>
                          <a:ea typeface="맑은 고딕"/>
                          <a:cs typeface="맑은 고딕"/>
                        </a:rPr>
                        <a:t>FR-01</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도메인 로드·검증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YAML 축·값·지시문 형식 검증</a:t>
                      </a:r>
                    </a:p>
                  </a:txBody>
                  <a:tcPr marL="64008" marR="64008" marT="32004" marB="32004" anchor="ctr">
                    <a:solidFill>
                      <a:srgbClr val="FFFFFF"/>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FFFFF"/>
                    </a:solidFill>
                  </a:tcPr>
                </a:tc>
              </a:tr>
              <a:tr h="365760">
                <a:tc>
                  <a:txBody>
                    <a:bodyPr wrap="square">
                      <a:noAutofit/>
                    </a:bodyPr>
                    <a:lstStyle/>
                    <a:p>
                      <a:r>
                        <a:rPr sz="1000" b="1">
                          <a:solidFill>
                            <a:srgbClr val="262626"/>
                          </a:solidFill>
                          <a:latin typeface="맑은 고딕"/>
                          <a:ea typeface="맑은 고딕"/>
                          <a:cs typeface="맑은 고딕"/>
                        </a:rPr>
                        <a:t>FR-02</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후보 생성</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프롬프트 조립, API 호출, 캐시·동시 생성</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3F4F7"/>
                    </a:solidFill>
                  </a:tcPr>
                </a:tc>
              </a:tr>
              <a:tr h="365760">
                <a:tc>
                  <a:txBody>
                    <a:bodyPr wrap="square">
                      <a:noAutofit/>
                    </a:bodyPr>
                    <a:lstStyle/>
                    <a:p>
                      <a:r>
                        <a:rPr sz="1000" b="1">
                          <a:solidFill>
                            <a:srgbClr val="262626"/>
                          </a:solidFill>
                          <a:latin typeface="맑은 고딕"/>
                          <a:ea typeface="맑은 고딕"/>
                          <a:cs typeface="맑은 고딕"/>
                        </a:rPr>
                        <a:t>FR-03</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질의 선택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미질문 축값 쌍 우선, 전체 소진 시 반복 허용</a:t>
                      </a:r>
                    </a:p>
                  </a:txBody>
                  <a:tcPr marL="64008" marR="64008" marT="32004" marB="32004" anchor="ctr">
                    <a:solidFill>
                      <a:srgbClr val="FFFFFF"/>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FFFFF"/>
                    </a:solidFill>
                  </a:tcPr>
                </a:tc>
              </a:tr>
              <a:tr h="365760">
                <a:tc>
                  <a:txBody>
                    <a:bodyPr wrap="square">
                      <a:noAutofit/>
                    </a:bodyPr>
                    <a:lstStyle/>
                    <a:p>
                      <a:r>
                        <a:rPr sz="1000" b="1">
                          <a:solidFill>
                            <a:srgbClr val="262626"/>
                          </a:solidFill>
                          <a:latin typeface="맑은 고딕"/>
                          <a:ea typeface="맑은 고딕"/>
                          <a:cs typeface="맑은 고딕"/>
                        </a:rPr>
                        <a:t>FR-04</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선호 추정</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선택 이력으로 축별 선호값 추정</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3F4F7"/>
                    </a:solidFill>
                  </a:tcPr>
                </a:tc>
              </a:tr>
              <a:tr h="365760">
                <a:tc>
                  <a:txBody>
                    <a:bodyPr wrap="square">
                      <a:noAutofit/>
                    </a:bodyPr>
                    <a:lstStyle/>
                    <a:p>
                      <a:r>
                        <a:rPr sz="1000" b="1">
                          <a:solidFill>
                            <a:srgbClr val="262626"/>
                          </a:solidFill>
                          <a:latin typeface="맑은 고딕"/>
                          <a:ea typeface="맑은 고딕"/>
                          <a:cs typeface="맑은 고딕"/>
                        </a:rPr>
                        <a:t>FR-05</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프롬프트 조립</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역할·선호·제약·출력 형식 결합</a:t>
                      </a:r>
                    </a:p>
                  </a:txBody>
                  <a:tcPr marL="64008" marR="64008" marT="32004" marB="32004" anchor="ctr">
                    <a:solidFill>
                      <a:srgbClr val="FFFFFF"/>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FFFFF"/>
                    </a:solidFill>
                  </a:tcPr>
                </a:tc>
              </a:tr>
              <a:tr h="365760">
                <a:tc>
                  <a:txBody>
                    <a:bodyPr wrap="square">
                      <a:noAutofit/>
                    </a:bodyPr>
                    <a:lstStyle/>
                    <a:p>
                      <a:r>
                        <a:rPr sz="1000" b="1">
                          <a:solidFill>
                            <a:srgbClr val="262626"/>
                          </a:solidFill>
                          <a:latin typeface="맑은 고딕"/>
                          <a:ea typeface="맑은 고딕"/>
                          <a:cs typeface="맑은 고딕"/>
                        </a:rPr>
                        <a:t>FR-06</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GEPA 최적화</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전후 평가, 원문 누수 후보 제거</a:t>
                      </a:r>
                    </a:p>
                  </a:txBody>
                  <a:tcPr marL="64008" marR="64008" marT="32004" marB="32004" anchor="ctr">
                    <a:solidFill>
                      <a:srgbClr val="F3F4F7"/>
                    </a:solidFill>
                  </a:tcPr>
                </a:tc>
                <a:tc>
                  <a:txBody>
                    <a:bodyPr wrap="square">
                      <a:noAutofit/>
                    </a:bodyPr>
                    <a:lstStyle/>
                    <a:p>
                      <a:r>
                        <a:rPr sz="1000" b="1">
                          <a:solidFill>
                            <a:srgbClr val="D04A02"/>
                          </a:solidFill>
                          <a:latin typeface="맑은 고딕"/>
                          <a:ea typeface="맑은 고딕"/>
                          <a:cs typeface="맑은 고딕"/>
                        </a:rPr>
                        <a:t>효과 검증</a:t>
                      </a:r>
                    </a:p>
                  </a:txBody>
                  <a:tcPr marL="64008" marR="64008" marT="32004" marB="32004" anchor="ctr">
                    <a:solidFill>
                      <a:srgbClr val="F3F4F7"/>
                    </a:solidFill>
                  </a:tcPr>
                </a:tc>
              </a:tr>
              <a:tr h="365760">
                <a:tc>
                  <a:txBody>
                    <a:bodyPr wrap="square">
                      <a:noAutofit/>
                    </a:bodyPr>
                    <a:lstStyle/>
                    <a:p>
                      <a:r>
                        <a:rPr sz="1000" b="1">
                          <a:solidFill>
                            <a:srgbClr val="262626"/>
                          </a:solidFill>
                          <a:latin typeface="맑은 고딕"/>
                          <a:ea typeface="맑은 고딕"/>
                          <a:cs typeface="맑은 고딕"/>
                        </a:rPr>
                        <a:t>FR-07</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새 입력 시험 적용</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기본 지침과 개인화 지침 결과 비교</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연결 확인</a:t>
                      </a:r>
                    </a:p>
                  </a:txBody>
                  <a:tcPr marL="64008" marR="64008" marT="32004" marB="32004" anchor="ctr">
                    <a:solidFill>
                      <a:srgbClr val="FFFFFF"/>
                    </a:solidFill>
                  </a:tcPr>
                </a:tc>
              </a:tr>
              <a:tr h="365760">
                <a:tc>
                  <a:txBody>
                    <a:bodyPr wrap="square">
                      <a:noAutofit/>
                    </a:bodyPr>
                    <a:lstStyle/>
                    <a:p>
                      <a:r>
                        <a:rPr sz="1000" b="1">
                          <a:solidFill>
                            <a:srgbClr val="262626"/>
                          </a:solidFill>
                          <a:latin typeface="맑은 고딕"/>
                          <a:ea typeface="맑은 고딕"/>
                          <a:cs typeface="맑은 고딕"/>
                        </a:rPr>
                        <a:t>FR-08</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프롬프트 점검·재작성</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구조 체크리스트와 LLM 재작성, GEPA와 별도</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3F4F7"/>
                    </a:solidFill>
                  </a:tcPr>
                </a:tc>
              </a:tr>
              <a:tr h="365760">
                <a:tc>
                  <a:txBody>
                    <a:bodyPr wrap="square">
                      <a:noAutofit/>
                    </a:bodyPr>
                    <a:lstStyle/>
                    <a:p>
                      <a:r>
                        <a:rPr sz="1000" b="1">
                          <a:solidFill>
                            <a:srgbClr val="262626"/>
                          </a:solidFill>
                          <a:latin typeface="맑은 고딕"/>
                          <a:ea typeface="맑은 고딕"/>
                          <a:cs typeface="맑은 고딕"/>
                        </a:rPr>
                        <a:t>FR-09</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저장·보관함·재실행</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개인 프롬프트를 저장해 새 입력에 적용</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계획</a:t>
                      </a:r>
                    </a:p>
                  </a:txBody>
                  <a:tcPr marL="64008" marR="64008" marT="32004" marB="32004" anchor="ctr">
                    <a:solidFill>
                      <a:srgbClr val="FFFFFF"/>
                    </a:solidFill>
                  </a:tcPr>
                </a:tc>
              </a:tr>
              <a:tr h="365760">
                <a:tc>
                  <a:txBody>
                    <a:bodyPr wrap="square">
                      <a:noAutofit/>
                    </a:bodyPr>
                    <a:lstStyle/>
                    <a:p>
                      <a:r>
                        <a:rPr sz="1000" b="1">
                          <a:solidFill>
                            <a:srgbClr val="262626"/>
                          </a:solidFill>
                          <a:latin typeface="맑은 고딕"/>
                          <a:ea typeface="맑은 고딕"/>
                          <a:cs typeface="맑은 고딕"/>
                        </a:rPr>
                        <a:t>FR-10</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데모·템플릿 탐색</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키 없는 데모 유지, 추천 템플릿 연결</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부분 구현</a:t>
                      </a:r>
                    </a:p>
                  </a:txBody>
                  <a:tcPr marL="64008" marR="64008" marT="32004" marB="32004" anchor="ctr">
                    <a:solidFill>
                      <a:srgbClr val="F3F4F7"/>
                    </a:solidFill>
                  </a:tcPr>
                </a:tc>
              </a:tr>
            </a:tbl>
          </a:graphicData>
        </a:graphic>
      </p:graphicFrame>
      <p:sp>
        <p:nvSpPr>
          <p:cNvPr id="8" name="TextBox 7">
            <a:extLst xmlns:a="http://schemas.openxmlformats.org/drawingml/2006/main">
              <a:ext uri="{FF2B5EF4-FFF2-40B4-BE49-F238E27FC236}">
                <a16:creationId xmlns:a16="http://schemas.microsoft.com/office/drawing/2014/main" id="{614AD435-DEFD-45FE-89E8-6142B21C9850}"/>
              </a:ext>
            </a:extLst>
          </p:cNvPr>
          <p:cNvSpPr>
            <a:spLocks xmlns:a="http://schemas.openxmlformats.org/drawingml/2006/main" noGrp="1"/>
          </p:cNvSpPr>
          <p:nvPr/>
        </p:nvSpPr>
        <p:spPr>
          <a:xfrm xmlns:a="http://schemas.openxmlformats.org/drawingml/2006/main">
            <a:off x="429768" y="5852160"/>
            <a:ext cx="9043416" cy="36576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950" b="0">
                <a:solidFill>
                  <a:srgbClr val="666666"/>
                </a:solidFill>
                <a:latin typeface="맑은 고딕"/>
                <a:ea typeface="맑은 고딕"/>
                <a:cs typeface="맑은 고딕"/>
              </a:rPr>
              <a:t>GEPA 최적화와 가져온 프롬프트 재작성은 별도 경로입니다. 새 입력 시험 적용은 공개 전환 전 화면별 흐름을 확인합니다.</a:t>
            </a:r>
          </a:p>
        </p:txBody>
      </p:sp>
    </p:spTree>
    <p:extLst>
      <p:ext uri="{BB962C8B-B14F-4D97-AF65-F5344CB8AC3E}">
        <p14:creationId xmlns:p14="http://schemas.microsoft.com/office/powerpoint/2010/main" val="47785910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409AEC74-4B32-42E1-8802-897776857EA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2. 수행 범위</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DB7BEEEC-A170-5376-2B6E-CB54687B0CB1}" type="slidenum">
              <a:rPr b="0">
                <a:solidFill>
                  <a:srgbClr val="000000"/>
                </a:solidFill>
                <a:latin typeface="맑은 고딕"/>
                <a:ea typeface="맑은 고딕"/>
                <a:cs typeface="맑은 고딕"/>
              </a:rPr>
              <a:t>10</a:t>
            </a:fld>
            <a:endParaRPr/>
          </a:p>
        </p:txBody>
      </p:sp>
      <p:sp>
        <p:nvSpPr>
          <p:cNvPr id="5" name="TextBox 4">
            <a:extLst xmlns:a="http://schemas.openxmlformats.org/drawingml/2006/main">
              <a:ext uri="{FF2B5EF4-FFF2-40B4-BE49-F238E27FC236}">
                <a16:creationId xmlns:a16="http://schemas.microsoft.com/office/drawing/2014/main" id="{59AC5F3F-8826-4DF5-B0C1-74EA1EB13F22}"/>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2-4. 비기능 요구사항</a:t>
            </a:r>
          </a:p>
        </p:txBody>
      </p:sp>
      <p:sp>
        <p:nvSpPr>
          <p:cNvPr id="6" name="TextBox 5">
            <a:extLst xmlns:a="http://schemas.openxmlformats.org/drawingml/2006/main">
              <a:ext uri="{FF2B5EF4-FFF2-40B4-BE49-F238E27FC236}">
                <a16:creationId xmlns:a16="http://schemas.microsoft.com/office/drawing/2014/main" id="{89C31B52-A1F0-4F88-995D-A3789F0FC005}"/>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비용·대기 시간·데이터 처리 요구사항을 경로별로 확인하고 공개 운영 기준을 정합니다</a:t>
            </a:r>
          </a:p>
        </p:txBody>
      </p:sp>
      <p:graphicFrame>
        <p:nvGraphicFramePr>
          <p:cNvPr id="12" name="Table 6"/>
          <p:cNvGraphicFramePr/>
          <p:nvPr/>
        </p:nvGraphicFramePr>
        <p:xfrm>
          <a:off xmlns:a="http://schemas.openxmlformats.org/drawingml/2006/main" x="429768" y="1691640"/>
          <a:ext xmlns:a="http://schemas.openxmlformats.org/drawingml/2006/main" cx="9043414" cy="3803904"/>
        </p:xfrm>
        <a:graphic xmlns:a="http://schemas.openxmlformats.org/drawingml/2006/main">
          <a:graphicData uri="http://schemas.openxmlformats.org/drawingml/2006/table">
            <a:tbl>
              <a:tblPr firstRow="1">
                <a:tableStyleId>{5C22544A-7EE6-4342-B048-85BDC9FD1C3A}</a:tableStyleId>
              </a:tblPr>
              <a:tblGrid>
                <a:gridCol w="951938"/>
                <a:gridCol w="3141397"/>
                <a:gridCol w="3902947"/>
                <a:gridCol w="1047132"/>
              </a:tblGrid>
              <a:tr h="475488">
                <a:tc>
                  <a:txBody>
                    <a:bodyPr wrap="square">
                      <a:noAutofit/>
                    </a:bodyPr>
                    <a:lstStyle/>
                    <a:p>
                      <a:r>
                        <a:rPr sz="1000" b="1">
                          <a:solidFill>
                            <a:srgbClr val="FFFFFF"/>
                          </a:solidFill>
                          <a:latin typeface="맑은 고딕"/>
                          <a:ea typeface="맑은 고딕"/>
                          <a:cs typeface="맑은 고딕"/>
                        </a:rPr>
                        <a:t>분류</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요구사항</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현재 적용 범위·다음 검증</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상태</a:t>
                      </a:r>
                    </a:p>
                  </a:txBody>
                  <a:tcPr marL="64008" marR="64008" marT="32004" marB="32004" anchor="ctr">
                    <a:solidFill>
                      <a:srgbClr val="002060"/>
                    </a:solidFill>
                  </a:tcPr>
                </a:tc>
              </a:tr>
              <a:tr h="475488">
                <a:tc>
                  <a:txBody>
                    <a:bodyPr wrap="square">
                      <a:noAutofit/>
                    </a:bodyPr>
                    <a:lstStyle/>
                    <a:p>
                      <a:r>
                        <a:rPr sz="1000" b="1">
                          <a:solidFill>
                            <a:srgbClr val="262626"/>
                          </a:solidFill>
                          <a:latin typeface="맑은 고딕"/>
                          <a:ea typeface="맑은 고딕"/>
                          <a:cs typeface="맑은 고딕"/>
                        </a:rPr>
                        <a:t>보안</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키 관리와 오류 원문 비노출</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서버에서 키 사용, 사용자 화면에는 오류 종류 표시</a:t>
                      </a:r>
                    </a:p>
                  </a:txBody>
                  <a:tcPr marL="64008" marR="64008" marT="32004" marB="32004" anchor="ctr">
                    <a:solidFill>
                      <a:srgbClr val="FFFFFF"/>
                    </a:solidFill>
                  </a:tcPr>
                </a:tc>
                <a:tc>
                  <a:txBody>
                    <a:bodyPr wrap="square">
                      <a:noAutofit/>
                    </a:bodyPr>
                    <a:lstStyle/>
                    <a:p>
                      <a:r>
                        <a:rPr sz="1000" b="1">
                          <a:solidFill>
                            <a:srgbClr val="155B2D"/>
                          </a:solidFill>
                          <a:latin typeface="맑은 고딕"/>
                          <a:ea typeface="맑은 고딕"/>
                          <a:cs typeface="맑은 고딕"/>
                        </a:rPr>
                        <a:t>구현</a:t>
                      </a:r>
                    </a:p>
                  </a:txBody>
                  <a:tcPr marL="64008" marR="64008" marT="32004" marB="32004" anchor="ctr">
                    <a:solidFill>
                      <a:srgbClr val="FFFFFF"/>
                    </a:solidFill>
                  </a:tcPr>
                </a:tc>
              </a:tr>
              <a:tr h="475488">
                <a:tc>
                  <a:txBody>
                    <a:bodyPr wrap="square">
                      <a:noAutofit/>
                    </a:bodyPr>
                    <a:lstStyle/>
                    <a:p>
                      <a:r>
                        <a:rPr sz="1000" b="1">
                          <a:solidFill>
                            <a:srgbClr val="262626"/>
                          </a:solidFill>
                          <a:latin typeface="맑은 고딕"/>
                          <a:ea typeface="맑은 고딕"/>
                          <a:cs typeface="맑은 고딕"/>
                        </a:rPr>
                        <a:t>보안</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생성 코드 실행 격리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허용 멤버·자식 환경 제한, OS 격리와 별도</a:t>
                      </a:r>
                    </a:p>
                  </a:txBody>
                  <a:tcPr marL="64008" marR="64008" marT="32004" marB="32004" anchor="ctr">
                    <a:solidFill>
                      <a:srgbClr val="F3F4F7"/>
                    </a:solidFill>
                  </a:tcPr>
                </a:tc>
                <a:tc>
                  <a:txBody>
                    <a:bodyPr wrap="square">
                      <a:noAutofit/>
                    </a:bodyPr>
                    <a:lstStyle/>
                    <a:p>
                      <a:r>
                        <a:rPr sz="1000" b="1">
                          <a:solidFill>
                            <a:srgbClr val="002060"/>
                          </a:solidFill>
                          <a:latin typeface="맑은 고딕"/>
                          <a:ea typeface="맑은 고딕"/>
                          <a:cs typeface="맑은 고딕"/>
                        </a:rPr>
                        <a:t>제한적</a:t>
                      </a:r>
                    </a:p>
                  </a:txBody>
                  <a:tcPr marL="64008" marR="64008" marT="32004" marB="32004" anchor="ctr">
                    <a:solidFill>
                      <a:srgbClr val="F3F4F7"/>
                    </a:solidFill>
                  </a:tcPr>
                </a:tc>
              </a:tr>
              <a:tr h="475488">
                <a:tc>
                  <a:txBody>
                    <a:bodyPr wrap="square">
                      <a:noAutofit/>
                    </a:bodyPr>
                    <a:lstStyle/>
                    <a:p>
                      <a:r>
                        <a:rPr sz="1000" b="1">
                          <a:solidFill>
                            <a:srgbClr val="262626"/>
                          </a:solidFill>
                          <a:latin typeface="맑은 고딕"/>
                          <a:ea typeface="맑은 고딕"/>
                          <a:cs typeface="맑은 고딕"/>
                        </a:rPr>
                        <a:t>비용</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경로별 호출·토큰 상한</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메모리 카운터 적용 범위·초기화 조건 확인</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FFFFF"/>
                    </a:solidFill>
                  </a:tcPr>
                </a:tc>
              </a:tr>
              <a:tr h="475488">
                <a:tc>
                  <a:txBody>
                    <a:bodyPr wrap="square">
                      <a:noAutofit/>
                    </a:bodyPr>
                    <a:lstStyle/>
                    <a:p>
                      <a:r>
                        <a:rPr sz="1000" b="1">
                          <a:solidFill>
                            <a:srgbClr val="262626"/>
                          </a:solidFill>
                          <a:latin typeface="맑은 고딕"/>
                          <a:ea typeface="맑은 고딕"/>
                          <a:cs typeface="맑은 고딕"/>
                        </a:rPr>
                        <a:t>성능</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응답 시간과 타임아웃</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동시 생성·캐시·호출 제한, 전체 흐름 재측정</a:t>
                      </a:r>
                    </a:p>
                  </a:txBody>
                  <a:tcPr marL="64008" marR="64008" marT="32004" marB="32004" anchor="ctr">
                    <a:solidFill>
                      <a:srgbClr val="F3F4F7"/>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3F4F7"/>
                    </a:solidFill>
                  </a:tcPr>
                </a:tc>
              </a:tr>
              <a:tr h="475488">
                <a:tc>
                  <a:txBody>
                    <a:bodyPr wrap="square">
                      <a:noAutofit/>
                    </a:bodyPr>
                    <a:lstStyle/>
                    <a:p>
                      <a:r>
                        <a:rPr sz="1000" b="1">
                          <a:solidFill>
                            <a:srgbClr val="262626"/>
                          </a:solidFill>
                          <a:latin typeface="맑은 고딕"/>
                          <a:ea typeface="맑은 고딕"/>
                          <a:cs typeface="맑은 고딕"/>
                        </a:rPr>
                        <a:t>개인정보</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전송·보존·삭제 안내</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피드백 로그와 서버 생성 캐시를 구분</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정책 확정</a:t>
                      </a:r>
                    </a:p>
                  </a:txBody>
                  <a:tcPr marL="64008" marR="64008" marT="32004" marB="32004" anchor="ctr">
                    <a:solidFill>
                      <a:srgbClr val="FFFFFF"/>
                    </a:solidFill>
                  </a:tcPr>
                </a:tc>
              </a:tr>
              <a:tr h="475488">
                <a:tc>
                  <a:txBody>
                    <a:bodyPr wrap="square">
                      <a:noAutofit/>
                    </a:bodyPr>
                    <a:lstStyle/>
                    <a:p>
                      <a:r>
                        <a:rPr sz="1000" b="1">
                          <a:solidFill>
                            <a:srgbClr val="262626"/>
                          </a:solidFill>
                          <a:latin typeface="맑은 고딕"/>
                          <a:ea typeface="맑은 고딕"/>
                          <a:cs typeface="맑은 고딕"/>
                        </a:rPr>
                        <a:t>품질</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회귀 테스트와 화면 검사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push·PR의 테스트·프론트 빌드, 실제 흐름 확인</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자동 검사</a:t>
                      </a:r>
                    </a:p>
                  </a:txBody>
                  <a:tcPr marL="64008" marR="64008" marT="32004" marB="32004" anchor="ctr">
                    <a:solidFill>
                      <a:srgbClr val="F3F4F7"/>
                    </a:solidFill>
                  </a:tcPr>
                </a:tc>
              </a:tr>
              <a:tr h="475488">
                <a:tc>
                  <a:txBody>
                    <a:bodyPr wrap="square">
                      <a:noAutofit/>
                    </a:bodyPr>
                    <a:lstStyle/>
                    <a:p>
                      <a:r>
                        <a:rPr sz="1000" b="1">
                          <a:solidFill>
                            <a:srgbClr val="262626"/>
                          </a:solidFill>
                          <a:latin typeface="맑은 고딕"/>
                          <a:ea typeface="맑은 고딕"/>
                          <a:cs typeface="맑은 고딕"/>
                        </a:rPr>
                        <a:t>가용성</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공개 화면과 배포 감시</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기존 Streamlit 감시, React 공개 전환 계획</a:t>
                      </a:r>
                    </a:p>
                  </a:txBody>
                  <a:tcPr marL="64008" marR="64008" marT="32004" marB="32004" anchor="ctr">
                    <a:solidFill>
                      <a:srgbClr val="FFFFFF"/>
                    </a:solidFill>
                  </a:tcPr>
                </a:tc>
                <a:tc>
                  <a:txBody>
                    <a:bodyPr wrap="square">
                      <a:noAutofit/>
                    </a:bodyPr>
                    <a:lstStyle/>
                    <a:p>
                      <a:r>
                        <a:rPr sz="1000" b="1">
                          <a:solidFill>
                            <a:srgbClr val="155B2D"/>
                          </a:solidFill>
                          <a:latin typeface="맑은 고딕"/>
                          <a:ea typeface="맑은 고딕"/>
                          <a:cs typeface="맑은 고딕"/>
                        </a:rPr>
                        <a:t>부분 운영</a:t>
                      </a:r>
                    </a:p>
                  </a:txBody>
                  <a:tcPr marL="64008" marR="64008" marT="32004" marB="32004" anchor="ctr">
                    <a:solidFill>
                      <a:srgbClr val="FFFFFF"/>
                    </a:solidFill>
                  </a:tcPr>
                </a:tc>
              </a:tr>
            </a:tbl>
          </a:graphicData>
        </a:graphic>
      </p:graphicFrame>
    </p:spTree>
    <p:extLst>
      <p:ext uri="{BB962C8B-B14F-4D97-AF65-F5344CB8AC3E}">
        <p14:creationId xmlns:p14="http://schemas.microsoft.com/office/powerpoint/2010/main" val="12094981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DE2D3AFC-CF2E-481B-B43A-F1C9CF2AAF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2. 수행 범위</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30394428-F1DC-E5F6-DB0C-7DE31F3D8A23}" type="slidenum">
              <a:rPr b="0">
                <a:solidFill>
                  <a:srgbClr val="000000"/>
                </a:solidFill>
                <a:latin typeface="맑은 고딕"/>
                <a:ea typeface="맑은 고딕"/>
                <a:cs typeface="맑은 고딕"/>
              </a:rPr>
              <a:t>11</a:t>
            </a:fld>
            <a:endParaRPr/>
          </a:p>
        </p:txBody>
      </p:sp>
      <p:sp>
        <p:nvSpPr>
          <p:cNvPr id="5" name="TextBox 4">
            <a:extLst xmlns:a="http://schemas.openxmlformats.org/drawingml/2006/main">
              <a:ext uri="{FF2B5EF4-FFF2-40B4-BE49-F238E27FC236}">
                <a16:creationId xmlns:a16="http://schemas.microsoft.com/office/drawing/2014/main" id="{807BDF7F-A1C4-4BDD-8C6D-ACC0635014D3}"/>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2-5. 카테고리별 검증 수준</a:t>
            </a:r>
          </a:p>
        </p:txBody>
      </p:sp>
      <p:sp>
        <p:nvSpPr>
          <p:cNvPr id="6" name="TextBox 5">
            <a:extLst xmlns:a="http://schemas.openxmlformats.org/drawingml/2006/main">
              <a:ext uri="{FF2B5EF4-FFF2-40B4-BE49-F238E27FC236}">
                <a16:creationId xmlns:a16="http://schemas.microsoft.com/office/drawing/2014/main" id="{34D12ACA-9894-4A75-BEC5-9F5B4E0CA374}"/>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분야별로 확보한 근거가 다르므로 표현 개인화와 내용 정확성을 함께 검증합니다</a:t>
            </a:r>
          </a:p>
        </p:txBody>
      </p:sp>
      <p:graphicFrame>
        <p:nvGraphicFramePr>
          <p:cNvPr id="14" name="Table 6"/>
          <p:cNvGraphicFramePr/>
          <p:nvPr/>
        </p:nvGraphicFramePr>
        <p:xfrm>
          <a:off xmlns:a="http://schemas.openxmlformats.org/drawingml/2006/main" x="429768" y="1691640"/>
          <a:ext xmlns:a="http://schemas.openxmlformats.org/drawingml/2006/main" cx="9043414" cy="3657600"/>
        </p:xfrm>
        <a:graphic xmlns:a="http://schemas.openxmlformats.org/drawingml/2006/main">
          <a:graphicData uri="http://schemas.openxmlformats.org/drawingml/2006/table">
            <a:tbl>
              <a:tblPr firstRow="1">
                <a:tableStyleId>{5C22544A-7EE6-4342-B048-85BDC9FD1C3A}</a:tableStyleId>
              </a:tblPr>
              <a:tblGrid>
                <a:gridCol w="1539304"/>
                <a:gridCol w="4136881"/>
                <a:gridCol w="3367229"/>
              </a:tblGrid>
              <a:tr h="457200">
                <a:tc>
                  <a:txBody>
                    <a:bodyPr wrap="square">
                      <a:noAutofit/>
                    </a:bodyPr>
                    <a:lstStyle/>
                    <a:p>
                      <a:r>
                        <a:rPr sz="1000" b="1">
                          <a:solidFill>
                            <a:srgbClr val="FFFFFF"/>
                          </a:solidFill>
                          <a:latin typeface="맑은 고딕"/>
                          <a:ea typeface="맑은 고딕"/>
                          <a:cs typeface="맑은 고딕"/>
                        </a:rPr>
                        <a:t>카테고리</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현재 확보한 근거</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추가 검증·완료 기준</a:t>
                      </a:r>
                    </a:p>
                  </a:txBody>
                  <a:tcPr marL="64008" marR="64008" marT="32004" marB="32004" anchor="ctr">
                    <a:solidFill>
                      <a:srgbClr val="002060"/>
                    </a:solidFill>
                  </a:tcPr>
                </a:tc>
              </a:tr>
              <a:tr h="457200">
                <a:tc>
                  <a:txBody>
                    <a:bodyPr wrap="square">
                      <a:noAutofit/>
                    </a:bodyPr>
                    <a:lstStyle/>
                    <a:p>
                      <a:r>
                        <a:rPr sz="1000" b="1">
                          <a:solidFill>
                            <a:srgbClr val="262626"/>
                          </a:solidFill>
                          <a:latin typeface="맑은 고딕"/>
                          <a:ea typeface="맑은 고딕"/>
                          <a:cs typeface="맑은 고딕"/>
                        </a:rPr>
                        <a:t>영어 요약</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모의 복원, A/B/D·강한 비교군 (각 5문서)</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독립 문서 확대, 오류·누락 확인</a:t>
                      </a:r>
                    </a:p>
                  </a:txBody>
                  <a:tcPr marL="64008" marR="64008" marT="32004" marB="32004" anchor="ctr">
                    <a:solidFill>
                      <a:srgbClr val="FFFFFF"/>
                    </a:solidFill>
                  </a:tcPr>
                </a:tc>
              </a:tr>
              <a:tr h="457200">
                <a:tc>
                  <a:txBody>
                    <a:bodyPr wrap="square">
                      <a:noAutofit/>
                    </a:bodyPr>
                    <a:lstStyle/>
                    <a:p>
                      <a:r>
                        <a:rPr sz="1000" b="1">
                          <a:solidFill>
                            <a:srgbClr val="262626"/>
                          </a:solidFill>
                          <a:latin typeface="맑은 고딕"/>
                          <a:ea typeface="맑은 고딕"/>
                          <a:cs typeface="맑은 고딕"/>
                        </a:rPr>
                        <a:t>한국어 요약</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기능 연결과 두 조건 파일럿 도구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5~8명 참여자별 시간·블라인드 선호</a:t>
                      </a:r>
                    </a:p>
                  </a:txBody>
                  <a:tcPr marL="64008" marR="64008" marT="32004" marB="32004" anchor="ctr">
                    <a:solidFill>
                      <a:srgbClr val="F3F4F7"/>
                    </a:solidFill>
                  </a:tcPr>
                </a:tc>
              </a:tr>
              <a:tr h="457200">
                <a:tc>
                  <a:txBody>
                    <a:bodyPr wrap="square">
                      <a:noAutofit/>
                    </a:bodyPr>
                    <a:lstStyle/>
                    <a:p>
                      <a:r>
                        <a:rPr sz="1000" b="1">
                          <a:solidFill>
                            <a:srgbClr val="262626"/>
                          </a:solidFill>
                          <a:latin typeface="맑은 고딕"/>
                          <a:ea typeface="맑은 고딕"/>
                          <a:cs typeface="맑은 고딕"/>
                        </a:rPr>
                        <a:t>코딩 (React/TS)</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스타일 검사와 선택 루프 연결</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고정 과제의 빌드·기능 정확성</a:t>
                      </a:r>
                    </a:p>
                  </a:txBody>
                  <a:tcPr marL="64008" marR="64008" marT="32004" marB="32004" anchor="ctr">
                    <a:solidFill>
                      <a:srgbClr val="FFFFFF"/>
                    </a:solidFill>
                  </a:tcPr>
                </a:tc>
              </a:tr>
              <a:tr h="457200">
                <a:tc>
                  <a:txBody>
                    <a:bodyPr wrap="square">
                      <a:noAutofit/>
                    </a:bodyPr>
                    <a:lstStyle/>
                    <a:p>
                      <a:r>
                        <a:rPr sz="1000" b="1">
                          <a:solidFill>
                            <a:srgbClr val="262626"/>
                          </a:solidFill>
                          <a:latin typeface="맑은 고딕"/>
                          <a:ea typeface="맑은 고딕"/>
                          <a:cs typeface="맑은 고딕"/>
                        </a:rPr>
                        <a:t>고객 리뷰 (실험)</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Yelp 3,000건의 어휘 점수 관찰</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감정 적합성과 경험 내용 보존</a:t>
                      </a:r>
                    </a:p>
                  </a:txBody>
                  <a:tcPr marL="64008" marR="64008" marT="32004" marB="32004" anchor="ctr">
                    <a:solidFill>
                      <a:srgbClr val="F3F4F7"/>
                    </a:solidFill>
                  </a:tcPr>
                </a:tc>
              </a:tr>
              <a:tr h="457200">
                <a:tc>
                  <a:txBody>
                    <a:bodyPr wrap="square">
                      <a:noAutofit/>
                    </a:bodyPr>
                    <a:lstStyle/>
                    <a:p>
                      <a:r>
                        <a:rPr sz="1000" b="1">
                          <a:solidFill>
                            <a:srgbClr val="262626"/>
                          </a:solidFill>
                          <a:latin typeface="맑은 고딕"/>
                          <a:ea typeface="맑은 고딕"/>
                          <a:cs typeface="맑은 고딕"/>
                        </a:rPr>
                        <a:t>이메일 (실험)</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길이·격식·구조 검사 연결</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실제 사용 맥락의 사람 판정</a:t>
                      </a:r>
                    </a:p>
                  </a:txBody>
                  <a:tcPr marL="64008" marR="64008" marT="32004" marB="32004" anchor="ctr">
                    <a:solidFill>
                      <a:srgbClr val="FFFFFF"/>
                    </a:solidFill>
                  </a:tcPr>
                </a:tc>
              </a:tr>
              <a:tr h="457200">
                <a:tc>
                  <a:txBody>
                    <a:bodyPr wrap="square">
                      <a:noAutofit/>
                    </a:bodyPr>
                    <a:lstStyle/>
                    <a:p>
                      <a:r>
                        <a:rPr sz="1000" b="1">
                          <a:solidFill>
                            <a:srgbClr val="262626"/>
                          </a:solidFill>
                          <a:latin typeface="맑은 고딕"/>
                          <a:ea typeface="맑은 고딕"/>
                          <a:cs typeface="맑은 고딕"/>
                        </a:rPr>
                        <a:t>AWS 비용 보고</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detail_level·focus 축, 서비스별 비용 조회</a:t>
                      </a:r>
                    </a:p>
                  </a:txBody>
                  <a:tcPr marL="64008" marR="64008" marT="32004" marB="32004" anchor="ctr">
                    <a:solidFill>
                      <a:srgbClr val="FBE9DF"/>
                    </a:solidFill>
                  </a:tcPr>
                </a:tc>
                <a:tc>
                  <a:txBody>
                    <a:bodyPr wrap="square">
                      <a:noAutofit/>
                    </a:bodyPr>
                    <a:lstStyle/>
                    <a:p>
                      <a:r>
                        <a:rPr sz="1000" b="0">
                          <a:solidFill>
                            <a:srgbClr val="262626"/>
                          </a:solidFill>
                          <a:latin typeface="맑은 고딕"/>
                          <a:ea typeface="맑은 고딕"/>
                          <a:cs typeface="맑은 고딕"/>
                        </a:rPr>
                        <a:t>금액·통화·기간 일치, 근거 없는 주장 검사</a:t>
                      </a:r>
                    </a:p>
                  </a:txBody>
                  <a:tcPr marL="64008" marR="64008" marT="32004" marB="32004" anchor="ctr">
                    <a:solidFill>
                      <a:srgbClr val="FBE9DF"/>
                    </a:solidFill>
                  </a:tcPr>
                </a:tc>
              </a:tr>
              <a:tr h="457200">
                <a:tc>
                  <a:txBody>
                    <a:bodyPr wrap="square">
                      <a:noAutofit/>
                    </a:bodyPr>
                    <a:lstStyle/>
                    <a:p>
                      <a:r>
                        <a:rPr sz="1000" b="1">
                          <a:solidFill>
                            <a:srgbClr val="262626"/>
                          </a:solidFill>
                          <a:latin typeface="맑은 고딕"/>
                          <a:ea typeface="맑은 고딕"/>
                          <a:cs typeface="맑은 고딕"/>
                        </a:rPr>
                        <a:t>내 글 형식 (실험)</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저자 8명 형식 거리 0.308에서 0.146</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한국어 효과와 저자 본인 평가</a:t>
                      </a:r>
                    </a:p>
                  </a:txBody>
                  <a:tcPr marL="64008" marR="64008" marT="32004" marB="32004" anchor="ctr">
                    <a:solidFill>
                      <a:srgbClr val="FFFFFF"/>
                    </a:solidFill>
                  </a:tcPr>
                </a:tc>
              </a:tr>
            </a:tbl>
          </a:graphicData>
        </a:graphic>
      </p:graphicFrame>
      <p:sp>
        <p:nvSpPr>
          <p:cNvPr id="8" name="Rounded Rectangle 7">
            <a:extLst xmlns:a="http://schemas.openxmlformats.org/drawingml/2006/main">
              <a:ext uri="{FF2B5EF4-FFF2-40B4-BE49-F238E27FC236}">
                <a16:creationId xmlns:a16="http://schemas.microsoft.com/office/drawing/2014/main" id="{96D20589-4351-49EB-9F8B-CAFE79A722EE}"/>
              </a:ext>
            </a:extLst>
          </p:cNvPr>
          <p:cNvSpPr>
            <a:spLocks xmlns:a="http://schemas.openxmlformats.org/drawingml/2006/main" noGrp="1"/>
          </p:cNvSpPr>
          <p:nvPr/>
        </p:nvSpPr>
        <p:spPr>
          <a:xfrm xmlns:a="http://schemas.openxmlformats.org/drawingml/2006/main">
            <a:off x="429768" y="5532120"/>
            <a:ext cx="9043416" cy="64008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AWS 범위  </a:t>
            </a:r>
            <a:r>
              <a:rPr sz="1050" b="0">
                <a:solidFill>
                  <a:srgbClr val="864027"/>
                </a:solidFill>
                <a:latin typeface="맑은 고딕"/>
                <a:ea typeface="맑은 고딕"/>
                <a:cs typeface="맑은 고딕"/>
              </a:rPr>
              <a:t>서비스별 비용 현황을 상세도와 강조점에 맞춰 설명합니다. 유휴 리소스 판정과 절감액 보장은 추가 근거가 필요한 후속 범위입니다.</a:t>
            </a:r>
          </a:p>
        </p:txBody>
      </p:sp>
    </p:spTree>
    <p:extLst>
      <p:ext uri="{BB962C8B-B14F-4D97-AF65-F5344CB8AC3E}">
        <p14:creationId xmlns:p14="http://schemas.microsoft.com/office/powerpoint/2010/main" val="14575166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D9B4CA0-6476-4096-90CC-83D5B2D483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3. 수행 방안 및 일정</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4DB16885-0D3F-A391-B669-3211DB3B26E8}" type="slidenum">
              <a:rPr b="0">
                <a:solidFill>
                  <a:srgbClr val="000000"/>
                </a:solidFill>
                <a:latin typeface="맑은 고딕"/>
                <a:ea typeface="맑은 고딕"/>
                <a:cs typeface="맑은 고딕"/>
              </a:rPr>
              <a:t>12</a:t>
            </a:fld>
            <a:endParaRPr/>
          </a:p>
        </p:txBody>
      </p:sp>
      <p:sp>
        <p:nvSpPr>
          <p:cNvPr id="5" name="TextBox 4">
            <a:extLst xmlns:a="http://schemas.openxmlformats.org/drawingml/2006/main">
              <a:ext uri="{FF2B5EF4-FFF2-40B4-BE49-F238E27FC236}">
                <a16:creationId xmlns:a16="http://schemas.microsoft.com/office/drawing/2014/main" id="{2272DA47-C1B7-432C-8BED-183E4850D14A}"/>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3-1. 수행 방법론</a:t>
            </a:r>
          </a:p>
        </p:txBody>
      </p:sp>
      <p:sp>
        <p:nvSpPr>
          <p:cNvPr id="6" name="TextBox 5">
            <a:extLst xmlns:a="http://schemas.openxmlformats.org/drawingml/2006/main">
              <a:ext uri="{FF2B5EF4-FFF2-40B4-BE49-F238E27FC236}">
                <a16:creationId xmlns:a16="http://schemas.microsoft.com/office/drawing/2014/main" id="{CFE4669B-BAC0-44E9-95FA-AF939B75B352}"/>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가설과 측정 조건을 먼저 정하고, 별도 지표와 실패 사례까지 기록해 결과를 해석합니다</a:t>
            </a:r>
          </a:p>
        </p:txBody>
      </p:sp>
      <p:sp>
        <p:nvSpPr>
          <p:cNvPr id="7" name="Oval 6">
            <a:extLst xmlns:a="http://schemas.openxmlformats.org/drawingml/2006/main">
              <a:ext uri="{FF2B5EF4-FFF2-40B4-BE49-F238E27FC236}">
                <a16:creationId xmlns:a16="http://schemas.microsoft.com/office/drawing/2014/main" id="{E9E10A08-74D3-4CE6-AB3C-75D20097A5A8}"/>
              </a:ext>
            </a:extLst>
          </p:cNvPr>
          <p:cNvSpPr>
            <a:spLocks xmlns:a="http://schemas.openxmlformats.org/drawingml/2006/main" noGrp="1"/>
          </p:cNvSpPr>
          <p:nvPr/>
        </p:nvSpPr>
        <p:spPr>
          <a:xfrm xmlns:a="http://schemas.openxmlformats.org/drawingml/2006/main">
            <a:off x="1201293" y="1783080"/>
            <a:ext cx="512064" cy="512064"/>
          </a:xfrm>
          <a:prstGeom xmlns:a="http://schemas.openxmlformats.org/drawingml/2006/main" prst="ellipse">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400" b="1">
                <a:solidFill>
                  <a:srgbClr val="FFFFFF"/>
                </a:solidFill>
              </a:rPr>
              <a:t>1</a:t>
            </a:r>
          </a:p>
        </p:txBody>
      </p:sp>
      <p:sp>
        <p:nvSpPr>
          <p:cNvPr id="8" name="TextBox 7">
            <a:extLst xmlns:a="http://schemas.openxmlformats.org/drawingml/2006/main">
              <a:ext uri="{FF2B5EF4-FFF2-40B4-BE49-F238E27FC236}">
                <a16:creationId xmlns:a16="http://schemas.microsoft.com/office/drawing/2014/main" id="{9EC7B08C-4599-4F08-A21C-1C510D2FD4EF}"/>
              </a:ext>
            </a:extLst>
          </p:cNvPr>
          <p:cNvSpPr>
            <a:spLocks xmlns:a="http://schemas.openxmlformats.org/drawingml/2006/main" noGrp="1"/>
          </p:cNvSpPr>
          <p:nvPr/>
        </p:nvSpPr>
        <p:spPr>
          <a:xfrm xmlns:a="http://schemas.openxmlformats.org/drawingml/2006/main">
            <a:off x="429768" y="2377440"/>
            <a:ext cx="2055114" cy="73152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algn="ctr">
              <a:spcAft>
                <a:spcPts val="200"/>
              </a:spcAft>
              <a:buNone/>
            </a:pPr>
            <a:r>
              <a:rPr sz="1200" b="1">
                <a:solidFill>
                  <a:srgbClr val="002060"/>
                </a:solidFill>
              </a:rPr>
              <a:t>가설 수립</a:t>
            </a:r>
          </a:p>
          <a:p xmlns:a="http://schemas.openxmlformats.org/drawingml/2006/main">
            <a:pPr algn="ctr">
              <a:buNone/>
            </a:pPr>
            <a:r>
              <a:rPr sz="1000" b="0">
                <a:solidFill>
                  <a:srgbClr val="464646"/>
                </a:solidFill>
              </a:rPr>
              <a:t>무엇을 바꾸면 무엇이 좋아지는가</a:t>
            </a:r>
          </a:p>
        </p:txBody>
      </p:sp>
      <p:sp>
        <p:nvSpPr>
          <p:cNvPr id="9" name="Right Arrow 8">
            <a:extLst xmlns:a="http://schemas.openxmlformats.org/drawingml/2006/main">
              <a:ext uri="{FF2B5EF4-FFF2-40B4-BE49-F238E27FC236}">
                <a16:creationId xmlns:a16="http://schemas.microsoft.com/office/drawing/2014/main" id="{6E611627-07C5-42F4-ADF4-A0247CC88AC7}"/>
              </a:ext>
            </a:extLst>
          </p:cNvPr>
          <p:cNvSpPr>
            <a:spLocks xmlns:a="http://schemas.openxmlformats.org/drawingml/2006/main" noGrp="1"/>
          </p:cNvSpPr>
          <p:nvPr/>
        </p:nvSpPr>
        <p:spPr>
          <a:xfrm xmlns:a="http://schemas.openxmlformats.org/drawingml/2006/main">
            <a:off x="2521458" y="1920240"/>
            <a:ext cx="201168" cy="228600"/>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Oval 9">
            <a:extLst xmlns:a="http://schemas.openxmlformats.org/drawingml/2006/main">
              <a:ext uri="{FF2B5EF4-FFF2-40B4-BE49-F238E27FC236}">
                <a16:creationId xmlns:a16="http://schemas.microsoft.com/office/drawing/2014/main" id="{E14C8B56-9FC8-4D39-B893-8B60F77E52B8}"/>
              </a:ext>
            </a:extLst>
          </p:cNvPr>
          <p:cNvSpPr>
            <a:spLocks xmlns:a="http://schemas.openxmlformats.org/drawingml/2006/main" noGrp="1"/>
          </p:cNvSpPr>
          <p:nvPr/>
        </p:nvSpPr>
        <p:spPr>
          <a:xfrm xmlns:a="http://schemas.openxmlformats.org/drawingml/2006/main">
            <a:off x="3530727" y="1783080"/>
            <a:ext cx="512064" cy="512064"/>
          </a:xfrm>
          <a:prstGeom xmlns:a="http://schemas.openxmlformats.org/drawingml/2006/main" prst="ellipse">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400" b="1">
                <a:solidFill>
                  <a:srgbClr val="FFFFFF"/>
                </a:solidFill>
              </a:rPr>
              <a:t>2</a:t>
            </a:r>
          </a:p>
        </p:txBody>
      </p:sp>
      <p:sp>
        <p:nvSpPr>
          <p:cNvPr id="11" name="TextBox 10">
            <a:extLst xmlns:a="http://schemas.openxmlformats.org/drawingml/2006/main">
              <a:ext uri="{FF2B5EF4-FFF2-40B4-BE49-F238E27FC236}">
                <a16:creationId xmlns:a16="http://schemas.microsoft.com/office/drawing/2014/main" id="{329F0ED1-C334-4C88-8979-D7AC97D21B9D}"/>
              </a:ext>
            </a:extLst>
          </p:cNvPr>
          <p:cNvSpPr>
            <a:spLocks xmlns:a="http://schemas.openxmlformats.org/drawingml/2006/main" noGrp="1"/>
          </p:cNvSpPr>
          <p:nvPr/>
        </p:nvSpPr>
        <p:spPr>
          <a:xfrm xmlns:a="http://schemas.openxmlformats.org/drawingml/2006/main">
            <a:off x="2759202" y="2377440"/>
            <a:ext cx="2055114" cy="73152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algn="ctr">
              <a:spcAft>
                <a:spcPts val="200"/>
              </a:spcAft>
              <a:buNone/>
            </a:pPr>
            <a:r>
              <a:rPr sz="1200" b="1">
                <a:solidFill>
                  <a:srgbClr val="002060"/>
                </a:solidFill>
              </a:rPr>
              <a:t>코드로 측정</a:t>
            </a:r>
          </a:p>
          <a:p xmlns:a="http://schemas.openxmlformats.org/drawingml/2006/main">
            <a:pPr algn="ctr">
              <a:buNone/>
            </a:pPr>
            <a:r>
              <a:rPr sz="1000" b="0">
                <a:solidFill>
                  <a:srgbClr val="464646"/>
                </a:solidFill>
              </a:rPr>
              <a:t>LLM 판정은 최후 수단</a:t>
            </a:r>
          </a:p>
        </p:txBody>
      </p:sp>
      <p:sp>
        <p:nvSpPr>
          <p:cNvPr id="12" name="Right Arrow 11">
            <a:extLst xmlns:a="http://schemas.openxmlformats.org/drawingml/2006/main">
              <a:ext uri="{FF2B5EF4-FFF2-40B4-BE49-F238E27FC236}">
                <a16:creationId xmlns:a16="http://schemas.microsoft.com/office/drawing/2014/main" id="{499F5A47-9533-4481-9532-1542FD6387D3}"/>
              </a:ext>
            </a:extLst>
          </p:cNvPr>
          <p:cNvSpPr>
            <a:spLocks xmlns:a="http://schemas.openxmlformats.org/drawingml/2006/main" noGrp="1"/>
          </p:cNvSpPr>
          <p:nvPr/>
        </p:nvSpPr>
        <p:spPr>
          <a:xfrm xmlns:a="http://schemas.openxmlformats.org/drawingml/2006/main">
            <a:off x="4850892" y="1920240"/>
            <a:ext cx="201168" cy="228600"/>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Oval 12">
            <a:extLst xmlns:a="http://schemas.openxmlformats.org/drawingml/2006/main">
              <a:ext uri="{FF2B5EF4-FFF2-40B4-BE49-F238E27FC236}">
                <a16:creationId xmlns:a16="http://schemas.microsoft.com/office/drawing/2014/main" id="{9CCECD88-C59B-4525-B2A3-3D23657FF659}"/>
              </a:ext>
            </a:extLst>
          </p:cNvPr>
          <p:cNvSpPr>
            <a:spLocks xmlns:a="http://schemas.openxmlformats.org/drawingml/2006/main" noGrp="1"/>
          </p:cNvSpPr>
          <p:nvPr/>
        </p:nvSpPr>
        <p:spPr>
          <a:xfrm xmlns:a="http://schemas.openxmlformats.org/drawingml/2006/main">
            <a:off x="5860161" y="1783080"/>
            <a:ext cx="512064" cy="512064"/>
          </a:xfrm>
          <a:prstGeom xmlns:a="http://schemas.openxmlformats.org/drawingml/2006/main" prst="ellipse">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400" b="1">
                <a:solidFill>
                  <a:srgbClr val="FFFFFF"/>
                </a:solidFill>
              </a:rPr>
              <a:t>3</a:t>
            </a:r>
          </a:p>
        </p:txBody>
      </p:sp>
      <p:sp>
        <p:nvSpPr>
          <p:cNvPr id="14" name="TextBox 13">
            <a:extLst xmlns:a="http://schemas.openxmlformats.org/drawingml/2006/main">
              <a:ext uri="{FF2B5EF4-FFF2-40B4-BE49-F238E27FC236}">
                <a16:creationId xmlns:a16="http://schemas.microsoft.com/office/drawing/2014/main" id="{C09D4236-1BC2-4989-AB77-3BFDC781D48C}"/>
              </a:ext>
            </a:extLst>
          </p:cNvPr>
          <p:cNvSpPr>
            <a:spLocks xmlns:a="http://schemas.openxmlformats.org/drawingml/2006/main" noGrp="1"/>
          </p:cNvSpPr>
          <p:nvPr/>
        </p:nvSpPr>
        <p:spPr>
          <a:xfrm xmlns:a="http://schemas.openxmlformats.org/drawingml/2006/main">
            <a:off x="5088636" y="2377440"/>
            <a:ext cx="2055114" cy="73152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algn="ctr">
              <a:spcAft>
                <a:spcPts val="200"/>
              </a:spcAft>
              <a:buNone/>
            </a:pPr>
            <a:r>
              <a:rPr sz="1200" b="1">
                <a:solidFill>
                  <a:srgbClr val="002060"/>
                </a:solidFill>
              </a:rPr>
              <a:t>독립 지표로 교차 확인</a:t>
            </a:r>
          </a:p>
          <a:p xmlns:a="http://schemas.openxmlformats.org/drawingml/2006/main">
            <a:pPr algn="ctr">
              <a:buNone/>
            </a:pPr>
            <a:r>
              <a:rPr sz="1000" b="0">
                <a:solidFill>
                  <a:srgbClr val="464646"/>
                </a:solidFill>
              </a:rPr>
              <a:t>최적화 지표만으로 보고 금지</a:t>
            </a:r>
          </a:p>
        </p:txBody>
      </p:sp>
      <p:sp>
        <p:nvSpPr>
          <p:cNvPr id="15" name="Right Arrow 14">
            <a:extLst xmlns:a="http://schemas.openxmlformats.org/drawingml/2006/main">
              <a:ext uri="{FF2B5EF4-FFF2-40B4-BE49-F238E27FC236}">
                <a16:creationId xmlns:a16="http://schemas.microsoft.com/office/drawing/2014/main" id="{627230B0-22A8-4A18-96E1-4965030C7A17}"/>
              </a:ext>
            </a:extLst>
          </p:cNvPr>
          <p:cNvSpPr>
            <a:spLocks xmlns:a="http://schemas.openxmlformats.org/drawingml/2006/main" noGrp="1"/>
          </p:cNvSpPr>
          <p:nvPr/>
        </p:nvSpPr>
        <p:spPr>
          <a:xfrm xmlns:a="http://schemas.openxmlformats.org/drawingml/2006/main">
            <a:off x="7180326" y="1920240"/>
            <a:ext cx="201168" cy="228600"/>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C6DDB2FB-348E-4FEC-A747-FC174699B061}"/>
              </a:ext>
            </a:extLst>
          </p:cNvPr>
          <p:cNvSpPr>
            <a:spLocks xmlns:a="http://schemas.openxmlformats.org/drawingml/2006/main" noGrp="1"/>
          </p:cNvSpPr>
          <p:nvPr/>
        </p:nvSpPr>
        <p:spPr>
          <a:xfrm xmlns:a="http://schemas.openxmlformats.org/drawingml/2006/main">
            <a:off x="8189595" y="1783080"/>
            <a:ext cx="512064" cy="512064"/>
          </a:xfrm>
          <a:prstGeom xmlns:a="http://schemas.openxmlformats.org/drawingml/2006/main" prst="ellipse">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400" b="1">
                <a:solidFill>
                  <a:srgbClr val="FFFFFF"/>
                </a:solidFill>
              </a:rPr>
              <a:t>4</a:t>
            </a:r>
          </a:p>
        </p:txBody>
      </p:sp>
      <p:sp>
        <p:nvSpPr>
          <p:cNvPr id="17" name="TextBox 16">
            <a:extLst xmlns:a="http://schemas.openxmlformats.org/drawingml/2006/main">
              <a:ext uri="{FF2B5EF4-FFF2-40B4-BE49-F238E27FC236}">
                <a16:creationId xmlns:a16="http://schemas.microsoft.com/office/drawing/2014/main" id="{38B6536F-02AE-452D-AD1D-DF1634EBF4B6}"/>
              </a:ext>
            </a:extLst>
          </p:cNvPr>
          <p:cNvSpPr>
            <a:spLocks xmlns:a="http://schemas.openxmlformats.org/drawingml/2006/main" noGrp="1"/>
          </p:cNvSpPr>
          <p:nvPr/>
        </p:nvSpPr>
        <p:spPr>
          <a:xfrm xmlns:a="http://schemas.openxmlformats.org/drawingml/2006/main">
            <a:off x="7418070" y="2377440"/>
            <a:ext cx="2055114" cy="73152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algn="ctr">
              <a:spcAft>
                <a:spcPts val="200"/>
              </a:spcAft>
              <a:buNone/>
            </a:pPr>
            <a:r>
              <a:rPr sz="1200" b="1">
                <a:solidFill>
                  <a:srgbClr val="002060"/>
                </a:solidFill>
              </a:rPr>
              <a:t>경과 기록</a:t>
            </a:r>
          </a:p>
          <a:p xmlns:a="http://schemas.openxmlformats.org/drawingml/2006/main">
            <a:pPr algn="ctr">
              <a:buNone/>
            </a:pPr>
            <a:r>
              <a:rPr sz="1000" b="0">
                <a:solidFill>
                  <a:srgbClr val="464646"/>
                </a:solidFill>
              </a:rPr>
              <a:t>폐기한 결론도 문서에 남김</a:t>
            </a:r>
          </a:p>
        </p:txBody>
      </p:sp>
      <p:sp>
        <p:nvSpPr>
          <p:cNvPr id="18" name="Rounded Rectangle 17">
            <a:extLst xmlns:a="http://schemas.openxmlformats.org/drawingml/2006/main">
              <a:ext uri="{FF2B5EF4-FFF2-40B4-BE49-F238E27FC236}">
                <a16:creationId xmlns:a16="http://schemas.microsoft.com/office/drawing/2014/main" id="{371301B3-319E-4DD2-A601-B6796D0838B8}"/>
              </a:ext>
            </a:extLst>
          </p:cNvPr>
          <p:cNvSpPr>
            <a:spLocks xmlns:a="http://schemas.openxmlformats.org/drawingml/2006/main" noGrp="1"/>
          </p:cNvSpPr>
          <p:nvPr/>
        </p:nvSpPr>
        <p:spPr>
          <a:xfrm xmlns:a="http://schemas.openxmlformats.org/drawingml/2006/main">
            <a:off x="429768" y="3337560"/>
            <a:ext cx="4453128" cy="8686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300"/>
              </a:spcAft>
            </a:pPr>
            <a:r>
              <a:rPr sz="1100" b="1">
                <a:solidFill>
                  <a:srgbClr val="002060"/>
                </a:solidFill>
                <a:latin typeface="맑은 고딕"/>
                <a:ea typeface="맑은 고딕"/>
                <a:cs typeface="맑은 고딕"/>
              </a:rPr>
              <a:t>공통 엔진 재사용</a:t>
            </a:r>
          </a:p>
          <a:p xmlns:a="http://schemas.openxmlformats.org/drawingml/2006/main">
            <a:pPr algn="l">
              <a:spcBef>
                <a:spcPts val="0"/>
              </a:spcBef>
              <a:spcAft>
                <a:spcPts val="0"/>
              </a:spcAft>
            </a:pPr>
            <a:r>
              <a:rPr sz="1000" b="0">
                <a:solidFill>
                  <a:srgbClr val="262626"/>
                </a:solidFill>
                <a:latin typeface="맑은 고딕"/>
                <a:ea typeface="맑은 고딕"/>
                <a:cs typeface="맑은 고딕"/>
              </a:rPr>
              <a:t>축과 문구는 도메인 정의에서 읽고, 분야별 검증을 함께 수행</a:t>
            </a:r>
          </a:p>
        </p:txBody>
      </p:sp>
      <p:sp>
        <p:nvSpPr>
          <p:cNvPr id="19" name="Rounded Rectangle 18">
            <a:extLst xmlns:a="http://schemas.openxmlformats.org/drawingml/2006/main">
              <a:ext uri="{FF2B5EF4-FFF2-40B4-BE49-F238E27FC236}">
                <a16:creationId xmlns:a16="http://schemas.microsoft.com/office/drawing/2014/main" id="{209D6B7D-4449-4E75-B0B1-DBE8478E2D54}"/>
              </a:ext>
            </a:extLst>
          </p:cNvPr>
          <p:cNvSpPr>
            <a:spLocks xmlns:a="http://schemas.openxmlformats.org/drawingml/2006/main" noGrp="1"/>
          </p:cNvSpPr>
          <p:nvPr/>
        </p:nvSpPr>
        <p:spPr>
          <a:xfrm xmlns:a="http://schemas.openxmlformats.org/drawingml/2006/main">
            <a:off x="5020056" y="3337560"/>
            <a:ext cx="4453128" cy="8686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300"/>
              </a:spcAft>
            </a:pPr>
            <a:r>
              <a:rPr sz="1100" b="1">
                <a:solidFill>
                  <a:srgbClr val="002060"/>
                </a:solidFill>
                <a:latin typeface="맑은 고딕"/>
                <a:ea typeface="맑은 고딕"/>
                <a:cs typeface="맑은 고딕"/>
              </a:rPr>
              <a:t>조건이 같은 요청 캐싱</a:t>
            </a:r>
          </a:p>
          <a:p xmlns:a="http://schemas.openxmlformats.org/drawingml/2006/main">
            <a:pPr algn="l">
              <a:spcBef>
                <a:spcPts val="0"/>
              </a:spcBef>
              <a:spcAft>
                <a:spcPts val="0"/>
              </a:spcAft>
            </a:pPr>
            <a:r>
              <a:rPr sz="1000" b="0">
                <a:solidFill>
                  <a:srgbClr val="262626"/>
                </a:solidFill>
                <a:latin typeface="맑은 고딕"/>
                <a:ea typeface="맑은 고딕"/>
                <a:cs typeface="맑은 고딕"/>
              </a:rPr>
              <a:t>원문·프롬프트·모델 등 같은 조건의 결과를 재사용해 비용 관리</a:t>
            </a:r>
          </a:p>
        </p:txBody>
      </p:sp>
      <p:sp>
        <p:nvSpPr>
          <p:cNvPr id="20" name="Rounded Rectangle 19">
            <a:extLst xmlns:a="http://schemas.openxmlformats.org/drawingml/2006/main">
              <a:ext uri="{FF2B5EF4-FFF2-40B4-BE49-F238E27FC236}">
                <a16:creationId xmlns:a16="http://schemas.microsoft.com/office/drawing/2014/main" id="{70177C49-A479-4874-94B0-E1726791F5EB}"/>
              </a:ext>
            </a:extLst>
          </p:cNvPr>
          <p:cNvSpPr>
            <a:spLocks xmlns:a="http://schemas.openxmlformats.org/drawingml/2006/main" noGrp="1"/>
          </p:cNvSpPr>
          <p:nvPr/>
        </p:nvSpPr>
        <p:spPr>
          <a:xfrm xmlns:a="http://schemas.openxmlformats.org/drawingml/2006/main">
            <a:off x="429768" y="4325112"/>
            <a:ext cx="4453128" cy="8686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300"/>
              </a:spcAft>
            </a:pPr>
            <a:r>
              <a:rPr sz="1100" b="1">
                <a:solidFill>
                  <a:srgbClr val="002060"/>
                </a:solidFill>
                <a:latin typeface="맑은 고딕"/>
                <a:ea typeface="맑은 고딕"/>
                <a:cs typeface="맑은 고딕"/>
              </a:rPr>
              <a:t>작은 표본은 탐색 결과로 보고</a:t>
            </a:r>
          </a:p>
          <a:p xmlns:a="http://schemas.openxmlformats.org/drawingml/2006/main">
            <a:pPr algn="l">
              <a:spcBef>
                <a:spcPts val="0"/>
              </a:spcBef>
              <a:spcAft>
                <a:spcPts val="0"/>
              </a:spcAft>
            </a:pPr>
            <a:r>
              <a:rPr sz="1000" b="0">
                <a:solidFill>
                  <a:srgbClr val="262626"/>
                </a:solidFill>
                <a:latin typeface="맑은 고딕"/>
                <a:ea typeface="맑은 고딕"/>
                <a:cs typeface="맑은 고딕"/>
              </a:rPr>
              <a:t>강한 비교군 5문서 결과를 독립 문서에서 확대 검증</a:t>
            </a:r>
          </a:p>
        </p:txBody>
      </p:sp>
      <p:sp>
        <p:nvSpPr>
          <p:cNvPr id="21" name="Rounded Rectangle 20">
            <a:extLst xmlns:a="http://schemas.openxmlformats.org/drawingml/2006/main">
              <a:ext uri="{FF2B5EF4-FFF2-40B4-BE49-F238E27FC236}">
                <a16:creationId xmlns:a16="http://schemas.microsoft.com/office/drawing/2014/main" id="{C07D23DB-9E69-4E15-901E-1526D4F21DFC}"/>
              </a:ext>
            </a:extLst>
          </p:cNvPr>
          <p:cNvSpPr>
            <a:spLocks xmlns:a="http://schemas.openxmlformats.org/drawingml/2006/main" noGrp="1"/>
          </p:cNvSpPr>
          <p:nvPr/>
        </p:nvSpPr>
        <p:spPr>
          <a:xfrm xmlns:a="http://schemas.openxmlformats.org/drawingml/2006/main">
            <a:off x="5020056" y="4325112"/>
            <a:ext cx="4453128" cy="8686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300"/>
              </a:spcAft>
            </a:pPr>
            <a:r>
              <a:rPr sz="1100" b="1">
                <a:solidFill>
                  <a:srgbClr val="002060"/>
                </a:solidFill>
                <a:latin typeface="맑은 고딕"/>
                <a:ea typeface="맑은 고딕"/>
                <a:cs typeface="맑은 고딕"/>
              </a:rPr>
              <a:t>구현과 효과를 별도 확인</a:t>
            </a:r>
          </a:p>
          <a:p xmlns:a="http://schemas.openxmlformats.org/drawingml/2006/main">
            <a:pPr algn="l">
              <a:spcBef>
                <a:spcPts val="0"/>
              </a:spcBef>
              <a:spcAft>
                <a:spcPts val="0"/>
              </a:spcAft>
            </a:pPr>
            <a:r>
              <a:rPr sz="1000" b="0">
                <a:solidFill>
                  <a:srgbClr val="262626"/>
                </a:solidFill>
                <a:latin typeface="맑은 고딕"/>
                <a:ea typeface="맑은 고딕"/>
                <a:cs typeface="맑은 고딕"/>
              </a:rPr>
              <a:t>기능 연결, 내용 정확성, 사용자 부담을 각각 평가</a:t>
            </a:r>
          </a:p>
        </p:txBody>
      </p:sp>
      <p:sp>
        <p:nvSpPr>
          <p:cNvPr id="22" name="TextBox 21">
            <a:extLst xmlns:a="http://schemas.openxmlformats.org/drawingml/2006/main">
              <a:ext uri="{FF2B5EF4-FFF2-40B4-BE49-F238E27FC236}">
                <a16:creationId xmlns:a16="http://schemas.microsoft.com/office/drawing/2014/main" id="{2704A9EA-8A2A-40D6-B192-05257DE75DF1}"/>
              </a:ext>
            </a:extLst>
          </p:cNvPr>
          <p:cNvSpPr>
            <a:spLocks xmlns:a="http://schemas.openxmlformats.org/drawingml/2006/main" noGrp="1"/>
          </p:cNvSpPr>
          <p:nvPr/>
        </p:nvSpPr>
        <p:spPr>
          <a:xfrm xmlns:a="http://schemas.openxmlformats.org/drawingml/2006/main">
            <a:off x="429768" y="5440680"/>
            <a:ext cx="9043416" cy="54864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1000" b="0">
                <a:solidFill>
                  <a:srgbClr val="666666"/>
                </a:solidFill>
                <a:latin typeface="맑은 고딕"/>
                <a:ea typeface="맑은 고딕"/>
                <a:cs typeface="맑은 고딕"/>
              </a:rPr>
              <a:t>협업 계획: 작업 브랜치에서 개발하고 PR 리뷰와 자동 검사 후 통합합니다. 현재 발표 근거는 ui/ux 브랜치입니다.</a:t>
            </a:r>
          </a:p>
        </p:txBody>
      </p:sp>
    </p:spTree>
    <p:extLst>
      <p:ext uri="{BB962C8B-B14F-4D97-AF65-F5344CB8AC3E}">
        <p14:creationId xmlns:p14="http://schemas.microsoft.com/office/powerpoint/2010/main" val="125161963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5E3731A-BA99-44C5-B3CC-7ECCC08794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3. 수행 방안 및 일정</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2DD23107-4986-8758-3A93-3D74F35908CC}" type="slidenum">
              <a:rPr b="0">
                <a:solidFill>
                  <a:srgbClr val="000000"/>
                </a:solidFill>
                <a:latin typeface="맑은 고딕"/>
                <a:ea typeface="맑은 고딕"/>
                <a:cs typeface="맑은 고딕"/>
              </a:rPr>
              <a:t>13</a:t>
            </a:fld>
            <a:endParaRPr/>
          </a:p>
        </p:txBody>
      </p:sp>
      <p:sp>
        <p:nvSpPr>
          <p:cNvPr id="5" name="TextBox 4">
            <a:extLst xmlns:a="http://schemas.openxmlformats.org/drawingml/2006/main">
              <a:ext uri="{FF2B5EF4-FFF2-40B4-BE49-F238E27FC236}">
                <a16:creationId xmlns:a16="http://schemas.microsoft.com/office/drawing/2014/main" id="{542E34A0-F094-4501-B182-C1751F56F220}"/>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3-2. PoC 수행 결과 (확보된 근거)</a:t>
            </a:r>
          </a:p>
        </p:txBody>
      </p:sp>
      <p:sp>
        <p:nvSpPr>
          <p:cNvPr id="6" name="TextBox 5">
            <a:extLst xmlns:a="http://schemas.openxmlformats.org/drawingml/2006/main">
              <a:ext uri="{FF2B5EF4-FFF2-40B4-BE49-F238E27FC236}">
                <a16:creationId xmlns:a16="http://schemas.microsoft.com/office/drawing/2014/main" id="{B92BF24F-406F-4913-9B09-C1F8A488DB91}"/>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강한 직접 지침과 선택 기반 결과의 평균이 가까워, 다음 검증은 사용자 부담에 집중합니다</a:t>
            </a:r>
          </a:p>
        </p:txBody>
      </p:sp>
      <p:sp>
        <p:nvSpPr>
          <p:cNvPr id="7" name="Rounded Rectangle 6">
            <a:extLst xmlns:a="http://schemas.openxmlformats.org/drawingml/2006/main">
              <a:ext uri="{FF2B5EF4-FFF2-40B4-BE49-F238E27FC236}">
                <a16:creationId xmlns:a16="http://schemas.microsoft.com/office/drawing/2014/main" id="{8C06A219-DD69-453A-8D81-F4BDBB36022F}"/>
              </a:ext>
            </a:extLst>
          </p:cNvPr>
          <p:cNvSpPr>
            <a:spLocks xmlns:a="http://schemas.openxmlformats.org/drawingml/2006/main" noGrp="1"/>
          </p:cNvSpPr>
          <p:nvPr/>
        </p:nvSpPr>
        <p:spPr>
          <a:xfrm xmlns:a="http://schemas.openxmlformats.org/drawingml/2006/main">
            <a:off x="429768" y="1783080"/>
            <a:ext cx="2923032" cy="18288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400"/>
              </a:spcAft>
            </a:pPr>
            <a:r>
              <a:rPr sz="2400" b="1">
                <a:solidFill>
                  <a:srgbClr val="002060"/>
                </a:solidFill>
                <a:latin typeface="맑은 고딕"/>
                <a:ea typeface="맑은 고딕"/>
                <a:cs typeface="맑은 고딕"/>
              </a:rPr>
              <a:t>80%</a:t>
            </a:r>
          </a:p>
          <a:p xmlns:a="http://schemas.openxmlformats.org/drawingml/2006/main">
            <a:pPr algn="l">
              <a:spcBef>
                <a:spcPts val="0"/>
              </a:spcBef>
              <a:spcAft>
                <a:spcPts val="600"/>
              </a:spcAft>
            </a:pPr>
            <a:r>
              <a:rPr sz="1100" b="1">
                <a:solidFill>
                  <a:srgbClr val="262626"/>
                </a:solidFill>
                <a:latin typeface="맑은 고딕"/>
                <a:ea typeface="맑은 고딕"/>
                <a:cs typeface="맑은 고딕"/>
              </a:rPr>
              <a:t>과거 모의 선호 완전복원</a:t>
            </a:r>
          </a:p>
          <a:p xmlns:a="http://schemas.openxmlformats.org/drawingml/2006/main">
            <a:pPr algn="l">
              <a:spcBef>
                <a:spcPts val="0"/>
              </a:spcBef>
              <a:spcAft>
                <a:spcPts val="0"/>
              </a:spcAft>
            </a:pPr>
            <a:r>
              <a:rPr sz="950" b="0">
                <a:solidFill>
                  <a:srgbClr val="6E6E6E"/>
                </a:solidFill>
                <a:latin typeface="맑은 고딕"/>
                <a:ea typeface="맑은 고딕"/>
                <a:cs typeface="맑은 고딕"/>
              </a:rPr>
              <a:t>5문서×5시드의 특정 조건. 실제 사용자 정확도와 구분</a:t>
            </a:r>
          </a:p>
        </p:txBody>
      </p:sp>
      <p:sp>
        <p:nvSpPr>
          <p:cNvPr id="8" name="Rounded Rectangle 7">
            <a:extLst xmlns:a="http://schemas.openxmlformats.org/drawingml/2006/main">
              <a:ext uri="{FF2B5EF4-FFF2-40B4-BE49-F238E27FC236}">
                <a16:creationId xmlns:a16="http://schemas.microsoft.com/office/drawing/2014/main" id="{7C751F28-C1EF-42F7-B2F5-B6682D6FDBC5}"/>
              </a:ext>
            </a:extLst>
          </p:cNvPr>
          <p:cNvSpPr>
            <a:spLocks xmlns:a="http://schemas.openxmlformats.org/drawingml/2006/main" noGrp="1"/>
          </p:cNvSpPr>
          <p:nvPr/>
        </p:nvSpPr>
        <p:spPr>
          <a:xfrm xmlns:a="http://schemas.openxmlformats.org/drawingml/2006/main">
            <a:off x="3489960" y="1783080"/>
            <a:ext cx="2923032" cy="18288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400"/>
              </a:spcAft>
            </a:pPr>
            <a:r>
              <a:rPr sz="2400" b="1">
                <a:solidFill>
                  <a:srgbClr val="002060"/>
                </a:solidFill>
                <a:latin typeface="맑은 고딕"/>
                <a:ea typeface="맑은 고딕"/>
                <a:cs typeface="맑은 고딕"/>
              </a:rPr>
              <a:t>0.207 vs 0.168</a:t>
            </a:r>
          </a:p>
          <a:p xmlns:a="http://schemas.openxmlformats.org/drawingml/2006/main">
            <a:pPr algn="l">
              <a:spcBef>
                <a:spcPts val="0"/>
              </a:spcBef>
              <a:spcAft>
                <a:spcPts val="600"/>
              </a:spcAft>
            </a:pPr>
            <a:r>
              <a:rPr sz="1100" b="1">
                <a:solidFill>
                  <a:srgbClr val="262626"/>
                </a:solidFill>
                <a:latin typeface="맑은 고딕"/>
                <a:ea typeface="맑은 고딕"/>
                <a:cs typeface="맑은 고딕"/>
              </a:rPr>
              <a:t>기존 D 대 일반 지침 B</a:t>
            </a:r>
          </a:p>
          <a:p xmlns:a="http://schemas.openxmlformats.org/drawingml/2006/main">
            <a:pPr algn="l">
              <a:spcBef>
                <a:spcPts val="0"/>
              </a:spcBef>
              <a:spcAft>
                <a:spcPts val="0"/>
              </a:spcAft>
            </a:pPr>
            <a:r>
              <a:rPr sz="950" b="0">
                <a:solidFill>
                  <a:srgbClr val="6E6E6E"/>
                </a:solidFill>
                <a:latin typeface="맑은 고딕"/>
                <a:ea typeface="맑은 고딕"/>
                <a:cs typeface="맑은 고딕"/>
              </a:rPr>
              <a:t>ROUGE-L, 5문서 중 D 4승. GEPA 없는 조립본</a:t>
            </a:r>
          </a:p>
        </p:txBody>
      </p:sp>
      <p:sp>
        <p:nvSpPr>
          <p:cNvPr id="9" name="Rounded Rectangle 8">
            <a:extLst xmlns:a="http://schemas.openxmlformats.org/drawingml/2006/main">
              <a:ext uri="{FF2B5EF4-FFF2-40B4-BE49-F238E27FC236}">
                <a16:creationId xmlns:a16="http://schemas.microsoft.com/office/drawing/2014/main" id="{04B7DCB3-2480-483E-9A18-4ED7EBF03855}"/>
              </a:ext>
            </a:extLst>
          </p:cNvPr>
          <p:cNvSpPr>
            <a:spLocks xmlns:a="http://schemas.openxmlformats.org/drawingml/2006/main" noGrp="1"/>
          </p:cNvSpPr>
          <p:nvPr/>
        </p:nvSpPr>
        <p:spPr>
          <a:xfrm xmlns:a="http://schemas.openxmlformats.org/drawingml/2006/main">
            <a:off x="6550152" y="1783080"/>
            <a:ext cx="2923032" cy="18288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400"/>
              </a:spcAft>
            </a:pPr>
            <a:r>
              <a:rPr sz="2400" b="1">
                <a:solidFill>
                  <a:srgbClr val="002060"/>
                </a:solidFill>
                <a:latin typeface="맑은 고딕"/>
                <a:ea typeface="맑은 고딕"/>
                <a:cs typeface="맑은 고딕"/>
              </a:rPr>
              <a:t>0.209 vs 0.200</a:t>
            </a:r>
          </a:p>
          <a:p xmlns:a="http://schemas.openxmlformats.org/drawingml/2006/main">
            <a:pPr algn="l">
              <a:spcBef>
                <a:spcPts val="0"/>
              </a:spcBef>
              <a:spcAft>
                <a:spcPts val="600"/>
              </a:spcAft>
            </a:pPr>
            <a:r>
              <a:rPr sz="1100" b="1">
                <a:solidFill>
                  <a:srgbClr val="262626"/>
                </a:solidFill>
                <a:latin typeface="맑은 고딕"/>
                <a:ea typeface="맑은 고딕"/>
                <a:cs typeface="맑은 고딕"/>
              </a:rPr>
              <a:t>새 D 대 강한 직접 지침 B+</a:t>
            </a:r>
          </a:p>
          <a:p xmlns:a="http://schemas.openxmlformats.org/drawingml/2006/main">
            <a:pPr algn="l">
              <a:spcBef>
                <a:spcPts val="0"/>
              </a:spcBef>
              <a:spcAft>
                <a:spcPts val="0"/>
              </a:spcAft>
            </a:pPr>
            <a:r>
              <a:rPr sz="950" b="0">
                <a:solidFill>
                  <a:srgbClr val="6E6E6E"/>
                </a:solidFill>
                <a:latin typeface="맑은 고딕"/>
                <a:ea typeface="맑은 고딕"/>
                <a:cs typeface="맑은 고딕"/>
              </a:rPr>
              <a:t>별도 실행 n=5, D 3승. 우위·동등성 입증 전</a:t>
            </a:r>
          </a:p>
        </p:txBody>
      </p:sp>
      <p:sp>
        <p:nvSpPr>
          <p:cNvPr id="10" name="Rounded Rectangle 9">
            <a:extLst xmlns:a="http://schemas.openxmlformats.org/drawingml/2006/main">
              <a:ext uri="{FF2B5EF4-FFF2-40B4-BE49-F238E27FC236}">
                <a16:creationId xmlns:a16="http://schemas.microsoft.com/office/drawing/2014/main" id="{24F0A6C9-7BC6-4741-BA69-08BC77C1D6D5}"/>
              </a:ext>
            </a:extLst>
          </p:cNvPr>
          <p:cNvSpPr>
            <a:spLocks xmlns:a="http://schemas.openxmlformats.org/drawingml/2006/main" noGrp="1"/>
          </p:cNvSpPr>
          <p:nvPr/>
        </p:nvSpPr>
        <p:spPr>
          <a:xfrm xmlns:a="http://schemas.openxmlformats.org/drawingml/2006/main">
            <a:off x="429768" y="3749039"/>
            <a:ext cx="2923032" cy="18288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400"/>
              </a:spcAft>
            </a:pPr>
            <a:r>
              <a:rPr sz="2400" b="1">
                <a:solidFill>
                  <a:srgbClr val="002060"/>
                </a:solidFill>
                <a:latin typeface="맑은 고딕"/>
                <a:ea typeface="맑은 고딕"/>
                <a:cs typeface="맑은 고딕"/>
              </a:rPr>
              <a:t>0.98 vs 0.44</a:t>
            </a:r>
          </a:p>
          <a:p xmlns:a="http://schemas.openxmlformats.org/drawingml/2006/main">
            <a:pPr algn="l">
              <a:spcBef>
                <a:spcPts val="0"/>
              </a:spcBef>
              <a:spcAft>
                <a:spcPts val="600"/>
              </a:spcAft>
            </a:pPr>
            <a:r>
              <a:rPr sz="1100" b="1">
                <a:solidFill>
                  <a:srgbClr val="262626"/>
                </a:solidFill>
                <a:latin typeface="맑은 고딕"/>
                <a:ea typeface="맑은 고딕"/>
                <a:cs typeface="맑은 고딕"/>
              </a:rPr>
              <a:t>축별 피드백 대 점수만</a:t>
            </a:r>
          </a:p>
          <a:p xmlns:a="http://schemas.openxmlformats.org/drawingml/2006/main">
            <a:pPr algn="l">
              <a:spcBef>
                <a:spcPts val="0"/>
              </a:spcBef>
              <a:spcAft>
                <a:spcPts val="0"/>
              </a:spcAft>
            </a:pPr>
            <a:r>
              <a:rPr sz="950" b="0">
                <a:solidFill>
                  <a:srgbClr val="6E6E6E"/>
                </a:solidFill>
                <a:latin typeface="맑은 고딕"/>
                <a:ea typeface="맑은 고딕"/>
                <a:cs typeface="맑은 고딕"/>
              </a:rPr>
              <a:t>GEPA 40회 단일 실험의 최적화 목표 점수</a:t>
            </a:r>
          </a:p>
        </p:txBody>
      </p:sp>
      <p:sp>
        <p:nvSpPr>
          <p:cNvPr id="11" name="Rounded Rectangle 10">
            <a:extLst xmlns:a="http://schemas.openxmlformats.org/drawingml/2006/main">
              <a:ext uri="{FF2B5EF4-FFF2-40B4-BE49-F238E27FC236}">
                <a16:creationId xmlns:a16="http://schemas.microsoft.com/office/drawing/2014/main" id="{410E4CA7-AA4A-4FB7-BD21-23512BD04AC2}"/>
              </a:ext>
            </a:extLst>
          </p:cNvPr>
          <p:cNvSpPr>
            <a:spLocks xmlns:a="http://schemas.openxmlformats.org/drawingml/2006/main" noGrp="1"/>
          </p:cNvSpPr>
          <p:nvPr/>
        </p:nvSpPr>
        <p:spPr>
          <a:xfrm xmlns:a="http://schemas.openxmlformats.org/drawingml/2006/main">
            <a:off x="3489960" y="3749039"/>
            <a:ext cx="2923032" cy="18288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400"/>
              </a:spcAft>
            </a:pPr>
            <a:r>
              <a:rPr sz="2400" b="1">
                <a:solidFill>
                  <a:srgbClr val="002060"/>
                </a:solidFill>
                <a:latin typeface="맑은 고딕"/>
                <a:ea typeface="맑은 고딕"/>
                <a:cs typeface="맑은 고딕"/>
              </a:rPr>
              <a:t>0.308 / 0.146</a:t>
            </a:r>
          </a:p>
          <a:p xmlns:a="http://schemas.openxmlformats.org/drawingml/2006/main">
            <a:pPr algn="l">
              <a:spcBef>
                <a:spcPts val="0"/>
              </a:spcBef>
              <a:spcAft>
                <a:spcPts val="600"/>
              </a:spcAft>
            </a:pPr>
            <a:r>
              <a:rPr sz="1100" b="1">
                <a:solidFill>
                  <a:srgbClr val="262626"/>
                </a:solidFill>
                <a:latin typeface="맑은 고딕"/>
                <a:ea typeface="맑은 고딕"/>
                <a:cs typeface="맑은 고딕"/>
              </a:rPr>
              <a:t>내 글 경로의 형식 거리</a:t>
            </a:r>
          </a:p>
          <a:p xmlns:a="http://schemas.openxmlformats.org/drawingml/2006/main">
            <a:pPr algn="l">
              <a:spcBef>
                <a:spcPts val="0"/>
              </a:spcBef>
              <a:spcAft>
                <a:spcPts val="0"/>
              </a:spcAft>
            </a:pPr>
            <a:r>
              <a:rPr sz="950" b="0">
                <a:solidFill>
                  <a:srgbClr val="6E6E6E"/>
                </a:solidFill>
                <a:latin typeface="맑은 고딕"/>
                <a:ea typeface="맑은 고딕"/>
                <a:cs typeface="맑은 고딕"/>
              </a:rPr>
              <a:t>저자 8명, 별도 연구. 저자 만족·지식 전이와 구분</a:t>
            </a:r>
          </a:p>
        </p:txBody>
      </p:sp>
      <p:sp>
        <p:nvSpPr>
          <p:cNvPr id="12" name="Rounded Rectangle 11">
            <a:extLst xmlns:a="http://schemas.openxmlformats.org/drawingml/2006/main">
              <a:ext uri="{FF2B5EF4-FFF2-40B4-BE49-F238E27FC236}">
                <a16:creationId xmlns:a16="http://schemas.microsoft.com/office/drawing/2014/main" id="{9165B96E-42D9-44B4-826A-CDD7FE1471DC}"/>
              </a:ext>
            </a:extLst>
          </p:cNvPr>
          <p:cNvSpPr>
            <a:spLocks xmlns:a="http://schemas.openxmlformats.org/drawingml/2006/main" noGrp="1"/>
          </p:cNvSpPr>
          <p:nvPr/>
        </p:nvSpPr>
        <p:spPr>
          <a:xfrm xmlns:a="http://schemas.openxmlformats.org/drawingml/2006/main">
            <a:off x="6550152" y="3749039"/>
            <a:ext cx="2923032" cy="18288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400"/>
              </a:spcAft>
            </a:pPr>
            <a:r>
              <a:rPr sz="2400" b="1">
                <a:solidFill>
                  <a:srgbClr val="002060"/>
                </a:solidFill>
                <a:latin typeface="맑은 고딕"/>
                <a:ea typeface="맑은 고딕"/>
                <a:cs typeface="맑은 고딕"/>
              </a:rPr>
              <a:t>8개</a:t>
            </a:r>
          </a:p>
          <a:p xmlns:a="http://schemas.openxmlformats.org/drawingml/2006/main">
            <a:pPr algn="l">
              <a:spcBef>
                <a:spcPts val="0"/>
              </a:spcBef>
              <a:spcAft>
                <a:spcPts val="600"/>
              </a:spcAft>
            </a:pPr>
            <a:r>
              <a:rPr sz="1100" b="1">
                <a:solidFill>
                  <a:srgbClr val="262626"/>
                </a:solidFill>
                <a:latin typeface="맑은 고딕"/>
                <a:ea typeface="맑은 고딕"/>
                <a:cs typeface="맑은 고딕"/>
              </a:rPr>
              <a:t>YAML 도메인 정의 파일</a:t>
            </a:r>
          </a:p>
          <a:p xmlns:a="http://schemas.openxmlformats.org/drawingml/2006/main">
            <a:pPr algn="l">
              <a:spcBef>
                <a:spcPts val="0"/>
              </a:spcBef>
              <a:spcAft>
                <a:spcPts val="0"/>
              </a:spcAft>
            </a:pPr>
            <a:r>
              <a:rPr sz="950" b="0">
                <a:solidFill>
                  <a:srgbClr val="6E6E6E"/>
                </a:solidFill>
                <a:latin typeface="맑은 고딕"/>
                <a:ea typeface="맑은 고딕"/>
                <a:cs typeface="맑은 고딕"/>
              </a:rPr>
              <a:t>실험용 정의 포함. 검증된 사용자 카테고리 수와 구분</a:t>
            </a:r>
          </a:p>
        </p:txBody>
      </p:sp>
      <p:sp>
        <p:nvSpPr>
          <p:cNvPr id="13" name="TextBox 12">
            <a:extLst xmlns:a="http://schemas.openxmlformats.org/drawingml/2006/main">
              <a:ext uri="{FF2B5EF4-FFF2-40B4-BE49-F238E27FC236}">
                <a16:creationId xmlns:a16="http://schemas.microsoft.com/office/drawing/2014/main" id="{D8E40025-9118-42BD-94A5-C5C6AF6B56B4}"/>
              </a:ext>
            </a:extLst>
          </p:cNvPr>
          <p:cNvSpPr>
            <a:spLocks xmlns:a="http://schemas.openxmlformats.org/drawingml/2006/main" noGrp="1"/>
          </p:cNvSpPr>
          <p:nvPr/>
        </p:nvSpPr>
        <p:spPr>
          <a:xfrm xmlns:a="http://schemas.openxmlformats.org/drawingml/2006/main">
            <a:off x="429768" y="5760720"/>
            <a:ext cx="9043416" cy="41148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950" b="0">
                <a:solidFill>
                  <a:srgbClr val="666666"/>
                </a:solidFill>
                <a:latin typeface="맑은 고딕"/>
                <a:ea typeface="맑은 고딕"/>
                <a:cs typeface="맑은 고딕"/>
              </a:rPr>
              <a:t>B+는 정답 축값을 다른 문구로 옮긴 코드 생성 지침입니다. ROUGE-L은 참조 요약과의 겹침이며 사실 정확성·만족도 전체를 뜻하지 않습니다.</a:t>
            </a:r>
          </a:p>
        </p:txBody>
      </p:sp>
    </p:spTree>
    <p:extLst>
      <p:ext uri="{BB962C8B-B14F-4D97-AF65-F5344CB8AC3E}">
        <p14:creationId xmlns:p14="http://schemas.microsoft.com/office/powerpoint/2010/main" val="203918330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131A619-7217-4B48-B8E9-FA94927F52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3. 수행 방안 및 일정</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327921A4-25C4-3DB4-06B1-32693CEE2241}" type="slidenum">
              <a:rPr b="0">
                <a:solidFill>
                  <a:srgbClr val="000000"/>
                </a:solidFill>
                <a:latin typeface="맑은 고딕"/>
                <a:ea typeface="맑은 고딕"/>
                <a:cs typeface="맑은 고딕"/>
              </a:rPr>
              <a:t>14</a:t>
            </a:fld>
            <a:endParaRPr/>
          </a:p>
        </p:txBody>
      </p:sp>
      <p:sp>
        <p:nvSpPr>
          <p:cNvPr id="5" name="TextBox 4">
            <a:extLst xmlns:a="http://schemas.openxmlformats.org/drawingml/2006/main">
              <a:ext uri="{FF2B5EF4-FFF2-40B4-BE49-F238E27FC236}">
                <a16:creationId xmlns:a16="http://schemas.microsoft.com/office/drawing/2014/main" id="{7F9F1DF2-4792-4AD2-BF95-1438CCC59A4C}"/>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3-3. PoC 한계와 보완 검증 계획</a:t>
            </a:r>
          </a:p>
        </p:txBody>
      </p:sp>
      <p:sp>
        <p:nvSpPr>
          <p:cNvPr id="6" name="TextBox 5">
            <a:extLst xmlns:a="http://schemas.openxmlformats.org/drawingml/2006/main">
              <a:ext uri="{FF2B5EF4-FFF2-40B4-BE49-F238E27FC236}">
                <a16:creationId xmlns:a16="http://schemas.microsoft.com/office/drawing/2014/main" id="{5B909B59-6DB6-4EAE-86F9-289CE4BA364D}"/>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새 문서, 실제 사용자 부담, 도메인 정확성의 검증을 우선하고 GEPA의 추가 효과를 분리합니다</a:t>
            </a:r>
          </a:p>
        </p:txBody>
      </p:sp>
      <p:graphicFrame>
        <p:nvGraphicFramePr>
          <p:cNvPr id="14" name="Table 6"/>
          <p:cNvGraphicFramePr/>
          <p:nvPr/>
        </p:nvGraphicFramePr>
        <p:xfrm>
          <a:off xmlns:a="http://schemas.openxmlformats.org/drawingml/2006/main" x="429768" y="1691640"/>
          <a:ext xmlns:a="http://schemas.openxmlformats.org/drawingml/2006/main" cx="9043416" cy="4206240"/>
        </p:xfrm>
        <a:graphic xmlns:a="http://schemas.openxmlformats.org/drawingml/2006/main">
          <a:graphicData uri="http://schemas.openxmlformats.org/drawingml/2006/table">
            <a:tbl>
              <a:tblPr firstRow="1">
                <a:tableStyleId>{5C22544A-7EE6-4342-B048-85BDC9FD1C3A}</a:tableStyleId>
              </a:tblPr>
              <a:tblGrid>
                <a:gridCol w="344043"/>
                <a:gridCol w="2654046"/>
                <a:gridCol w="3047238"/>
                <a:gridCol w="2064258"/>
                <a:gridCol w="933831"/>
              </a:tblGrid>
              <a:tr h="420624">
                <a:tc>
                  <a:txBody>
                    <a:bodyPr wrap="square">
                      <a:noAutofit/>
                    </a:bodyPr>
                    <a:lstStyle/>
                    <a:p>
                      <a:r>
                        <a:rPr sz="1000" b="1">
                          <a:solidFill>
                            <a:srgbClr val="FFFFFF"/>
                          </a:solidFill>
                          <a:latin typeface="맑은 고딕"/>
                          <a:ea typeface="맑은 고딕"/>
                          <a:cs typeface="맑은 고딕"/>
                        </a:rPr>
                        <a:t>#</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현재 한계</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다음 검증</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완료 기준</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자원</a:t>
                      </a:r>
                    </a:p>
                  </a:txBody>
                  <a:tcPr marL="64008" marR="64008" marT="32004" marB="32004" anchor="ctr">
                    <a:solidFill>
                      <a:srgbClr val="002060"/>
                    </a:solidFill>
                  </a:tcPr>
                </a:tc>
              </a:tr>
              <a:tr h="420624">
                <a:tc>
                  <a:txBody>
                    <a:bodyPr wrap="square">
                      <a:noAutofit/>
                    </a:bodyPr>
                    <a:lstStyle/>
                    <a:p>
                      <a:r>
                        <a:rPr sz="1000" b="1">
                          <a:solidFill>
                            <a:srgbClr val="262626"/>
                          </a:solidFill>
                          <a:latin typeface="맑은 고딕"/>
                          <a:ea typeface="맑은 고딕"/>
                          <a:cs typeface="맑은 고딕"/>
                        </a:rPr>
                        <a:t>1</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강한 비교군은 5문서 탐색</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B+·B-LLM·D 조건 고정 후 확대</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조건별 결과·불확실성 보고</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API</a:t>
                      </a:r>
                    </a:p>
                  </a:txBody>
                  <a:tcPr marL="64008" marR="64008" marT="32004" marB="32004" anchor="ctr">
                    <a:solidFill>
                      <a:srgbClr val="FFFFFF"/>
                    </a:solidFill>
                  </a:tcPr>
                </a:tc>
              </a:tr>
              <a:tr h="420624">
                <a:tc>
                  <a:txBody>
                    <a:bodyPr wrap="square">
                      <a:noAutofit/>
                    </a:bodyPr>
                    <a:lstStyle/>
                    <a:p>
                      <a:r>
                        <a:rPr sz="1000" b="1">
                          <a:solidFill>
                            <a:srgbClr val="262626"/>
                          </a:solidFill>
                          <a:latin typeface="맑은 고딕"/>
                          <a:ea typeface="맑은 고딕"/>
                          <a:cs typeface="맑은 고딕"/>
                        </a:rPr>
                        <a:t>2</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사용자 노력 미측정</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작성 시간·글자 수·수정 횟수 측정</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참여자별 부담·선호 비교</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참여자</a:t>
                      </a:r>
                    </a:p>
                  </a:txBody>
                  <a:tcPr marL="64008" marR="64008" marT="32004" marB="32004" anchor="ctr">
                    <a:solidFill>
                      <a:srgbClr val="F3F4F7"/>
                    </a:solidFill>
                  </a:tcPr>
                </a:tc>
              </a:tr>
              <a:tr h="420624">
                <a:tc>
                  <a:txBody>
                    <a:bodyPr wrap="square">
                      <a:noAutofit/>
                    </a:bodyPr>
                    <a:lstStyle/>
                    <a:p>
                      <a:r>
                        <a:rPr sz="1000" b="1">
                          <a:solidFill>
                            <a:srgbClr val="262626"/>
                          </a:solidFill>
                          <a:latin typeface="맑은 고딕"/>
                          <a:ea typeface="맑은 고딕"/>
                          <a:cs typeface="맑은 고딕"/>
                        </a:rPr>
                        <a:t>3</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학습·평가 분리 근거 부족</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원문 ID 분리, 새 문서 확대</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분리 목록·실패 사례 보고</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API</a:t>
                      </a:r>
                    </a:p>
                  </a:txBody>
                  <a:tcPr marL="64008" marR="64008" marT="32004" marB="32004" anchor="ctr">
                    <a:solidFill>
                      <a:srgbClr val="FFFFFF"/>
                    </a:solidFill>
                  </a:tcPr>
                </a:tc>
              </a:tr>
              <a:tr h="420624">
                <a:tc>
                  <a:txBody>
                    <a:bodyPr wrap="square">
                      <a:noAutofit/>
                    </a:bodyPr>
                    <a:lstStyle/>
                    <a:p>
                      <a:r>
                        <a:rPr sz="1000" b="1">
                          <a:solidFill>
                            <a:srgbClr val="262626"/>
                          </a:solidFill>
                          <a:latin typeface="맑은 고딕"/>
                          <a:ea typeface="맑은 고딕"/>
                          <a:cs typeface="맑은 고딕"/>
                        </a:rPr>
                        <a:t>4</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GEPA 추가 이득 미확정</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조립본과 GEPA의 결과·비용 비교</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독립 지표와 사용량 보고</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API</a:t>
                      </a:r>
                    </a:p>
                  </a:txBody>
                  <a:tcPr marL="64008" marR="64008" marT="32004" marB="32004" anchor="ctr">
                    <a:solidFill>
                      <a:srgbClr val="F3F4F7"/>
                    </a:solidFill>
                  </a:tcPr>
                </a:tc>
              </a:tr>
              <a:tr h="420624">
                <a:tc>
                  <a:txBody>
                    <a:bodyPr wrap="square">
                      <a:noAutofit/>
                    </a:bodyPr>
                    <a:lstStyle/>
                    <a:p>
                      <a:r>
                        <a:rPr sz="1000" b="1">
                          <a:solidFill>
                            <a:srgbClr val="262626"/>
                          </a:solidFill>
                          <a:latin typeface="맑은 고딕"/>
                          <a:ea typeface="맑은 고딕"/>
                          <a:cs typeface="맑은 고딕"/>
                        </a:rPr>
                        <a:t>5</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실사용자 결과 미확보</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한국어 요약 5~8명 파일럿</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참여자 단위 결과 보고</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참여자</a:t>
                      </a:r>
                    </a:p>
                  </a:txBody>
                  <a:tcPr marL="64008" marR="64008" marT="32004" marB="32004" anchor="ctr">
                    <a:solidFill>
                      <a:srgbClr val="FFFFFF"/>
                    </a:solidFill>
                  </a:tcPr>
                </a:tc>
              </a:tr>
              <a:tr h="420624">
                <a:tc>
                  <a:txBody>
                    <a:bodyPr wrap="square">
                      <a:noAutofit/>
                    </a:bodyPr>
                    <a:lstStyle/>
                    <a:p>
                      <a:r>
                        <a:rPr sz="1000" b="1">
                          <a:solidFill>
                            <a:srgbClr val="262626"/>
                          </a:solidFill>
                          <a:latin typeface="맑은 고딕"/>
                          <a:ea typeface="맑은 고딕"/>
                          <a:cs typeface="맑은 고딕"/>
                        </a:rPr>
                        <a:t>6</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검사 함수 라벨 일치 제한</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보정 데이터와 평가 데이터 분리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홀드아웃 혼동행렬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데이터</a:t>
                      </a:r>
                    </a:p>
                  </a:txBody>
                  <a:tcPr marL="64008" marR="64008" marT="32004" marB="32004" anchor="ctr">
                    <a:solidFill>
                      <a:srgbClr val="F3F4F7"/>
                    </a:solidFill>
                  </a:tcPr>
                </a:tc>
              </a:tr>
              <a:tr h="420624">
                <a:tc>
                  <a:txBody>
                    <a:bodyPr wrap="square">
                      <a:noAutofit/>
                    </a:bodyPr>
                    <a:lstStyle/>
                    <a:p>
                      <a:r>
                        <a:rPr sz="1000" b="1">
                          <a:solidFill>
                            <a:srgbClr val="262626"/>
                          </a:solidFill>
                          <a:latin typeface="맑은 고딕"/>
                          <a:ea typeface="맑은 고딕"/>
                          <a:cs typeface="맑은 고딕"/>
                        </a:rPr>
                        <a:t>7</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모의 선택기의 편향 가능</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동점 처리·문서·시드 조건 재검토</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설정과 재측정 결과 기록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API</a:t>
                      </a:r>
                    </a:p>
                  </a:txBody>
                  <a:tcPr marL="64008" marR="64008" marT="32004" marB="32004" anchor="ctr">
                    <a:solidFill>
                      <a:srgbClr val="FFFFFF"/>
                    </a:solidFill>
                  </a:tcPr>
                </a:tc>
              </a:tr>
              <a:tr h="420624">
                <a:tc>
                  <a:txBody>
                    <a:bodyPr wrap="square">
                      <a:noAutofit/>
                    </a:bodyPr>
                    <a:lstStyle/>
                    <a:p>
                      <a:r>
                        <a:rPr sz="1000" b="1">
                          <a:solidFill>
                            <a:srgbClr val="262626"/>
                          </a:solidFill>
                          <a:latin typeface="맑은 고딕"/>
                          <a:ea typeface="맑은 고딕"/>
                          <a:cs typeface="맑은 고딕"/>
                        </a:rPr>
                        <a:t>8</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코딩·AWS 정확성 미검증</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빌드·동작, 비용 금액·기간 검사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도메인별 오류·통과 사례</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과제</a:t>
                      </a:r>
                    </a:p>
                  </a:txBody>
                  <a:tcPr marL="64008" marR="64008" marT="32004" marB="32004" anchor="ctr">
                    <a:solidFill>
                      <a:srgbClr val="F3F4F7"/>
                    </a:solidFill>
                  </a:tcPr>
                </a:tc>
              </a:tr>
              <a:tr h="420624">
                <a:tc>
                  <a:txBody>
                    <a:bodyPr wrap="square">
                      <a:noAutofit/>
                    </a:bodyPr>
                    <a:lstStyle/>
                    <a:p>
                      <a:r>
                        <a:rPr sz="1000" b="1">
                          <a:solidFill>
                            <a:srgbClr val="262626"/>
                          </a:solidFill>
                          <a:latin typeface="맑은 고딕"/>
                          <a:ea typeface="맑은 고딕"/>
                          <a:cs typeface="맑은 고딕"/>
                        </a:rPr>
                        <a:t>9</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전체 사용 비용 미측정</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세션·최적화·재작성 토큰 기록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경로별 비용·예산 상한</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API</a:t>
                      </a:r>
                    </a:p>
                  </a:txBody>
                  <a:tcPr marL="64008" marR="64008" marT="32004" marB="32004" anchor="ctr">
                    <a:solidFill>
                      <a:srgbClr val="FFFFFF"/>
                    </a:solidFill>
                  </a:tcPr>
                </a:tc>
              </a:tr>
            </a:tbl>
          </a:graphicData>
        </a:graphic>
      </p:graphicFrame>
      <p:sp>
        <p:nvSpPr>
          <p:cNvPr id="8" name="TextBox 7">
            <a:extLst xmlns:a="http://schemas.openxmlformats.org/drawingml/2006/main">
              <a:ext uri="{FF2B5EF4-FFF2-40B4-BE49-F238E27FC236}">
                <a16:creationId xmlns:a16="http://schemas.microsoft.com/office/drawing/2014/main" id="{A64D9460-F19A-4C04-ACCD-288DCD266C07}"/>
              </a:ext>
            </a:extLst>
          </p:cNvPr>
          <p:cNvSpPr>
            <a:spLocks xmlns:a="http://schemas.openxmlformats.org/drawingml/2006/main" noGrp="1"/>
          </p:cNvSpPr>
          <p:nvPr/>
        </p:nvSpPr>
        <p:spPr>
          <a:xfrm xmlns:a="http://schemas.openxmlformats.org/drawingml/2006/main">
            <a:off x="429768" y="5989320"/>
            <a:ext cx="9043416" cy="27432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950" b="0">
                <a:solidFill>
                  <a:srgbClr val="666666"/>
                </a:solidFill>
                <a:latin typeface="맑은 고딕"/>
                <a:ea typeface="맑은 고딕"/>
                <a:cs typeface="맑은 고딕"/>
              </a:rPr>
              <a:t>표본 확대와 분석 조건은 실행 전에 정합니다. API 총 예산과 허용 비용은 팀 협의 후 확정합니다.</a:t>
            </a:r>
          </a:p>
        </p:txBody>
      </p:sp>
    </p:spTree>
    <p:extLst>
      <p:ext uri="{BB962C8B-B14F-4D97-AF65-F5344CB8AC3E}">
        <p14:creationId xmlns:p14="http://schemas.microsoft.com/office/powerpoint/2010/main" val="47105340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9A6162B3-555D-45DB-9B1E-7D71DED4D4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3. 수행 방안 및 일정</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EA83FA91-883A-0168-8075-96CEB9DCA3C2}" type="slidenum">
              <a:rPr b="0">
                <a:solidFill>
                  <a:srgbClr val="000000"/>
                </a:solidFill>
                <a:latin typeface="맑은 고딕"/>
                <a:ea typeface="맑은 고딕"/>
                <a:cs typeface="맑은 고딕"/>
              </a:rPr>
              <a:t>15</a:t>
            </a:fld>
            <a:endParaRPr/>
          </a:p>
        </p:txBody>
      </p:sp>
      <p:sp>
        <p:nvSpPr>
          <p:cNvPr id="5" name="TextBox 4">
            <a:extLst xmlns:a="http://schemas.openxmlformats.org/drawingml/2006/main">
              <a:ext uri="{FF2B5EF4-FFF2-40B4-BE49-F238E27FC236}">
                <a16:creationId xmlns:a16="http://schemas.microsoft.com/office/drawing/2014/main" id="{A266E0EF-33F6-4912-BF68-277A2FA38762}"/>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3-4. 실사용자 파일럿 검증 방안</a:t>
            </a:r>
          </a:p>
        </p:txBody>
      </p:sp>
      <p:sp>
        <p:nvSpPr>
          <p:cNvPr id="6" name="TextBox 5">
            <a:extLst xmlns:a="http://schemas.openxmlformats.org/drawingml/2006/main">
              <a:ext uri="{FF2B5EF4-FFF2-40B4-BE49-F238E27FC236}">
                <a16:creationId xmlns:a16="http://schemas.microsoft.com/office/drawing/2014/main" id="{48626F89-FF8F-4D48-82B7-9E3D4CCD3C61}"/>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한국어 요약의 직접 작성과 선택 기반 두 조건으로 사용자 부담과 실패 유형을 찾습니다</a:t>
            </a:r>
          </a:p>
        </p:txBody>
      </p:sp>
      <p:sp>
        <p:nvSpPr>
          <p:cNvPr id="7" name="TextBox 6">
            <a:extLst xmlns:a="http://schemas.openxmlformats.org/drawingml/2006/main">
              <a:ext uri="{FF2B5EF4-FFF2-40B4-BE49-F238E27FC236}">
                <a16:creationId xmlns:a16="http://schemas.microsoft.com/office/drawing/2014/main" id="{22C4D562-C8DC-42D4-BFFF-55A7DBBE7ADD}"/>
              </a:ext>
            </a:extLst>
          </p:cNvPr>
          <p:cNvSpPr>
            <a:spLocks xmlns:a="http://schemas.openxmlformats.org/drawingml/2006/main" noGrp="1"/>
          </p:cNvSpPr>
          <p:nvPr/>
        </p:nvSpPr>
        <p:spPr>
          <a:xfrm xmlns:a="http://schemas.openxmlformats.org/drawingml/2006/main">
            <a:off x="429768" y="1737360"/>
            <a:ext cx="4663440" cy="347472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a:spcBef>
                <a:spcPts val="0"/>
              </a:spcBef>
              <a:spcAft>
                <a:spcPts val="600"/>
              </a:spcAft>
            </a:pPr>
            <a:r>
              <a:rPr sz="1200" b="1">
                <a:solidFill>
                  <a:srgbClr val="002060"/>
                </a:solidFill>
                <a:latin typeface="맑은 고딕"/>
                <a:ea typeface="맑은 고딕"/>
                <a:cs typeface="맑은 고딕"/>
              </a:rPr>
              <a:t>진행 절차</a:t>
            </a:r>
          </a:p>
          <a:p xmlns:a="http://schemas.openxmlformats.org/drawingml/2006/main">
            <a:pPr>
              <a:spcBef>
                <a:spcPts val="0"/>
              </a:spcBef>
              <a:spcAft>
                <a:spcPts val="600"/>
              </a:spcAft>
            </a:pPr>
            <a:r>
              <a:rPr sz="1050" b="0">
                <a:solidFill>
                  <a:srgbClr val="262626"/>
                </a:solidFill>
                <a:latin typeface="맑은 고딕"/>
                <a:ea typeface="맑은 고딕"/>
                <a:cs typeface="맑은 고딕"/>
              </a:rPr>
              <a:t>1. 기준 문서로 직접 지침 작성과 8회 선택 수행, 순서 교차 배정·시간 측정</a:t>
            </a:r>
          </a:p>
          <a:p xmlns:a="http://schemas.openxmlformats.org/drawingml/2006/main">
            <a:pPr>
              <a:spcBef>
                <a:spcPts val="0"/>
              </a:spcBef>
              <a:spcAft>
                <a:spcPts val="600"/>
              </a:spcAft>
            </a:pPr>
            <a:r>
              <a:rPr sz="1050" b="0">
                <a:solidFill>
                  <a:srgbClr val="262626"/>
                </a:solidFill>
                <a:latin typeface="맑은 고딕"/>
                <a:ea typeface="맑은 고딕"/>
                <a:cs typeface="맑은 고딕"/>
              </a:rPr>
              <a:t>2. 고정한 지침을 새 문서 3개에 같은 모델·설정으로 적용</a:t>
            </a:r>
          </a:p>
          <a:p xmlns:a="http://schemas.openxmlformats.org/drawingml/2006/main">
            <a:pPr>
              <a:spcBef>
                <a:spcPts val="0"/>
              </a:spcBef>
              <a:spcAft>
                <a:spcPts val="600"/>
              </a:spcAft>
            </a:pPr>
            <a:r>
              <a:rPr sz="1050" b="0">
                <a:solidFill>
                  <a:srgbClr val="262626"/>
                </a:solidFill>
                <a:latin typeface="맑은 고딕"/>
                <a:ea typeface="맑은 고딕"/>
                <a:cs typeface="맑은 고딕"/>
              </a:rPr>
              <a:t>3. 방식 이름을 숨기고 좌우 무작위 배치, 선호·사실 오류·누락 기록</a:t>
            </a:r>
          </a:p>
          <a:p xmlns:a="http://schemas.openxmlformats.org/drawingml/2006/main">
            <a:pPr>
              <a:spcBef>
                <a:spcPts val="0"/>
              </a:spcBef>
              <a:spcAft>
                <a:spcPts val="600"/>
              </a:spcAft>
            </a:pPr>
            <a:r>
              <a:rPr sz="1050" b="0">
                <a:solidFill>
                  <a:srgbClr val="262626"/>
                </a:solidFill>
                <a:latin typeface="맑은 고딕"/>
                <a:ea typeface="맑은 고딕"/>
                <a:cs typeface="맑은 고딕"/>
              </a:rPr>
              <a:t>4. 한 사람의 여러 문서 결과를 참여자 한 명의 결과로 집계</a:t>
            </a:r>
          </a:p>
          <a:p xmlns:a="http://schemas.openxmlformats.org/drawingml/2006/main">
            <a:pPr>
              <a:spcBef>
                <a:spcPts val="0"/>
              </a:spcBef>
              <a:spcAft>
                <a:spcPts val="600"/>
              </a:spcAft>
            </a:pPr>
            <a:r>
              <a:rPr sz="1050" b="0">
                <a:solidFill>
                  <a:srgbClr val="262626"/>
                </a:solidFill>
                <a:latin typeface="맑은 고딕"/>
                <a:ea typeface="맑은 고딕"/>
                <a:cs typeface="맑은 고딕"/>
              </a:rPr>
              <a:t>5. 실패 유형·변동성·운영 가능성을 보고 본실험 설계</a:t>
            </a:r>
          </a:p>
        </p:txBody>
      </p:sp>
      <p:graphicFrame>
        <p:nvGraphicFramePr>
          <p:cNvPr id="17" name="Table 7"/>
          <p:cNvGraphicFramePr/>
          <p:nvPr/>
        </p:nvGraphicFramePr>
        <p:xfrm>
          <a:off xmlns:a="http://schemas.openxmlformats.org/drawingml/2006/main" x="5321807" y="1737360"/>
          <a:ext xmlns:a="http://schemas.openxmlformats.org/drawingml/2006/main" cx="4151375" cy="2304288"/>
        </p:xfrm>
        <a:graphic xmlns:a="http://schemas.openxmlformats.org/drawingml/2006/main">
          <a:graphicData uri="http://schemas.openxmlformats.org/drawingml/2006/table">
            <a:tbl>
              <a:tblPr firstRow="1">
                <a:tableStyleId>{5C22544A-7EE6-4342-B048-85BDC9FD1C3A}</a:tableStyleId>
              </a:tblPr>
              <a:tblGrid>
                <a:gridCol w="1415241"/>
                <a:gridCol w="2736134"/>
              </a:tblGrid>
              <a:tr h="384048">
                <a:tc>
                  <a:txBody>
                    <a:bodyPr wrap="square">
                      <a:noAutofit/>
                    </a:bodyPr>
                    <a:lstStyle/>
                    <a:p>
                      <a:r>
                        <a:rPr sz="1000" b="1">
                          <a:solidFill>
                            <a:srgbClr val="FFFFFF"/>
                          </a:solidFill>
                          <a:latin typeface="맑은 고딕"/>
                          <a:ea typeface="맑은 고딕"/>
                          <a:cs typeface="맑은 고딕"/>
                        </a:rPr>
                        <a:t>시행 단계</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조건·측정 내용</a:t>
                      </a:r>
                    </a:p>
                  </a:txBody>
                  <a:tcPr marL="64008" marR="64008" marT="32004" marB="32004" anchor="ctr">
                    <a:solidFill>
                      <a:srgbClr val="002060"/>
                    </a:solidFill>
                  </a:tcPr>
                </a:tc>
              </a:tr>
              <a:tr h="384048">
                <a:tc>
                  <a:txBody>
                    <a:bodyPr wrap="square">
                      <a:noAutofit/>
                    </a:bodyPr>
                    <a:lstStyle/>
                    <a:p>
                      <a:r>
                        <a:rPr sz="1000" b="1">
                          <a:solidFill>
                            <a:srgbClr val="262626"/>
                          </a:solidFill>
                          <a:latin typeface="맑은 고딕"/>
                          <a:ea typeface="맑은 고딕"/>
                          <a:cs typeface="맑은 고딕"/>
                        </a:rPr>
                        <a:t>첫 파일럿</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직접 작성 지침</a:t>
                      </a:r>
                    </a:p>
                  </a:txBody>
                  <a:tcPr marL="64008" marR="64008" marT="32004" marB="32004" anchor="ctr">
                    <a:solidFill>
                      <a:srgbClr val="FFFFFF"/>
                    </a:solidFill>
                  </a:tcPr>
                </a:tc>
              </a:tr>
              <a:tr h="384048">
                <a:tc>
                  <a:txBody>
                    <a:bodyPr wrap="square">
                      <a:noAutofit/>
                    </a:bodyPr>
                    <a:lstStyle/>
                    <a:p>
                      <a:r>
                        <a:rPr sz="1000" b="1">
                          <a:solidFill>
                            <a:srgbClr val="262626"/>
                          </a:solidFill>
                          <a:latin typeface="맑은 고딕"/>
                          <a:ea typeface="맑은 고딕"/>
                          <a:cs typeface="맑은 고딕"/>
                        </a:rPr>
                        <a:t>첫 파일럿</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8회 선택 기반 조립</a:t>
                      </a:r>
                    </a:p>
                  </a:txBody>
                  <a:tcPr marL="64008" marR="64008" marT="32004" marB="32004" anchor="ctr">
                    <a:solidFill>
                      <a:srgbClr val="F3F4F7"/>
                    </a:solidFill>
                  </a:tcPr>
                </a:tc>
              </a:tr>
              <a:tr h="384048">
                <a:tc>
                  <a:txBody>
                    <a:bodyPr wrap="square">
                      <a:noAutofit/>
                    </a:bodyPr>
                    <a:lstStyle/>
                    <a:p>
                      <a:r>
                        <a:rPr sz="1000" b="1">
                          <a:solidFill>
                            <a:srgbClr val="262626"/>
                          </a:solidFill>
                          <a:latin typeface="맑은 고딕"/>
                          <a:ea typeface="맑은 고딕"/>
                          <a:cs typeface="맑은 고딕"/>
                        </a:rPr>
                        <a:t>공통 평가</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시간·수정 횟수, 블라인드 선호·오류</a:t>
                      </a:r>
                    </a:p>
                  </a:txBody>
                  <a:tcPr marL="64008" marR="64008" marT="32004" marB="32004" anchor="ctr">
                    <a:solidFill>
                      <a:srgbClr val="FFFFFF"/>
                    </a:solidFill>
                  </a:tcPr>
                </a:tc>
              </a:tr>
              <a:tr h="384048">
                <a:tc>
                  <a:txBody>
                    <a:bodyPr wrap="square">
                      <a:noAutofit/>
                    </a:bodyPr>
                    <a:lstStyle/>
                    <a:p>
                      <a:r>
                        <a:rPr sz="1000" b="1">
                          <a:solidFill>
                            <a:srgbClr val="262626"/>
                          </a:solidFill>
                          <a:latin typeface="맑은 고딕"/>
                          <a:ea typeface="맑은 고딕"/>
                          <a:cs typeface="맑은 고딕"/>
                        </a:rPr>
                        <a:t>후속 확장</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LLM 생성 지침과 기본 지침</a:t>
                      </a:r>
                    </a:p>
                  </a:txBody>
                  <a:tcPr marL="64008" marR="64008" marT="32004" marB="32004" anchor="ctr">
                    <a:solidFill>
                      <a:srgbClr val="F3F4F7"/>
                    </a:solidFill>
                  </a:tcPr>
                </a:tc>
              </a:tr>
              <a:tr h="384048">
                <a:tc>
                  <a:txBody>
                    <a:bodyPr wrap="square">
                      <a:noAutofit/>
                    </a:bodyPr>
                    <a:lstStyle/>
                    <a:p>
                      <a:r>
                        <a:rPr sz="1000" b="1">
                          <a:solidFill>
                            <a:srgbClr val="262626"/>
                          </a:solidFill>
                          <a:latin typeface="맑은 고딕"/>
                          <a:ea typeface="맑은 고딕"/>
                          <a:cs typeface="맑은 고딕"/>
                        </a:rPr>
                        <a:t>후속 확장</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조립본과 GEPA의 추가 효과</a:t>
                      </a:r>
                    </a:p>
                  </a:txBody>
                  <a:tcPr marL="64008" marR="64008" marT="32004" marB="32004" anchor="ctr">
                    <a:solidFill>
                      <a:srgbClr val="FFFFFF"/>
                    </a:solidFill>
                  </a:tcPr>
                </a:tc>
              </a:tr>
            </a:tbl>
          </a:graphicData>
        </a:graphic>
      </p:graphicFrame>
      <p:sp>
        <p:nvSpPr>
          <p:cNvPr id="9" name="TextBox 8">
            <a:extLst xmlns:a="http://schemas.openxmlformats.org/drawingml/2006/main">
              <a:ext uri="{FF2B5EF4-FFF2-40B4-BE49-F238E27FC236}">
                <a16:creationId xmlns:a16="http://schemas.microsoft.com/office/drawing/2014/main" id="{93BBEFC1-0C4F-4265-BE1E-E66968692E4F}"/>
              </a:ext>
            </a:extLst>
          </p:cNvPr>
          <p:cNvSpPr>
            <a:spLocks xmlns:a="http://schemas.openxmlformats.org/drawingml/2006/main" noGrp="1"/>
          </p:cNvSpPr>
          <p:nvPr/>
        </p:nvSpPr>
        <p:spPr>
          <a:xfrm xmlns:a="http://schemas.openxmlformats.org/drawingml/2006/main">
            <a:off x="5321807" y="4160520"/>
            <a:ext cx="4151376" cy="82296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950" b="0">
                <a:solidFill>
                  <a:srgbClr val="666666"/>
                </a:solidFill>
                <a:latin typeface="맑은 고딕"/>
                <a:ea typeface="맑은 고딕"/>
                <a:cs typeface="맑은 고딕"/>
              </a:rPr>
              <a:t>5~8명은 실패 유형과 사용 부담을 찾는 파일럿 규모입니다. 현재 도구는 직접 작성·선택 기반 두 조건을 지원합니다.</a:t>
            </a:r>
          </a:p>
        </p:txBody>
      </p:sp>
      <p:sp>
        <p:nvSpPr>
          <p:cNvPr id="10" name="Rounded Rectangle 9">
            <a:extLst xmlns:a="http://schemas.openxmlformats.org/drawingml/2006/main">
              <a:ext uri="{FF2B5EF4-FFF2-40B4-BE49-F238E27FC236}">
                <a16:creationId xmlns:a16="http://schemas.microsoft.com/office/drawing/2014/main" id="{2C7E10FB-81A8-47B8-A17D-805581C58D68}"/>
              </a:ext>
            </a:extLst>
          </p:cNvPr>
          <p:cNvSpPr>
            <a:spLocks xmlns:a="http://schemas.openxmlformats.org/drawingml/2006/main" noGrp="1"/>
          </p:cNvSpPr>
          <p:nvPr/>
        </p:nvSpPr>
        <p:spPr>
          <a:xfrm xmlns:a="http://schemas.openxmlformats.org/drawingml/2006/main">
            <a:off x="429768" y="5257800"/>
            <a:ext cx="9043416" cy="82296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시작 전 준비  </a:t>
            </a:r>
            <a:r>
              <a:rPr sz="1050" b="0">
                <a:solidFill>
                  <a:srgbClr val="864027"/>
                </a:solidFill>
                <a:latin typeface="맑은 고딕"/>
                <a:ea typeface="맑은 고딕"/>
                <a:cs typeface="맑은 고딕"/>
              </a:rPr>
              <a:t>모집 대상·참여 시간, 동의와 API 전송 안내, 공통 평가 문서, 사례 지급 여부, 보존·삭제 기한을 확정합니다.</a:t>
            </a:r>
          </a:p>
        </p:txBody>
      </p:sp>
    </p:spTree>
    <p:extLst>
      <p:ext uri="{BB962C8B-B14F-4D97-AF65-F5344CB8AC3E}">
        <p14:creationId xmlns:p14="http://schemas.microsoft.com/office/powerpoint/2010/main" val="164857524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E924E8C-E8A5-430D-8F70-447610BAC4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3. 수행 방안 및 일정</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DC9C7607-4BA3-B4DC-A00F-2E67A9FCFF7E}" type="slidenum">
              <a:rPr b="0">
                <a:solidFill>
                  <a:srgbClr val="000000"/>
                </a:solidFill>
                <a:latin typeface="맑은 고딕"/>
                <a:ea typeface="맑은 고딕"/>
                <a:cs typeface="맑은 고딕"/>
              </a:rPr>
              <a:t>16</a:t>
            </a:fld>
            <a:endParaRPr/>
          </a:p>
        </p:txBody>
      </p:sp>
      <p:sp>
        <p:nvSpPr>
          <p:cNvPr id="5" name="TextBox 4">
            <a:extLst xmlns:a="http://schemas.openxmlformats.org/drawingml/2006/main">
              <a:ext uri="{FF2B5EF4-FFF2-40B4-BE49-F238E27FC236}">
                <a16:creationId xmlns:a16="http://schemas.microsoft.com/office/drawing/2014/main" id="{D8E6499B-8C5C-45F3-807C-379E98919234}"/>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3-5. 프로젝트 추진 일정 (안)</a:t>
            </a:r>
          </a:p>
        </p:txBody>
      </p:sp>
      <p:sp>
        <p:nvSpPr>
          <p:cNvPr id="6" name="TextBox 5">
            <a:extLst xmlns:a="http://schemas.openxmlformats.org/drawingml/2006/main">
              <a:ext uri="{FF2B5EF4-FFF2-40B4-BE49-F238E27FC236}">
                <a16:creationId xmlns:a16="http://schemas.microsoft.com/office/drawing/2014/main" id="{B1F89CA5-FF9F-476D-8008-28952D4DE3C7}"/>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기존 PoC를 출발점으로 범위 확정, 검증, 저장·실행 연결, 결과 정리를 12주 안으로 제안합니다</a:t>
            </a:r>
          </a:p>
        </p:txBody>
      </p:sp>
      <p:graphicFrame>
        <p:nvGraphicFramePr>
          <p:cNvPr id="15" name="Table 6"/>
          <p:cNvGraphicFramePr/>
          <p:nvPr/>
        </p:nvGraphicFramePr>
        <p:xfrm>
          <a:off xmlns:a="http://schemas.openxmlformats.org/drawingml/2006/main" x="429768" y="1691640"/>
          <a:ext xmlns:a="http://schemas.openxmlformats.org/drawingml/2006/main" cx="9043408" cy="3456432"/>
        </p:xfrm>
        <a:graphic xmlns:a="http://schemas.openxmlformats.org/drawingml/2006/main">
          <a:graphicData uri="http://schemas.openxmlformats.org/drawingml/2006/table">
            <a:tbl>
              <a:tblPr firstRow="1">
                <a:tableStyleId>{5C22544A-7EE6-4342-B048-85BDC9FD1C3A}</a:tableStyleId>
              </a:tblPr>
              <a:tblGrid>
                <a:gridCol w="2952952"/>
                <a:gridCol w="507538"/>
                <a:gridCol w="507538"/>
                <a:gridCol w="507538"/>
                <a:gridCol w="507538"/>
                <a:gridCol w="507538"/>
                <a:gridCol w="507538"/>
                <a:gridCol w="507538"/>
                <a:gridCol w="507538"/>
                <a:gridCol w="507538"/>
                <a:gridCol w="507538"/>
                <a:gridCol w="507538"/>
                <a:gridCol w="507538"/>
              </a:tblGrid>
              <a:tr h="384048">
                <a:tc>
                  <a:txBody>
                    <a:bodyPr wrap="square">
                      <a:noAutofit/>
                    </a:bodyPr>
                    <a:lstStyle/>
                    <a:p>
                      <a:r>
                        <a:rPr sz="1000" b="1">
                          <a:solidFill>
                            <a:srgbClr val="FFFFFF"/>
                          </a:solidFill>
                          <a:latin typeface="맑은 고딕"/>
                          <a:ea typeface="맑은 고딕"/>
                          <a:cs typeface="맑은 고딕"/>
                        </a:rPr>
                        <a:t>업무</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W1</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W2</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W3</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W4</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W5</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W6</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W7</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W8</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W9</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W10</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W11</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W12</a:t>
                      </a:r>
                    </a:p>
                  </a:txBody>
                  <a:tcPr marL="64008" marR="64008" marT="32004" marB="32004" anchor="ctr">
                    <a:solidFill>
                      <a:srgbClr val="002060"/>
                    </a:solidFill>
                  </a:tcPr>
                </a:tc>
              </a:tr>
              <a:tr h="384048">
                <a:tc>
                  <a:txBody>
                    <a:bodyPr wrap="square">
                      <a:noAutofit/>
                    </a:bodyPr>
                    <a:lstStyle/>
                    <a:p>
                      <a:r>
                        <a:rPr sz="1000" b="1">
                          <a:solidFill>
                            <a:srgbClr val="262626"/>
                          </a:solidFill>
                          <a:latin typeface="맑은 고딕"/>
                          <a:ea typeface="맑은 고딕"/>
                          <a:cs typeface="맑은 고딕"/>
                        </a:rPr>
                        <a:t>범위·역할·예산 확정</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r>
              <a:tr h="384048">
                <a:tc>
                  <a:txBody>
                    <a:bodyPr wrap="square">
                      <a:noAutofit/>
                    </a:bodyPr>
                    <a:lstStyle/>
                    <a:p>
                      <a:r>
                        <a:rPr sz="1000" b="1">
                          <a:solidFill>
                            <a:srgbClr val="262626"/>
                          </a:solidFill>
                          <a:latin typeface="맑은 고딕"/>
                          <a:ea typeface="맑은 고딕"/>
                          <a:cs typeface="맑은 고딕"/>
                        </a:rPr>
                        <a:t>강한 비교군·독립 문서 확대</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r>
              <a:tr h="384048">
                <a:tc>
                  <a:txBody>
                    <a:bodyPr wrap="square">
                      <a:noAutofit/>
                    </a:bodyPr>
                    <a:lstStyle/>
                    <a:p>
                      <a:r>
                        <a:rPr sz="1000" b="1">
                          <a:solidFill>
                            <a:srgbClr val="262626"/>
                          </a:solidFill>
                          <a:latin typeface="맑은 고딕"/>
                          <a:ea typeface="맑은 고딕"/>
                          <a:cs typeface="맑은 고딕"/>
                        </a:rPr>
                        <a:t>GEPA 비용·검사 함수 검증</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r>
              <a:tr h="384048">
                <a:tc>
                  <a:txBody>
                    <a:bodyPr wrap="square">
                      <a:noAutofit/>
                    </a:bodyPr>
                    <a:lstStyle/>
                    <a:p>
                      <a:r>
                        <a:rPr sz="1000" b="1">
                          <a:solidFill>
                            <a:srgbClr val="262626"/>
                          </a:solidFill>
                          <a:latin typeface="맑은 고딕"/>
                          <a:ea typeface="맑은 고딕"/>
                          <a:cs typeface="맑은 고딕"/>
                        </a:rPr>
                        <a:t>한국어 파일럿 준비·수행</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r>
              <a:tr h="384048">
                <a:tc>
                  <a:txBody>
                    <a:bodyPr wrap="square">
                      <a:noAutofit/>
                    </a:bodyPr>
                    <a:lstStyle/>
                    <a:p>
                      <a:r>
                        <a:rPr sz="1000" b="1">
                          <a:solidFill>
                            <a:srgbClr val="262626"/>
                          </a:solidFill>
                          <a:latin typeface="맑은 고딕"/>
                          <a:ea typeface="맑은 고딕"/>
                          <a:cs typeface="맑은 고딕"/>
                        </a:rPr>
                        <a:t>저장·재실행 연결·React 전환</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r>
              <a:tr h="384048">
                <a:tc>
                  <a:txBody>
                    <a:bodyPr wrap="square">
                      <a:noAutofit/>
                    </a:bodyPr>
                    <a:lstStyle/>
                    <a:p>
                      <a:r>
                        <a:rPr sz="1000" b="1">
                          <a:solidFill>
                            <a:srgbClr val="262626"/>
                          </a:solidFill>
                          <a:latin typeface="맑은 고딕"/>
                          <a:ea typeface="맑은 고딕"/>
                          <a:cs typeface="맑은 고딕"/>
                        </a:rPr>
                        <a:t>코딩·AWS 정확성 검증</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r>
              <a:tr h="384048">
                <a:tc>
                  <a:txBody>
                    <a:bodyPr wrap="square">
                      <a:noAutofit/>
                    </a:bodyPr>
                    <a:lstStyle/>
                    <a:p>
                      <a:r>
                        <a:rPr sz="1000" b="1">
                          <a:solidFill>
                            <a:srgbClr val="262626"/>
                          </a:solidFill>
                          <a:latin typeface="맑은 고딕"/>
                          <a:ea typeface="맑은 고딕"/>
                          <a:cs typeface="맑은 고딕"/>
                        </a:rPr>
                        <a:t>결과 분석·최종 보고</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FFFF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002060"/>
                    </a:solidFill>
                  </a:tcPr>
                </a:tc>
              </a:tr>
              <a:tr h="384048">
                <a:tc>
                  <a:txBody>
                    <a:bodyPr wrap="square">
                      <a:noAutofit/>
                    </a:bodyPr>
                    <a:lstStyle/>
                    <a:p>
                      <a:r>
                        <a:rPr sz="1000" b="1">
                          <a:solidFill>
                            <a:srgbClr val="262626"/>
                          </a:solidFill>
                          <a:latin typeface="맑은 고딕"/>
                          <a:ea typeface="맑은 고딕"/>
                          <a:cs typeface="맑은 고딕"/>
                        </a:rPr>
                        <a:t>마일스톤</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pPr algn="ctr">
                        <a:buNone/>
                      </a:pPr>
                      <a:r>
                        <a:rPr sz="1000" b="0">
                          <a:solidFill>
                            <a:srgbClr val="262626"/>
                          </a:solidFill>
                          <a:latin typeface="맑은 고딕"/>
                          <a:ea typeface="맑은 고딕"/>
                          <a:cs typeface="맑은 고딕"/>
                        </a:rPr>
                        <a:t>M1</a:t>
                      </a:r>
                    </a:p>
                  </a:txBody>
                  <a:tcPr marL="64008" marR="64008" marT="32004" marB="32004" anchor="ctr">
                    <a:solidFill>
                      <a:srgbClr val="FBE9D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pPr algn="ctr">
                        <a:buNone/>
                      </a:pPr>
                      <a:r>
                        <a:rPr sz="1000" b="0">
                          <a:solidFill>
                            <a:srgbClr val="262626"/>
                          </a:solidFill>
                          <a:latin typeface="맑은 고딕"/>
                          <a:ea typeface="맑은 고딕"/>
                          <a:cs typeface="맑은 고딕"/>
                        </a:rPr>
                        <a:t>M2</a:t>
                      </a:r>
                    </a:p>
                  </a:txBody>
                  <a:tcPr marL="64008" marR="64008" marT="32004" marB="32004" anchor="ctr">
                    <a:solidFill>
                      <a:srgbClr val="FBE9DF"/>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r>
                        <a:rPr sz="950" b="0">
                          <a:solidFill>
                            <a:srgbClr val="262626"/>
                          </a:solidFill>
                          <a:latin typeface="맑은 고딕"/>
                          <a:ea typeface="맑은 고딕"/>
                          <a:cs typeface="맑은 고딕"/>
                        </a:rPr>
                        <a:t/>
                      </a:r>
                    </a:p>
                  </a:txBody>
                  <a:tcPr marL="64008" marR="64008" marT="32004" marB="32004" anchor="ctr">
                    <a:solidFill>
                      <a:srgbClr val="F3F4F7"/>
                    </a:solidFill>
                  </a:tcPr>
                </a:tc>
                <a:tc>
                  <a:txBody>
                    <a:bodyPr wrap="square">
                      <a:noAutofit/>
                    </a:bodyPr>
                    <a:lstStyle/>
                    <a:p>
                      <a:pPr algn="ctr">
                        <a:buNone/>
                      </a:pPr>
                      <a:r>
                        <a:rPr sz="1000" b="0">
                          <a:solidFill>
                            <a:srgbClr val="262626"/>
                          </a:solidFill>
                          <a:latin typeface="맑은 고딕"/>
                          <a:ea typeface="맑은 고딕"/>
                          <a:cs typeface="맑은 고딕"/>
                        </a:rPr>
                        <a:t>M3</a:t>
                      </a:r>
                    </a:p>
                  </a:txBody>
                  <a:tcPr marL="64008" marR="64008" marT="32004" marB="32004" anchor="ctr">
                    <a:solidFill>
                      <a:srgbClr val="FBE9DF"/>
                    </a:solidFill>
                  </a:tcPr>
                </a:tc>
              </a:tr>
            </a:tbl>
          </a:graphicData>
        </a:graphic>
      </p:graphicFrame>
      <p:sp>
        <p:nvSpPr>
          <p:cNvPr id="8" name="TextBox 7">
            <a:extLst xmlns:a="http://schemas.openxmlformats.org/drawingml/2006/main">
              <a:ext uri="{FF2B5EF4-FFF2-40B4-BE49-F238E27FC236}">
                <a16:creationId xmlns:a16="http://schemas.microsoft.com/office/drawing/2014/main" id="{1BE1145E-8A33-45E8-90E9-6D8DB8CB3C59}"/>
              </a:ext>
            </a:extLst>
          </p:cNvPr>
          <p:cNvSpPr>
            <a:spLocks xmlns:a="http://schemas.openxmlformats.org/drawingml/2006/main" noGrp="1"/>
          </p:cNvSpPr>
          <p:nvPr/>
        </p:nvSpPr>
        <p:spPr>
          <a:xfrm xmlns:a="http://schemas.openxmlformats.org/drawingml/2006/main">
            <a:off x="429768" y="5230368"/>
            <a:ext cx="9043416" cy="36576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002060"/>
                </a:solidFill>
                <a:latin typeface="맑은 고딕"/>
                <a:ea typeface="맑은 고딕"/>
                <a:cs typeface="맑은 고딕"/>
              </a:defRPr>
            </a:pPr>
            <a:r>
              <a:rPr sz="1000" b="0">
                <a:solidFill>
                  <a:srgbClr val="002060"/>
                </a:solidFill>
                <a:latin typeface="맑은 고딕"/>
                <a:ea typeface="맑은 고딕"/>
                <a:cs typeface="맑은 고딕"/>
              </a:rPr>
              <a:t>M1 검증 조건·근거 정리   M2 파일럿·제품 점검   M3 최종 보고   남색: 향후 계획</a:t>
            </a:r>
          </a:p>
        </p:txBody>
      </p:sp>
      <p:sp>
        <p:nvSpPr>
          <p:cNvPr id="9" name="Rounded Rectangle 8">
            <a:extLst xmlns:a="http://schemas.openxmlformats.org/drawingml/2006/main">
              <a:ext uri="{FF2B5EF4-FFF2-40B4-BE49-F238E27FC236}">
                <a16:creationId xmlns:a16="http://schemas.microsoft.com/office/drawing/2014/main" id="{964BB06C-9F31-4183-9EAF-BD65BA65E9A8}"/>
              </a:ext>
            </a:extLst>
          </p:cNvPr>
          <p:cNvSpPr>
            <a:spLocks xmlns:a="http://schemas.openxmlformats.org/drawingml/2006/main" noGrp="1"/>
          </p:cNvSpPr>
          <p:nvPr/>
        </p:nvSpPr>
        <p:spPr>
          <a:xfrm xmlns:a="http://schemas.openxmlformats.org/drawingml/2006/main">
            <a:off x="429768" y="5623560"/>
            <a:ext cx="9043416" cy="54864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일정 전제  </a:t>
            </a:r>
            <a:r>
              <a:rPr sz="1050" b="0">
                <a:solidFill>
                  <a:srgbClr val="864027"/>
                </a:solidFill>
                <a:latin typeface="맑은 고딕"/>
                <a:ea typeface="맑은 고딕"/>
                <a:cs typeface="맑은 고딕"/>
              </a:rPr>
              <a:t>12주는 제안 일정이며 시작·종료일은 학기 일정에 맞춰 협의합니다. W2 범위 점검과 W8 중간 결과 점검에서 작업량을 조정합니다.</a:t>
            </a:r>
          </a:p>
        </p:txBody>
      </p:sp>
    </p:spTree>
    <p:extLst>
      <p:ext uri="{BB962C8B-B14F-4D97-AF65-F5344CB8AC3E}">
        <p14:creationId xmlns:p14="http://schemas.microsoft.com/office/powerpoint/2010/main" val="16893550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DEE9BBB7-9A6F-432D-8992-212E6F822A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3. 수행 방안 및 일정</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90F7333B-44AC-F7E9-D49D-FE92F45E0477}" type="slidenum">
              <a:rPr b="0">
                <a:solidFill>
                  <a:srgbClr val="000000"/>
                </a:solidFill>
                <a:latin typeface="맑은 고딕"/>
                <a:ea typeface="맑은 고딕"/>
                <a:cs typeface="맑은 고딕"/>
              </a:rPr>
              <a:t>17</a:t>
            </a:fld>
            <a:endParaRPr/>
          </a:p>
        </p:txBody>
      </p:sp>
      <p:sp>
        <p:nvSpPr>
          <p:cNvPr id="5" name="TextBox 4">
            <a:extLst xmlns:a="http://schemas.openxmlformats.org/drawingml/2006/main">
              <a:ext uri="{FF2B5EF4-FFF2-40B4-BE49-F238E27FC236}">
                <a16:creationId xmlns:a16="http://schemas.microsoft.com/office/drawing/2014/main" id="{8F841B29-3519-42E9-9DDC-8E250596D6CE}"/>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3-6. 단계별 산출물 및 R&amp;R</a:t>
            </a:r>
          </a:p>
        </p:txBody>
      </p:sp>
      <p:sp>
        <p:nvSpPr>
          <p:cNvPr id="6" name="TextBox 5">
            <a:extLst xmlns:a="http://schemas.openxmlformats.org/drawingml/2006/main">
              <a:ext uri="{FF2B5EF4-FFF2-40B4-BE49-F238E27FC236}">
                <a16:creationId xmlns:a16="http://schemas.microsoft.com/office/drawing/2014/main" id="{DE419C0B-558D-43DE-919A-E79F206F3C74}"/>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분야 담당자는 템플릿·축·검사·평가 사례를 제출하고, 통합 담당자는 공통 흐름을 확인합니다</a:t>
            </a:r>
          </a:p>
        </p:txBody>
      </p:sp>
      <p:graphicFrame>
        <p:nvGraphicFramePr>
          <p:cNvPr id="14" name="Table 6"/>
          <p:cNvGraphicFramePr/>
          <p:nvPr/>
        </p:nvGraphicFramePr>
        <p:xfrm>
          <a:off xmlns:a="http://schemas.openxmlformats.org/drawingml/2006/main" x="429768" y="1737360"/>
          <a:ext xmlns:a="http://schemas.openxmlformats.org/drawingml/2006/main" cx="9043415" cy="3328416"/>
        </p:xfrm>
        <a:graphic xmlns:a="http://schemas.openxmlformats.org/drawingml/2006/main">
          <a:graphicData uri="http://schemas.openxmlformats.org/drawingml/2006/table">
            <a:tbl>
              <a:tblPr firstRow="1">
                <a:tableStyleId>{5C22544A-7EE6-4342-B048-85BDC9FD1C3A}</a:tableStyleId>
              </a:tblPr>
              <a:tblGrid>
                <a:gridCol w="1335959"/>
                <a:gridCol w="4727240"/>
                <a:gridCol w="1644257"/>
                <a:gridCol w="1335959"/>
              </a:tblGrid>
              <a:tr h="475488">
                <a:tc>
                  <a:txBody>
                    <a:bodyPr wrap="square">
                      <a:noAutofit/>
                    </a:bodyPr>
                    <a:lstStyle/>
                    <a:p>
                      <a:r>
                        <a:rPr sz="1000" b="1">
                          <a:solidFill>
                            <a:srgbClr val="FFFFFF"/>
                          </a:solidFill>
                          <a:latin typeface="맑은 고딕"/>
                          <a:ea typeface="맑은 고딕"/>
                          <a:cs typeface="맑은 고딕"/>
                        </a:rPr>
                        <a:t>단계</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주요 산출물</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형태</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책임 역할(안)</a:t>
                      </a:r>
                    </a:p>
                  </a:txBody>
                  <a:tcPr marL="64008" marR="64008" marT="32004" marB="32004" anchor="ctr">
                    <a:solidFill>
                      <a:srgbClr val="002060"/>
                    </a:solidFill>
                  </a:tcPr>
                </a:tc>
              </a:tr>
              <a:tr h="475488">
                <a:tc>
                  <a:txBody>
                    <a:bodyPr wrap="square">
                      <a:noAutofit/>
                    </a:bodyPr>
                    <a:lstStyle/>
                    <a:p>
                      <a:r>
                        <a:rPr sz="1000" b="1">
                          <a:solidFill>
                            <a:srgbClr val="262626"/>
                          </a:solidFill>
                          <a:latin typeface="맑은 고딕"/>
                          <a:ea typeface="맑은 고딕"/>
                          <a:cs typeface="맑은 고딕"/>
                        </a:rPr>
                        <a:t>착수</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범위·요구사항·일정·예산 합의</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문서</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총괄·팀 공동</a:t>
                      </a:r>
                    </a:p>
                  </a:txBody>
                  <a:tcPr marL="64008" marR="64008" marT="32004" marB="32004" anchor="ctr">
                    <a:solidFill>
                      <a:srgbClr val="FFFFFF"/>
                    </a:solidFill>
                  </a:tcPr>
                </a:tc>
              </a:tr>
              <a:tr h="475488">
                <a:tc>
                  <a:txBody>
                    <a:bodyPr wrap="square">
                      <a:noAutofit/>
                    </a:bodyPr>
                    <a:lstStyle/>
                    <a:p>
                      <a:r>
                        <a:rPr sz="1000" b="1">
                          <a:solidFill>
                            <a:srgbClr val="262626"/>
                          </a:solidFill>
                          <a:latin typeface="맑은 고딕"/>
                          <a:ea typeface="맑은 고딕"/>
                          <a:cs typeface="맑은 고딕"/>
                        </a:rPr>
                        <a:t>PoC 보강</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비교 조건·독립 문서·결과 보고</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코드·데이터</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공통 엔진·요약</a:t>
                      </a:r>
                    </a:p>
                  </a:txBody>
                  <a:tcPr marL="64008" marR="64008" marT="32004" marB="32004" anchor="ctr">
                    <a:solidFill>
                      <a:srgbClr val="F3F4F7"/>
                    </a:solidFill>
                  </a:tcPr>
                </a:tc>
              </a:tr>
              <a:tr h="475488">
                <a:tc>
                  <a:txBody>
                    <a:bodyPr wrap="square">
                      <a:noAutofit/>
                    </a:bodyPr>
                    <a:lstStyle/>
                    <a:p>
                      <a:r>
                        <a:rPr sz="1000" b="1">
                          <a:solidFill>
                            <a:srgbClr val="262626"/>
                          </a:solidFill>
                          <a:latin typeface="맑은 고딕"/>
                          <a:ea typeface="맑은 고딕"/>
                          <a:cs typeface="맑은 고딕"/>
                        </a:rPr>
                        <a:t>파일럿</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프로토콜·동의 안내·참여자 집계</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문서·데이터</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파일럿 담당</a:t>
                      </a:r>
                    </a:p>
                  </a:txBody>
                  <a:tcPr marL="64008" marR="64008" marT="32004" marB="32004" anchor="ctr">
                    <a:solidFill>
                      <a:srgbClr val="FFFFFF"/>
                    </a:solidFill>
                  </a:tcPr>
                </a:tc>
              </a:tr>
              <a:tr h="475488">
                <a:tc>
                  <a:txBody>
                    <a:bodyPr wrap="square">
                      <a:noAutofit/>
                    </a:bodyPr>
                    <a:lstStyle/>
                    <a:p>
                      <a:r>
                        <a:rPr sz="1000" b="1">
                          <a:solidFill>
                            <a:srgbClr val="262626"/>
                          </a:solidFill>
                          <a:latin typeface="맑은 고딕"/>
                          <a:ea typeface="맑은 고딕"/>
                          <a:cs typeface="맑은 고딕"/>
                        </a:rPr>
                        <a:t>제품 개발</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보관함·재실행·화면·API 연결</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코드</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화면 통합 담당</a:t>
                      </a:r>
                    </a:p>
                  </a:txBody>
                  <a:tcPr marL="64008" marR="64008" marT="32004" marB="32004" anchor="ctr">
                    <a:solidFill>
                      <a:srgbClr val="F3F4F7"/>
                    </a:solidFill>
                  </a:tcPr>
                </a:tc>
              </a:tr>
              <a:tr h="475488">
                <a:tc>
                  <a:txBody>
                    <a:bodyPr wrap="square">
                      <a:noAutofit/>
                    </a:bodyPr>
                    <a:lstStyle/>
                    <a:p>
                      <a:r>
                        <a:rPr sz="1000" b="1">
                          <a:solidFill>
                            <a:srgbClr val="262626"/>
                          </a:solidFill>
                          <a:latin typeface="맑은 고딕"/>
                          <a:ea typeface="맑은 고딕"/>
                          <a:cs typeface="맑은 고딕"/>
                        </a:rPr>
                        <a:t>확장 검증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코딩 빌드·동작, AWS 금액·기간 검사</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코드·데이터</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코딩·AWS 담당</a:t>
                      </a:r>
                    </a:p>
                  </a:txBody>
                  <a:tcPr marL="64008" marR="64008" marT="32004" marB="32004" anchor="ctr">
                    <a:solidFill>
                      <a:srgbClr val="FFFFFF"/>
                    </a:solidFill>
                  </a:tcPr>
                </a:tc>
              </a:tr>
              <a:tr h="475488">
                <a:tc>
                  <a:txBody>
                    <a:bodyPr wrap="square">
                      <a:noAutofit/>
                    </a:bodyPr>
                    <a:lstStyle/>
                    <a:p>
                      <a:r>
                        <a:rPr sz="1000" b="1">
                          <a:solidFill>
                            <a:srgbClr val="262626"/>
                          </a:solidFill>
                          <a:latin typeface="맑은 고딕"/>
                          <a:ea typeface="맑은 고딕"/>
                          <a:cs typeface="맑은 고딕"/>
                        </a:rPr>
                        <a:t>종료</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최종 보고·발표·실행 안내</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문서</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팀 공동</a:t>
                      </a:r>
                    </a:p>
                  </a:txBody>
                  <a:tcPr marL="64008" marR="64008" marT="32004" marB="32004" anchor="ctr">
                    <a:solidFill>
                      <a:srgbClr val="F3F4F7"/>
                    </a:solidFill>
                  </a:tcPr>
                </a:tc>
              </a:tr>
            </a:tbl>
          </a:graphicData>
        </a:graphic>
      </p:graphicFrame>
      <p:sp>
        <p:nvSpPr>
          <p:cNvPr id="8" name="Rounded Rectangle 7">
            <a:extLst xmlns:a="http://schemas.openxmlformats.org/drawingml/2006/main">
              <a:ext uri="{FF2B5EF4-FFF2-40B4-BE49-F238E27FC236}">
                <a16:creationId xmlns:a16="http://schemas.microsoft.com/office/drawing/2014/main" id="{8C7D8574-143F-4C83-A4F4-1C951078F8BE}"/>
              </a:ext>
            </a:extLst>
          </p:cNvPr>
          <p:cNvSpPr>
            <a:spLocks xmlns:a="http://schemas.openxmlformats.org/drawingml/2006/main" noGrp="1"/>
          </p:cNvSpPr>
          <p:nvPr/>
        </p:nvSpPr>
        <p:spPr>
          <a:xfrm xmlns:a="http://schemas.openxmlformats.org/drawingml/2006/main">
            <a:off x="429768" y="5349240"/>
            <a:ext cx="9043416" cy="68580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책임 확정  </a:t>
            </a:r>
            <a:r>
              <a:rPr sz="1050" b="0">
                <a:solidFill>
                  <a:srgbClr val="864027"/>
                </a:solidFill>
                <a:latin typeface="맑은 고딕"/>
                <a:ea typeface="맑은 고딕"/>
                <a:cs typeface="맑은 고딕"/>
              </a:rPr>
              <a:t>역할별 산출물 기준을 먼저 정합니다. 실제 이름과 담당 배정은 팀 협의 후 확정하며, 검증 결과를 저장소에 남깁니다.</a:t>
            </a:r>
          </a:p>
        </p:txBody>
      </p:sp>
    </p:spTree>
    <p:extLst>
      <p:ext uri="{BB962C8B-B14F-4D97-AF65-F5344CB8AC3E}">
        <p14:creationId xmlns:p14="http://schemas.microsoft.com/office/powerpoint/2010/main" val="15664897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36A860DD-43A6-4FAA-BA6A-75A8E35D6D4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4. 추진 조직 및 인력</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B1C6C81E-38B9-7560-621D-5A151A79DF9B}" type="slidenum">
              <a:rPr b="0">
                <a:solidFill>
                  <a:srgbClr val="000000"/>
                </a:solidFill>
                <a:latin typeface="맑은 고딕"/>
                <a:ea typeface="맑은 고딕"/>
                <a:cs typeface="맑은 고딕"/>
              </a:rPr>
              <a:t>18</a:t>
            </a:fld>
            <a:endParaRPr/>
          </a:p>
        </p:txBody>
      </p:sp>
      <p:sp>
        <p:nvSpPr>
          <p:cNvPr id="5" name="TextBox 4">
            <a:extLst xmlns:a="http://schemas.openxmlformats.org/drawingml/2006/main">
              <a:ext uri="{FF2B5EF4-FFF2-40B4-BE49-F238E27FC236}">
                <a16:creationId xmlns:a16="http://schemas.microsoft.com/office/drawing/2014/main" id="{6119ECAC-C457-43C0-8EA6-BD199891F783}"/>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4-1. 추진 조직 및 역할</a:t>
            </a:r>
          </a:p>
        </p:txBody>
      </p:sp>
      <p:sp>
        <p:nvSpPr>
          <p:cNvPr id="6" name="TextBox 5">
            <a:extLst xmlns:a="http://schemas.openxmlformats.org/drawingml/2006/main">
              <a:ext uri="{FF2B5EF4-FFF2-40B4-BE49-F238E27FC236}">
                <a16:creationId xmlns:a16="http://schemas.microsoft.com/office/drawing/2014/main" id="{EEAA843C-7306-415C-8210-C0B1F64CF88F}"/>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3인 팀의 분야별 책임을 제안하고, 공통 기반·화면 통합·파일럿 운영은 함께 배정합니다</a:t>
            </a:r>
          </a:p>
        </p:txBody>
      </p:sp>
      <p:sp>
        <p:nvSpPr>
          <p:cNvPr id="7" name="Rounded Rectangle 6">
            <a:extLst xmlns:a="http://schemas.openxmlformats.org/drawingml/2006/main">
              <a:ext uri="{FF2B5EF4-FFF2-40B4-BE49-F238E27FC236}">
                <a16:creationId xmlns:a16="http://schemas.microsoft.com/office/drawing/2014/main" id="{35CD3910-01D9-49D4-B539-8DA07CF1D513}"/>
              </a:ext>
            </a:extLst>
          </p:cNvPr>
          <p:cNvSpPr>
            <a:spLocks xmlns:a="http://schemas.openxmlformats.org/drawingml/2006/main" noGrp="1"/>
          </p:cNvSpPr>
          <p:nvPr/>
        </p:nvSpPr>
        <p:spPr>
          <a:xfrm xmlns:a="http://schemas.openxmlformats.org/drawingml/2006/main">
            <a:off x="3488436" y="1783080"/>
            <a:ext cx="2926080" cy="731520"/>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pPr algn="ctr">
              <a:spcBef>
                <a:spcPts val="0"/>
              </a:spcBef>
              <a:spcAft>
                <a:spcPts val="0"/>
              </a:spcAft>
            </a:pPr>
            <a:r>
              <a:rPr sz="1200" b="1">
                <a:solidFill>
                  <a:srgbClr val="FFFFFF"/>
                </a:solidFill>
                <a:latin typeface="맑은 고딕"/>
                <a:ea typeface="맑은 고딕"/>
                <a:cs typeface="맑은 고딕"/>
              </a:rPr>
              <a:t>PM·통합 조정</a:t>
            </a:r>
          </a:p>
          <a:p xmlns:a="http://schemas.openxmlformats.org/drawingml/2006/main">
            <a:pPr algn="ctr">
              <a:spcBef>
                <a:spcPts val="0"/>
              </a:spcBef>
              <a:spcAft>
                <a:spcPts val="0"/>
              </a:spcAft>
            </a:pPr>
            <a:r>
              <a:rPr sz="1050" b="0">
                <a:solidFill>
                  <a:srgbClr val="BFD0EA"/>
                </a:solidFill>
                <a:latin typeface="맑은 고딕"/>
                <a:ea typeface="맑은 고딕"/>
                <a:cs typeface="맑은 고딕"/>
              </a:rPr>
              <a:t>담당자 협의 예정</a:t>
            </a:r>
          </a:p>
        </p:txBody>
      </p:sp>
      <p:sp>
        <p:nvSpPr>
          <p:cNvPr id="8" name="Connector 7">
            <a:extLst xmlns:a="http://schemas.openxmlformats.org/drawingml/2006/main">
              <a:ext uri="{FF2B5EF4-FFF2-40B4-BE49-F238E27FC236}">
                <a16:creationId xmlns:a16="http://schemas.microsoft.com/office/drawing/2014/main" id="{60CA13F6-F9BD-4E84-842B-0AE313524BBC}"/>
              </a:ext>
            </a:extLst>
          </p:cNvPr>
          <p:cNvSpPr>
            <a:spLocks xmlns:a="http://schemas.openxmlformats.org/drawingml/2006/main" noGrp="1"/>
          </p:cNvSpPr>
          <p:nvPr/>
        </p:nvSpPr>
        <p:spPr>
          <a:xfrm xmlns:a="http://schemas.openxmlformats.org/drawingml/2006/main">
            <a:off x="4951476" y="2514600"/>
            <a:ext cx="0" cy="274320"/>
          </a:xfrm>
          <a:prstGeom xmlns:a="http://schemas.openxmlformats.org/drawingml/2006/main" prst="line">
            <a:avLst/>
          </a:prstGeom>
          <a:ln xmlns:a="http://schemas.openxmlformats.org/drawingml/2006/main">
            <a:solidFill>
              <a:srgbClr val="6E6E6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78E939F5-14A0-4479-809D-D7FCBA20226D}"/>
              </a:ext>
            </a:extLst>
          </p:cNvPr>
          <p:cNvSpPr>
            <a:spLocks xmlns:a="http://schemas.openxmlformats.org/drawingml/2006/main" noGrp="1"/>
          </p:cNvSpPr>
          <p:nvPr/>
        </p:nvSpPr>
        <p:spPr>
          <a:xfrm xmlns:a="http://schemas.openxmlformats.org/drawingml/2006/main">
            <a:off x="1891284" y="2788920"/>
            <a:ext cx="6120384" cy="0"/>
          </a:xfrm>
          <a:prstGeom xmlns:a="http://schemas.openxmlformats.org/drawingml/2006/main" prst="line">
            <a:avLst/>
          </a:prstGeom>
          <a:ln xmlns:a="http://schemas.openxmlformats.org/drawingml/2006/main">
            <a:solidFill>
              <a:srgbClr val="6E6E6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DB7C10EE-02A1-4771-80D5-159CEF7A8611}"/>
              </a:ext>
            </a:extLst>
          </p:cNvPr>
          <p:cNvSpPr>
            <a:spLocks xmlns:a="http://schemas.openxmlformats.org/drawingml/2006/main" noGrp="1"/>
          </p:cNvSpPr>
          <p:nvPr/>
        </p:nvSpPr>
        <p:spPr>
          <a:xfrm xmlns:a="http://schemas.openxmlformats.org/drawingml/2006/main">
            <a:off x="1891284" y="2788920"/>
            <a:ext cx="0" cy="228600"/>
          </a:xfrm>
          <a:prstGeom xmlns:a="http://schemas.openxmlformats.org/drawingml/2006/main" prst="line">
            <a:avLst/>
          </a:prstGeom>
          <a:ln xmlns:a="http://schemas.openxmlformats.org/drawingml/2006/main">
            <a:solidFill>
              <a:srgbClr val="6E6E6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Rounded Rectangle 10">
            <a:extLst xmlns:a="http://schemas.openxmlformats.org/drawingml/2006/main">
              <a:ext uri="{FF2B5EF4-FFF2-40B4-BE49-F238E27FC236}">
                <a16:creationId xmlns:a16="http://schemas.microsoft.com/office/drawing/2014/main" id="{E5672DE9-8B8C-42A8-B934-E76480116433}"/>
              </a:ext>
            </a:extLst>
          </p:cNvPr>
          <p:cNvSpPr>
            <a:spLocks xmlns:a="http://schemas.openxmlformats.org/drawingml/2006/main" noGrp="1"/>
          </p:cNvSpPr>
          <p:nvPr/>
        </p:nvSpPr>
        <p:spPr>
          <a:xfrm xmlns:a="http://schemas.openxmlformats.org/drawingml/2006/main">
            <a:off x="429768" y="3017520"/>
            <a:ext cx="2923032" cy="17830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100"/>
              </a:spcAft>
            </a:pPr>
            <a:r>
              <a:rPr sz="1200" b="1">
                <a:solidFill>
                  <a:srgbClr val="002060"/>
                </a:solidFill>
                <a:latin typeface="맑은 고딕"/>
                <a:ea typeface="맑은 고딕"/>
                <a:cs typeface="맑은 고딕"/>
              </a:rPr>
              <a:t>공통 엔진·요약</a:t>
            </a:r>
          </a:p>
          <a:p xmlns:a="http://schemas.openxmlformats.org/drawingml/2006/main">
            <a:pPr algn="l">
              <a:spcBef>
                <a:spcPts val="0"/>
              </a:spcBef>
              <a:spcAft>
                <a:spcPts val="600"/>
              </a:spcAft>
            </a:pPr>
            <a:r>
              <a:rPr sz="1000" b="0">
                <a:solidFill>
                  <a:srgbClr val="6E6E6E"/>
                </a:solidFill>
                <a:latin typeface="맑은 고딕"/>
                <a:ea typeface="맑은 고딕"/>
                <a:cs typeface="맑은 고딕"/>
              </a:rPr>
              <a:t>담당자 협의 예정</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선호 엔진과 요약 도메인</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비교군·독립 지표 실험</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한국어 파일럿 설계</a:t>
            </a:r>
          </a:p>
        </p:txBody>
      </p:sp>
      <p:sp>
        <p:nvSpPr>
          <p:cNvPr id="12" name="Connector 11">
            <a:extLst xmlns:a="http://schemas.openxmlformats.org/drawingml/2006/main">
              <a:ext uri="{FF2B5EF4-FFF2-40B4-BE49-F238E27FC236}">
                <a16:creationId xmlns:a16="http://schemas.microsoft.com/office/drawing/2014/main" id="{4A8FC983-88A7-4B51-853B-20EBA90E7741}"/>
              </a:ext>
            </a:extLst>
          </p:cNvPr>
          <p:cNvSpPr>
            <a:spLocks xmlns:a="http://schemas.openxmlformats.org/drawingml/2006/main" noGrp="1"/>
          </p:cNvSpPr>
          <p:nvPr/>
        </p:nvSpPr>
        <p:spPr>
          <a:xfrm xmlns:a="http://schemas.openxmlformats.org/drawingml/2006/main">
            <a:off x="4951476" y="2788920"/>
            <a:ext cx="0" cy="228600"/>
          </a:xfrm>
          <a:prstGeom xmlns:a="http://schemas.openxmlformats.org/drawingml/2006/main" prst="line">
            <a:avLst/>
          </a:prstGeom>
          <a:ln xmlns:a="http://schemas.openxmlformats.org/drawingml/2006/main">
            <a:solidFill>
              <a:srgbClr val="6E6E6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Rounded Rectangle 12">
            <a:extLst xmlns:a="http://schemas.openxmlformats.org/drawingml/2006/main">
              <a:ext uri="{FF2B5EF4-FFF2-40B4-BE49-F238E27FC236}">
                <a16:creationId xmlns:a16="http://schemas.microsoft.com/office/drawing/2014/main" id="{1B6A3340-1BC1-4E9B-AFB0-DFDEFF56A5C9}"/>
              </a:ext>
            </a:extLst>
          </p:cNvPr>
          <p:cNvSpPr>
            <a:spLocks xmlns:a="http://schemas.openxmlformats.org/drawingml/2006/main" noGrp="1"/>
          </p:cNvSpPr>
          <p:nvPr/>
        </p:nvSpPr>
        <p:spPr>
          <a:xfrm xmlns:a="http://schemas.openxmlformats.org/drawingml/2006/main">
            <a:off x="3489960" y="3017520"/>
            <a:ext cx="2923032" cy="178308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100"/>
              </a:spcAft>
            </a:pPr>
            <a:r>
              <a:rPr sz="1200" b="1">
                <a:solidFill>
                  <a:srgbClr val="002060"/>
                </a:solidFill>
                <a:latin typeface="맑은 고딕"/>
                <a:ea typeface="맑은 고딕"/>
                <a:cs typeface="맑은 고딕"/>
              </a:rPr>
              <a:t>코딩·화면 통합</a:t>
            </a:r>
          </a:p>
          <a:p xmlns:a="http://schemas.openxmlformats.org/drawingml/2006/main">
            <a:pPr algn="l">
              <a:spcBef>
                <a:spcPts val="0"/>
              </a:spcBef>
              <a:spcAft>
                <a:spcPts val="600"/>
              </a:spcAft>
            </a:pPr>
            <a:r>
              <a:rPr sz="1000" b="0">
                <a:solidFill>
                  <a:srgbClr val="6E6E6E"/>
                </a:solidFill>
                <a:latin typeface="맑은 고딕"/>
                <a:ea typeface="맑은 고딕"/>
                <a:cs typeface="맑은 고딕"/>
              </a:rPr>
              <a:t>담당자 협의 예정</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코딩 템플릿과 기능 검사</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React 화면·API 연결</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저장·재실행 흐름</a:t>
            </a:r>
          </a:p>
        </p:txBody>
      </p:sp>
      <p:sp>
        <p:nvSpPr>
          <p:cNvPr id="14" name="Connector 13">
            <a:extLst xmlns:a="http://schemas.openxmlformats.org/drawingml/2006/main">
              <a:ext uri="{FF2B5EF4-FFF2-40B4-BE49-F238E27FC236}">
                <a16:creationId xmlns:a16="http://schemas.microsoft.com/office/drawing/2014/main" id="{F5199676-CC3C-4CB2-B27F-CD4E66FBAF31}"/>
              </a:ext>
            </a:extLst>
          </p:cNvPr>
          <p:cNvSpPr>
            <a:spLocks xmlns:a="http://schemas.openxmlformats.org/drawingml/2006/main" noGrp="1"/>
          </p:cNvSpPr>
          <p:nvPr/>
        </p:nvSpPr>
        <p:spPr>
          <a:xfrm xmlns:a="http://schemas.openxmlformats.org/drawingml/2006/main">
            <a:off x="8011668" y="2788920"/>
            <a:ext cx="0" cy="228600"/>
          </a:xfrm>
          <a:prstGeom xmlns:a="http://schemas.openxmlformats.org/drawingml/2006/main" prst="line">
            <a:avLst/>
          </a:prstGeom>
          <a:ln xmlns:a="http://schemas.openxmlformats.org/drawingml/2006/main">
            <a:solidFill>
              <a:srgbClr val="6E6E6E"/>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Rounded Rectangle 14">
            <a:extLst xmlns:a="http://schemas.openxmlformats.org/drawingml/2006/main">
              <a:ext uri="{FF2B5EF4-FFF2-40B4-BE49-F238E27FC236}">
                <a16:creationId xmlns:a16="http://schemas.microsoft.com/office/drawing/2014/main" id="{F8057090-A58A-435F-8D23-41C92BB1ECAC}"/>
              </a:ext>
            </a:extLst>
          </p:cNvPr>
          <p:cNvSpPr>
            <a:spLocks xmlns:a="http://schemas.openxmlformats.org/drawingml/2006/main" noGrp="1"/>
          </p:cNvSpPr>
          <p:nvPr/>
        </p:nvSpPr>
        <p:spPr>
          <a:xfrm xmlns:a="http://schemas.openxmlformats.org/drawingml/2006/main">
            <a:off x="6550152" y="3017520"/>
            <a:ext cx="2923032" cy="1783080"/>
          </a:xfrm>
          <a:prstGeom xmlns:a="http://schemas.openxmlformats.org/drawingml/2006/main" prst="roundRect">
            <a:avLst>
              <a:gd name="adj" fmla="val 6000"/>
            </a:avLst>
          </a:prstGeom>
          <a:solidFill xmlns:a="http://schemas.openxmlformats.org/drawingml/2006/main">
            <a:srgbClr val="FBE9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100"/>
              </a:spcAft>
            </a:pPr>
            <a:r>
              <a:rPr sz="1200" b="1">
                <a:solidFill>
                  <a:srgbClr val="002060"/>
                </a:solidFill>
                <a:latin typeface="맑은 고딕"/>
                <a:ea typeface="맑은 고딕"/>
                <a:cs typeface="맑은 고딕"/>
              </a:rPr>
              <a:t>AWS·운영</a:t>
            </a:r>
          </a:p>
          <a:p xmlns:a="http://schemas.openxmlformats.org/drawingml/2006/main">
            <a:pPr algn="l">
              <a:spcBef>
                <a:spcPts val="0"/>
              </a:spcBef>
              <a:spcAft>
                <a:spcPts val="600"/>
              </a:spcAft>
            </a:pPr>
            <a:r>
              <a:rPr sz="1000" b="0">
                <a:solidFill>
                  <a:srgbClr val="6E6E6E"/>
                </a:solidFill>
                <a:latin typeface="맑은 고딕"/>
                <a:ea typeface="맑은 고딕"/>
                <a:cs typeface="맑은 고딕"/>
              </a:rPr>
              <a:t>담당자 협의 예정</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비용 데이터·보고 정확성</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파일럿 모집·운영 분담</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문서·발표 자료 분담</a:t>
            </a:r>
          </a:p>
        </p:txBody>
      </p:sp>
      <p:sp>
        <p:nvSpPr>
          <p:cNvPr id="16" name="Rounded Rectangle 15">
            <a:extLst xmlns:a="http://schemas.openxmlformats.org/drawingml/2006/main">
              <a:ext uri="{FF2B5EF4-FFF2-40B4-BE49-F238E27FC236}">
                <a16:creationId xmlns:a16="http://schemas.microsoft.com/office/drawing/2014/main" id="{3B1BA678-65B7-438C-823C-5531424BA65F}"/>
              </a:ext>
            </a:extLst>
          </p:cNvPr>
          <p:cNvSpPr>
            <a:spLocks xmlns:a="http://schemas.openxmlformats.org/drawingml/2006/main" noGrp="1"/>
          </p:cNvSpPr>
          <p:nvPr/>
        </p:nvSpPr>
        <p:spPr>
          <a:xfrm xmlns:a="http://schemas.openxmlformats.org/drawingml/2006/main">
            <a:off x="429768" y="5029200"/>
            <a:ext cx="9043416" cy="96012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팀 합의 항목  </a:t>
            </a:r>
            <a:r>
              <a:rPr sz="1050" b="0">
                <a:solidFill>
                  <a:srgbClr val="864027"/>
                </a:solidFill>
                <a:latin typeface="맑은 고딕"/>
                <a:ea typeface="맑은 고딕"/>
                <a:cs typeface="맑은 고딕"/>
              </a:rPr>
              <a:t>팀명·이름·실제 투입 가능 시간, 지도교수·멘토, 통합·모집·발표 담당을 확정합니다. 역할은 실제 산출물로 관리합니다.</a:t>
            </a:r>
          </a:p>
        </p:txBody>
      </p:sp>
    </p:spTree>
    <p:extLst>
      <p:ext uri="{BB962C8B-B14F-4D97-AF65-F5344CB8AC3E}">
        <p14:creationId xmlns:p14="http://schemas.microsoft.com/office/powerpoint/2010/main" val="9543196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3AF695DA-2DB7-4132-B067-7DFD8B2143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4. 추진 조직 및 인력</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CCF91274-D221-1BB4-3BF9-836E3AD31EBE}" type="slidenum">
              <a:rPr b="0">
                <a:solidFill>
                  <a:srgbClr val="000000"/>
                </a:solidFill>
                <a:latin typeface="맑은 고딕"/>
                <a:ea typeface="맑은 고딕"/>
                <a:cs typeface="맑은 고딕"/>
              </a:rPr>
              <a:t>19</a:t>
            </a:fld>
            <a:endParaRPr/>
          </a:p>
        </p:txBody>
      </p:sp>
      <p:sp>
        <p:nvSpPr>
          <p:cNvPr id="5" name="TextBox 4">
            <a:extLst xmlns:a="http://schemas.openxmlformats.org/drawingml/2006/main">
              <a:ext uri="{FF2B5EF4-FFF2-40B4-BE49-F238E27FC236}">
                <a16:creationId xmlns:a16="http://schemas.microsoft.com/office/drawing/2014/main" id="{01B1D664-1A2F-4936-AB81-55E0F0A1DA25}"/>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4-2. 협업 및 의사결정 체계</a:t>
            </a:r>
          </a:p>
        </p:txBody>
      </p:sp>
      <p:sp>
        <p:nvSpPr>
          <p:cNvPr id="6" name="TextBox 5">
            <a:extLst xmlns:a="http://schemas.openxmlformats.org/drawingml/2006/main">
              <a:ext uri="{FF2B5EF4-FFF2-40B4-BE49-F238E27FC236}">
                <a16:creationId xmlns:a16="http://schemas.microsoft.com/office/drawing/2014/main" id="{6BB7D9EC-9655-44A1-88BB-445BDC406FF4}"/>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작업 브랜치에서 리뷰와 자동 검사를 거쳐 통합하고, 범위 변경의 이유와 영향을 기록합니다</a:t>
            </a:r>
          </a:p>
        </p:txBody>
      </p:sp>
      <p:sp>
        <p:nvSpPr>
          <p:cNvPr id="7" name="Rounded Rectangle 6">
            <a:extLst xmlns:a="http://schemas.openxmlformats.org/drawingml/2006/main">
              <a:ext uri="{FF2B5EF4-FFF2-40B4-BE49-F238E27FC236}">
                <a16:creationId xmlns:a16="http://schemas.microsoft.com/office/drawing/2014/main" id="{97481543-C5E1-4A12-886F-82C4FEBAA703}"/>
              </a:ext>
            </a:extLst>
          </p:cNvPr>
          <p:cNvSpPr>
            <a:spLocks xmlns:a="http://schemas.openxmlformats.org/drawingml/2006/main" noGrp="1"/>
          </p:cNvSpPr>
          <p:nvPr/>
        </p:nvSpPr>
        <p:spPr>
          <a:xfrm xmlns:a="http://schemas.openxmlformats.org/drawingml/2006/main">
            <a:off x="429768" y="1783080"/>
            <a:ext cx="2020824" cy="731520"/>
          </a:xfrm>
          <a:prstGeom xmlns:a="http://schemas.openxmlformats.org/drawingml/2006/main" prst="roundRect">
            <a:avLst>
              <a:gd name="adj" fmla="val 6000"/>
            </a:avLst>
          </a:prstGeom>
          <a:solidFill xmlns:a="http://schemas.openxmlformats.org/drawingml/2006/main">
            <a:srgbClr val="E6EBF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pPr algn="ctr">
              <a:buNone/>
            </a:pPr>
            <a:r>
              <a:rPr sz="1100" b="1">
                <a:solidFill>
                  <a:srgbClr val="002060"/>
                </a:solidFill>
              </a:rPr>
              <a:t>작업 브랜치</a:t>
            </a:r>
          </a:p>
        </p:txBody>
      </p:sp>
      <p:sp>
        <p:nvSpPr>
          <p:cNvPr id="8" name="Right Arrow 7">
            <a:extLst xmlns:a="http://schemas.openxmlformats.org/drawingml/2006/main">
              <a:ext uri="{FF2B5EF4-FFF2-40B4-BE49-F238E27FC236}">
                <a16:creationId xmlns:a16="http://schemas.microsoft.com/office/drawing/2014/main" id="{D9872600-1700-49C3-812D-75AFBFF75E7C}"/>
              </a:ext>
            </a:extLst>
          </p:cNvPr>
          <p:cNvSpPr>
            <a:spLocks xmlns:a="http://schemas.openxmlformats.org/drawingml/2006/main" noGrp="1"/>
          </p:cNvSpPr>
          <p:nvPr/>
        </p:nvSpPr>
        <p:spPr>
          <a:xfrm xmlns:a="http://schemas.openxmlformats.org/drawingml/2006/main">
            <a:off x="2514599" y="2039112"/>
            <a:ext cx="192024" cy="219456"/>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ounded Rectangle 8">
            <a:extLst xmlns:a="http://schemas.openxmlformats.org/drawingml/2006/main">
              <a:ext uri="{FF2B5EF4-FFF2-40B4-BE49-F238E27FC236}">
                <a16:creationId xmlns:a16="http://schemas.microsoft.com/office/drawing/2014/main" id="{270F3B3F-435D-4415-92EA-068366E605F0}"/>
              </a:ext>
            </a:extLst>
          </p:cNvPr>
          <p:cNvSpPr>
            <a:spLocks xmlns:a="http://schemas.openxmlformats.org/drawingml/2006/main" noGrp="1"/>
          </p:cNvSpPr>
          <p:nvPr/>
        </p:nvSpPr>
        <p:spPr>
          <a:xfrm xmlns:a="http://schemas.openxmlformats.org/drawingml/2006/main">
            <a:off x="2770632" y="1783080"/>
            <a:ext cx="2020824" cy="731520"/>
          </a:xfrm>
          <a:prstGeom xmlns:a="http://schemas.openxmlformats.org/drawingml/2006/main" prst="roundRect">
            <a:avLst>
              <a:gd name="adj" fmla="val 6000"/>
            </a:avLst>
          </a:prstGeom>
          <a:solidFill xmlns:a="http://schemas.openxmlformats.org/drawingml/2006/main">
            <a:srgbClr val="E6EBF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pPr algn="ctr">
              <a:buNone/>
            </a:pPr>
            <a:r>
              <a:rPr sz="1100" b="1">
                <a:solidFill>
                  <a:srgbClr val="002060"/>
                </a:solidFill>
              </a:rPr>
              <a:t>Pull Request</a:t>
            </a:r>
          </a:p>
        </p:txBody>
      </p:sp>
      <p:sp>
        <p:nvSpPr>
          <p:cNvPr id="10" name="Right Arrow 9">
            <a:extLst xmlns:a="http://schemas.openxmlformats.org/drawingml/2006/main">
              <a:ext uri="{FF2B5EF4-FFF2-40B4-BE49-F238E27FC236}">
                <a16:creationId xmlns:a16="http://schemas.microsoft.com/office/drawing/2014/main" id="{ECC9ABAA-D5E2-40AC-B234-8D9313C351D5}"/>
              </a:ext>
            </a:extLst>
          </p:cNvPr>
          <p:cNvSpPr>
            <a:spLocks xmlns:a="http://schemas.openxmlformats.org/drawingml/2006/main" noGrp="1"/>
          </p:cNvSpPr>
          <p:nvPr/>
        </p:nvSpPr>
        <p:spPr>
          <a:xfrm xmlns:a="http://schemas.openxmlformats.org/drawingml/2006/main">
            <a:off x="4855464" y="2039112"/>
            <a:ext cx="192024" cy="219456"/>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10">
            <a:extLst xmlns:a="http://schemas.openxmlformats.org/drawingml/2006/main">
              <a:ext uri="{FF2B5EF4-FFF2-40B4-BE49-F238E27FC236}">
                <a16:creationId xmlns:a16="http://schemas.microsoft.com/office/drawing/2014/main" id="{F2CC5198-D70B-4726-A7FD-64E70CA0DCE3}"/>
              </a:ext>
            </a:extLst>
          </p:cNvPr>
          <p:cNvSpPr>
            <a:spLocks xmlns:a="http://schemas.openxmlformats.org/drawingml/2006/main" noGrp="1"/>
          </p:cNvSpPr>
          <p:nvPr/>
        </p:nvSpPr>
        <p:spPr>
          <a:xfrm xmlns:a="http://schemas.openxmlformats.org/drawingml/2006/main">
            <a:off x="5111496" y="1783080"/>
            <a:ext cx="2020824" cy="731520"/>
          </a:xfrm>
          <a:prstGeom xmlns:a="http://schemas.openxmlformats.org/drawingml/2006/main" prst="roundRect">
            <a:avLst>
              <a:gd name="adj" fmla="val 6000"/>
            </a:avLst>
          </a:prstGeom>
          <a:solidFill xmlns:a="http://schemas.openxmlformats.org/drawingml/2006/main">
            <a:srgbClr val="E6EBF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pPr algn="ctr">
              <a:buNone/>
            </a:pPr>
            <a:r>
              <a:rPr sz="1100" b="1">
                <a:solidFill>
                  <a:srgbClr val="002060"/>
                </a:solidFill>
              </a:rPr>
              <a:t>CI 통과</a:t>
            </a:r>
          </a:p>
          <a:p xmlns:a="http://schemas.openxmlformats.org/drawingml/2006/main">
            <a:pPr algn="ctr">
              <a:buNone/>
            </a:pPr>
            <a:r>
              <a:rPr sz="950" b="0">
                <a:solidFill>
                  <a:srgbClr val="002060"/>
                </a:solidFill>
              </a:rPr>
              <a:t>(테스트 · 프론트 빌드)</a:t>
            </a:r>
          </a:p>
        </p:txBody>
      </p:sp>
      <p:sp>
        <p:nvSpPr>
          <p:cNvPr id="12" name="Right Arrow 11">
            <a:extLst xmlns:a="http://schemas.openxmlformats.org/drawingml/2006/main">
              <a:ext uri="{FF2B5EF4-FFF2-40B4-BE49-F238E27FC236}">
                <a16:creationId xmlns:a16="http://schemas.microsoft.com/office/drawing/2014/main" id="{36B07875-9ADE-4087-B584-C834B91E29EA}"/>
              </a:ext>
            </a:extLst>
          </p:cNvPr>
          <p:cNvSpPr>
            <a:spLocks xmlns:a="http://schemas.openxmlformats.org/drawingml/2006/main" noGrp="1"/>
          </p:cNvSpPr>
          <p:nvPr/>
        </p:nvSpPr>
        <p:spPr>
          <a:xfrm xmlns:a="http://schemas.openxmlformats.org/drawingml/2006/main">
            <a:off x="7196328" y="2039112"/>
            <a:ext cx="192024" cy="219456"/>
          </a:xfrm>
          <a:prstGeom xmlns:a="http://schemas.openxmlformats.org/drawingml/2006/main" prst="rightArrow">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ounded Rectangle 12">
            <a:extLst xmlns:a="http://schemas.openxmlformats.org/drawingml/2006/main">
              <a:ext uri="{FF2B5EF4-FFF2-40B4-BE49-F238E27FC236}">
                <a16:creationId xmlns:a16="http://schemas.microsoft.com/office/drawing/2014/main" id="{596EA69C-6A76-4295-A733-520AFA0106BC}"/>
              </a:ext>
            </a:extLst>
          </p:cNvPr>
          <p:cNvSpPr>
            <a:spLocks xmlns:a="http://schemas.openxmlformats.org/drawingml/2006/main" noGrp="1"/>
          </p:cNvSpPr>
          <p:nvPr/>
        </p:nvSpPr>
        <p:spPr>
          <a:xfrm xmlns:a="http://schemas.openxmlformats.org/drawingml/2006/main">
            <a:off x="7452360" y="1783080"/>
            <a:ext cx="2020824" cy="731520"/>
          </a:xfrm>
          <a:prstGeom xmlns:a="http://schemas.openxmlformats.org/drawingml/2006/main" prst="roundRect">
            <a:avLst>
              <a:gd name="adj" fmla="val 6000"/>
            </a:avLst>
          </a:prstGeom>
          <a:solidFill xmlns:a="http://schemas.openxmlformats.org/drawingml/2006/main">
            <a:srgbClr val="00206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pPr algn="ctr">
              <a:spcBef>
                <a:spcPts val="0"/>
              </a:spcBef>
              <a:spcAft>
                <a:spcPts val="0"/>
              </a:spcAft>
            </a:pPr>
            <a:r>
              <a:rPr sz="1100" b="1">
                <a:solidFill>
                  <a:srgbClr val="FFFFFF"/>
                </a:solidFill>
                <a:latin typeface="맑은 고딕"/>
                <a:ea typeface="맑은 고딕"/>
                <a:cs typeface="맑은 고딕"/>
              </a:rPr>
              <a:t>통합 브랜치 반영</a:t>
            </a:r>
          </a:p>
        </p:txBody>
      </p:sp>
      <p:sp>
        <p:nvSpPr>
          <p:cNvPr id="14" name="Rounded Rectangle 13">
            <a:extLst xmlns:a="http://schemas.openxmlformats.org/drawingml/2006/main">
              <a:ext uri="{FF2B5EF4-FFF2-40B4-BE49-F238E27FC236}">
                <a16:creationId xmlns:a16="http://schemas.microsoft.com/office/drawing/2014/main" id="{F6024860-B063-4438-86E0-33604CC29D50}"/>
              </a:ext>
            </a:extLst>
          </p:cNvPr>
          <p:cNvSpPr>
            <a:spLocks xmlns:a="http://schemas.openxmlformats.org/drawingml/2006/main" noGrp="1"/>
          </p:cNvSpPr>
          <p:nvPr/>
        </p:nvSpPr>
        <p:spPr>
          <a:xfrm xmlns:a="http://schemas.openxmlformats.org/drawingml/2006/main">
            <a:off x="429768" y="2788920"/>
            <a:ext cx="4453128" cy="11430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형상 관리 계획</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작업 브랜치에서 변경, PR 리뷰와 CI 후 통합</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발표 근거 브랜치: ui/ux</a:t>
            </a:r>
          </a:p>
        </p:txBody>
      </p:sp>
      <p:sp>
        <p:nvSpPr>
          <p:cNvPr id="15" name="Rounded Rectangle 14">
            <a:extLst xmlns:a="http://schemas.openxmlformats.org/drawingml/2006/main">
              <a:ext uri="{FF2B5EF4-FFF2-40B4-BE49-F238E27FC236}">
                <a16:creationId xmlns:a16="http://schemas.microsoft.com/office/drawing/2014/main" id="{0F97F7DE-4EC6-4451-84F6-6144E00BED4C}"/>
              </a:ext>
            </a:extLst>
          </p:cNvPr>
          <p:cNvSpPr>
            <a:spLocks xmlns:a="http://schemas.openxmlformats.org/drawingml/2006/main" noGrp="1"/>
          </p:cNvSpPr>
          <p:nvPr/>
        </p:nvSpPr>
        <p:spPr>
          <a:xfrm xmlns:a="http://schemas.openxmlformats.org/drawingml/2006/main">
            <a:off x="5020056" y="2788920"/>
            <a:ext cx="4453128" cy="1143000"/>
          </a:xfrm>
          <a:prstGeom xmlns:a="http://schemas.openxmlformats.org/drawingml/2006/main" prst="roundRect">
            <a:avLst>
              <a:gd name="adj" fmla="val 6000"/>
            </a:avLst>
          </a:prstGeom>
          <a:solidFill xmlns:a="http://schemas.openxmlformats.org/drawingml/2006/main">
            <a:srgbClr val="FBE9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정기 점검 계획</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회의 주기·요일은 팀 협의 예정</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W2 범위 점검, W8 중간 결과 점검</a:t>
            </a:r>
          </a:p>
        </p:txBody>
      </p:sp>
      <p:sp>
        <p:nvSpPr>
          <p:cNvPr id="16" name="Rounded Rectangle 15">
            <a:extLst xmlns:a="http://schemas.openxmlformats.org/drawingml/2006/main">
              <a:ext uri="{FF2B5EF4-FFF2-40B4-BE49-F238E27FC236}">
                <a16:creationId xmlns:a16="http://schemas.microsoft.com/office/drawing/2014/main" id="{F1FEC673-9D19-4B4F-887E-F7682736889E}"/>
              </a:ext>
            </a:extLst>
          </p:cNvPr>
          <p:cNvSpPr>
            <a:spLocks xmlns:a="http://schemas.openxmlformats.org/drawingml/2006/main" noGrp="1"/>
          </p:cNvSpPr>
          <p:nvPr/>
        </p:nvSpPr>
        <p:spPr>
          <a:xfrm xmlns:a="http://schemas.openxmlformats.org/drawingml/2006/main">
            <a:off x="429768" y="4069079"/>
            <a:ext cx="4453128" cy="1143000"/>
          </a:xfrm>
          <a:prstGeom xmlns:a="http://schemas.openxmlformats.org/drawingml/2006/main" prst="roundRect">
            <a:avLst>
              <a:gd name="adj" fmla="val 6000"/>
            </a:avLst>
          </a:prstGeom>
          <a:solidFill xmlns:a="http://schemas.openxmlformats.org/drawingml/2006/main">
            <a:srgbClr val="FBE9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의사결정 계획</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분야 담당자가 품질 기준 제안</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공통 엔진·범위 변경은 팀 검토</a:t>
            </a:r>
          </a:p>
        </p:txBody>
      </p:sp>
      <p:sp>
        <p:nvSpPr>
          <p:cNvPr id="17" name="Rounded Rectangle 16">
            <a:extLst xmlns:a="http://schemas.openxmlformats.org/drawingml/2006/main">
              <a:ext uri="{FF2B5EF4-FFF2-40B4-BE49-F238E27FC236}">
                <a16:creationId xmlns:a16="http://schemas.microsoft.com/office/drawing/2014/main" id="{ADB36A66-9664-4EC4-9F75-62CCA78FFDD3}"/>
              </a:ext>
            </a:extLst>
          </p:cNvPr>
          <p:cNvSpPr>
            <a:spLocks xmlns:a="http://schemas.openxmlformats.org/drawingml/2006/main" noGrp="1"/>
          </p:cNvSpPr>
          <p:nvPr/>
        </p:nvSpPr>
        <p:spPr>
          <a:xfrm xmlns:a="http://schemas.openxmlformats.org/drawingml/2006/main">
            <a:off x="5020056" y="4069079"/>
            <a:ext cx="4453128" cy="114300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t"/>
          <a:lstStyle xmlns:a="http://schemas.openxmlformats.org/drawingml/2006/main"/>
          <a:p xmlns:a="http://schemas.openxmlformats.org/drawingml/2006/main">
            <a:pPr algn="l">
              <a:spcBef>
                <a:spcPts val="0"/>
              </a:spcBef>
              <a:spcAft>
                <a:spcPts val="400"/>
              </a:spcAft>
            </a:pPr>
            <a:r>
              <a:rPr sz="1200" b="1">
                <a:solidFill>
                  <a:srgbClr val="002060"/>
                </a:solidFill>
                <a:latin typeface="맑은 고딕"/>
                <a:ea typeface="맑은 고딕"/>
                <a:cs typeface="맑은 고딕"/>
              </a:rPr>
              <a:t>문서화</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조건·결과·설계 결정을 저장소에 기록</a:t>
            </a:r>
          </a:p>
          <a:p xmlns:a="http://schemas.openxmlformats.org/drawingml/2006/main">
            <a:pPr marL="146304" indent="-146304" algn="l">
              <a:spcBef>
                <a:spcPts val="0"/>
              </a:spcBef>
              <a:spcAft>
                <a:spcPts val="300"/>
              </a:spcAft>
              <a:buChar char="•"/>
            </a:pPr>
            <a:r>
              <a:rPr sz="1050" b="0">
                <a:solidFill>
                  <a:srgbClr val="262626"/>
                </a:solidFill>
                <a:latin typeface="맑은 고딕"/>
                <a:ea typeface="맑은 고딕"/>
                <a:cs typeface="맑은 고딕"/>
              </a:rPr>
              <a:t>문서 수치와 결과 파일을 대조</a:t>
            </a:r>
          </a:p>
        </p:txBody>
      </p:sp>
      <p:sp>
        <p:nvSpPr>
          <p:cNvPr id="18" name="TextBox 17">
            <a:extLst xmlns:a="http://schemas.openxmlformats.org/drawingml/2006/main">
              <a:ext uri="{FF2B5EF4-FFF2-40B4-BE49-F238E27FC236}">
                <a16:creationId xmlns:a16="http://schemas.microsoft.com/office/drawing/2014/main" id="{5EADA592-9DCE-456A-88ED-CD83AFA133A1}"/>
              </a:ext>
            </a:extLst>
          </p:cNvPr>
          <p:cNvSpPr>
            <a:spLocks xmlns:a="http://schemas.openxmlformats.org/drawingml/2006/main" noGrp="1"/>
          </p:cNvSpPr>
          <p:nvPr/>
        </p:nvSpPr>
        <p:spPr>
          <a:xfrm xmlns:a="http://schemas.openxmlformats.org/drawingml/2006/main">
            <a:off x="429768" y="5440680"/>
            <a:ext cx="9043416" cy="36576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666666"/>
                </a:solidFill>
                <a:latin typeface="맑은 고딕"/>
                <a:ea typeface="맑은 고딕"/>
                <a:cs typeface="맑은 고딕"/>
              </a:defRPr>
            </a:pPr>
            <a:r>
              <a:rPr sz="950" b="0">
                <a:solidFill>
                  <a:srgbClr val="666666"/>
                </a:solidFill>
                <a:latin typeface="맑은 고딕"/>
                <a:ea typeface="맑은 고딕"/>
                <a:cs typeface="맑은 고딕"/>
              </a:rPr>
              <a:t>submission-final 태그는 기존 제출본 기록입니다. 향후 통합 정책과 회의 운영은 팀 협의 후 확정합니다.</a:t>
            </a:r>
          </a:p>
        </p:txBody>
      </p:sp>
    </p:spTree>
    <p:extLst>
      <p:ext uri="{BB962C8B-B14F-4D97-AF65-F5344CB8AC3E}">
        <p14:creationId xmlns:p14="http://schemas.microsoft.com/office/powerpoint/2010/main" val="92496427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0873AC8-E5C0-4862-8597-6E39CC8A68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5. 프로젝트 관리</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844E025A-983C-6D44-79C6-4612AACD43FC}" type="slidenum">
              <a:rPr b="0">
                <a:solidFill>
                  <a:srgbClr val="000000"/>
                </a:solidFill>
                <a:latin typeface="맑은 고딕"/>
                <a:ea typeface="맑은 고딕"/>
                <a:cs typeface="맑은 고딕"/>
              </a:rPr>
              <a:t>20</a:t>
            </a:fld>
            <a:endParaRPr/>
          </a:p>
        </p:txBody>
      </p:sp>
      <p:sp>
        <p:nvSpPr>
          <p:cNvPr id="5" name="TextBox 4">
            <a:extLst xmlns:a="http://schemas.openxmlformats.org/drawingml/2006/main">
              <a:ext uri="{FF2B5EF4-FFF2-40B4-BE49-F238E27FC236}">
                <a16:creationId xmlns:a16="http://schemas.microsoft.com/office/drawing/2014/main" id="{AF1867DF-24D2-4DC4-95FB-4F261C2A9567}"/>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5-1. 프로젝트 관리 방안 개요</a:t>
            </a:r>
          </a:p>
        </p:txBody>
      </p:sp>
      <p:sp>
        <p:nvSpPr>
          <p:cNvPr id="6" name="TextBox 5">
            <a:extLst xmlns:a="http://schemas.openxmlformats.org/drawingml/2006/main">
              <a:ext uri="{FF2B5EF4-FFF2-40B4-BE49-F238E27FC236}">
                <a16:creationId xmlns:a16="http://schemas.microsoft.com/office/drawing/2014/main" id="{2D29735B-14E5-42BE-8F98-BE9054D1ACB5}"/>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기능별 담당자와 완료 기준을 두고 일정·품질·비용·데이터 처리를 정기적으로 점검합니다</a:t>
            </a:r>
          </a:p>
        </p:txBody>
      </p:sp>
      <p:sp>
        <p:nvSpPr>
          <p:cNvPr id="7" name="Rounded Rectangle 6">
            <a:extLst xmlns:a="http://schemas.openxmlformats.org/drawingml/2006/main">
              <a:ext uri="{FF2B5EF4-FFF2-40B4-BE49-F238E27FC236}">
                <a16:creationId xmlns:a16="http://schemas.microsoft.com/office/drawing/2014/main" id="{254B7522-4734-4ECE-8E4F-18B73CF3A22F}"/>
              </a:ext>
            </a:extLst>
          </p:cNvPr>
          <p:cNvSpPr>
            <a:spLocks xmlns:a="http://schemas.openxmlformats.org/drawingml/2006/main" noGrp="1"/>
          </p:cNvSpPr>
          <p:nvPr/>
        </p:nvSpPr>
        <p:spPr>
          <a:xfrm xmlns:a="http://schemas.openxmlformats.org/drawingml/2006/main">
            <a:off x="429768" y="1783080"/>
            <a:ext cx="2923032" cy="14630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200"/>
              </a:spcAft>
            </a:pPr>
            <a:r>
              <a:rPr sz="1000" b="1">
                <a:solidFill>
                  <a:srgbClr val="6E6E6E"/>
                </a:solidFill>
                <a:latin typeface="맑은 고딕"/>
                <a:ea typeface="맑은 고딕"/>
                <a:cs typeface="맑은 고딕"/>
              </a:rPr>
              <a:t>01</a:t>
            </a:r>
          </a:p>
          <a:p xmlns:a="http://schemas.openxmlformats.org/drawingml/2006/main">
            <a:pPr algn="l">
              <a:spcBef>
                <a:spcPts val="0"/>
              </a:spcBef>
              <a:spcAft>
                <a:spcPts val="600"/>
              </a:spcAft>
            </a:pPr>
            <a:r>
              <a:rPr sz="1300" b="1">
                <a:solidFill>
                  <a:srgbClr val="002060"/>
                </a:solidFill>
                <a:latin typeface="맑은 고딕"/>
                <a:ea typeface="맑은 고딕"/>
                <a:cs typeface="맑은 고딕"/>
              </a:rPr>
              <a:t>범위 관리</a:t>
            </a:r>
          </a:p>
          <a:p xmlns:a="http://schemas.openxmlformats.org/drawingml/2006/main">
            <a:pPr algn="l">
              <a:spcBef>
                <a:spcPts val="0"/>
              </a:spcBef>
              <a:spcAft>
                <a:spcPts val="0"/>
              </a:spcAft>
            </a:pPr>
            <a:r>
              <a:rPr sz="1050" b="0">
                <a:solidFill>
                  <a:srgbClr val="262626"/>
                </a:solidFill>
                <a:latin typeface="맑은 고딕"/>
                <a:ea typeface="맑은 고딕"/>
                <a:cs typeface="맑은 고딕"/>
              </a:rPr>
              <a:t>요약·코딩·AWS 우선 범위와 요구사항 완료 기준 관리</a:t>
            </a:r>
          </a:p>
        </p:txBody>
      </p:sp>
      <p:sp>
        <p:nvSpPr>
          <p:cNvPr id="8" name="Rounded Rectangle 7">
            <a:extLst xmlns:a="http://schemas.openxmlformats.org/drawingml/2006/main">
              <a:ext uri="{FF2B5EF4-FFF2-40B4-BE49-F238E27FC236}">
                <a16:creationId xmlns:a16="http://schemas.microsoft.com/office/drawing/2014/main" id="{1FE91D2C-3D06-493C-B3C6-54AE8C26F49D}"/>
              </a:ext>
            </a:extLst>
          </p:cNvPr>
          <p:cNvSpPr>
            <a:spLocks xmlns:a="http://schemas.openxmlformats.org/drawingml/2006/main" noGrp="1"/>
          </p:cNvSpPr>
          <p:nvPr/>
        </p:nvSpPr>
        <p:spPr>
          <a:xfrm xmlns:a="http://schemas.openxmlformats.org/drawingml/2006/main">
            <a:off x="3489960" y="1783080"/>
            <a:ext cx="2923032" cy="14630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200"/>
              </a:spcAft>
            </a:pPr>
            <a:r>
              <a:rPr sz="1000" b="1">
                <a:solidFill>
                  <a:srgbClr val="6E6E6E"/>
                </a:solidFill>
                <a:latin typeface="맑은 고딕"/>
                <a:ea typeface="맑은 고딕"/>
                <a:cs typeface="맑은 고딕"/>
              </a:rPr>
              <a:t>02</a:t>
            </a:r>
          </a:p>
          <a:p xmlns:a="http://schemas.openxmlformats.org/drawingml/2006/main">
            <a:pPr algn="l">
              <a:spcBef>
                <a:spcPts val="0"/>
              </a:spcBef>
              <a:spcAft>
                <a:spcPts val="600"/>
              </a:spcAft>
            </a:pPr>
            <a:r>
              <a:rPr sz="1300" b="1">
                <a:solidFill>
                  <a:srgbClr val="002060"/>
                </a:solidFill>
                <a:latin typeface="맑은 고딕"/>
                <a:ea typeface="맑은 고딕"/>
                <a:cs typeface="맑은 고딕"/>
              </a:rPr>
              <a:t>일정 관리</a:t>
            </a:r>
          </a:p>
          <a:p xmlns:a="http://schemas.openxmlformats.org/drawingml/2006/main">
            <a:pPr algn="l">
              <a:spcBef>
                <a:spcPts val="0"/>
              </a:spcBef>
              <a:spcAft>
                <a:spcPts val="0"/>
              </a:spcAft>
            </a:pPr>
            <a:r>
              <a:rPr sz="1050" b="0">
                <a:solidFill>
                  <a:srgbClr val="262626"/>
                </a:solidFill>
                <a:latin typeface="맑은 고딕"/>
                <a:ea typeface="맑은 고딕"/>
                <a:cs typeface="맑은 고딕"/>
              </a:rPr>
              <a:t>12주 제안 일정, W2·W8 점검에서 범위 조정</a:t>
            </a:r>
          </a:p>
        </p:txBody>
      </p:sp>
      <p:sp>
        <p:nvSpPr>
          <p:cNvPr id="9" name="Rounded Rectangle 8">
            <a:extLst xmlns:a="http://schemas.openxmlformats.org/drawingml/2006/main">
              <a:ext uri="{FF2B5EF4-FFF2-40B4-BE49-F238E27FC236}">
                <a16:creationId xmlns:a16="http://schemas.microsoft.com/office/drawing/2014/main" id="{7C79834C-6A8A-413D-9BC8-663C0DFB0278}"/>
              </a:ext>
            </a:extLst>
          </p:cNvPr>
          <p:cNvSpPr>
            <a:spLocks xmlns:a="http://schemas.openxmlformats.org/drawingml/2006/main" noGrp="1"/>
          </p:cNvSpPr>
          <p:nvPr/>
        </p:nvSpPr>
        <p:spPr>
          <a:xfrm xmlns:a="http://schemas.openxmlformats.org/drawingml/2006/main">
            <a:off x="6550152" y="1783080"/>
            <a:ext cx="2923032" cy="14630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200"/>
              </a:spcAft>
            </a:pPr>
            <a:r>
              <a:rPr sz="1000" b="1">
                <a:solidFill>
                  <a:srgbClr val="6E6E6E"/>
                </a:solidFill>
                <a:latin typeface="맑은 고딕"/>
                <a:ea typeface="맑은 고딕"/>
                <a:cs typeface="맑은 고딕"/>
              </a:rPr>
              <a:t>03</a:t>
            </a:r>
          </a:p>
          <a:p xmlns:a="http://schemas.openxmlformats.org/drawingml/2006/main">
            <a:pPr algn="l">
              <a:spcBef>
                <a:spcPts val="0"/>
              </a:spcBef>
              <a:spcAft>
                <a:spcPts val="600"/>
              </a:spcAft>
            </a:pPr>
            <a:r>
              <a:rPr sz="1300" b="1">
                <a:solidFill>
                  <a:srgbClr val="002060"/>
                </a:solidFill>
                <a:latin typeface="맑은 고딕"/>
                <a:ea typeface="맑은 고딕"/>
                <a:cs typeface="맑은 고딕"/>
              </a:rPr>
              <a:t>품질 관리</a:t>
            </a:r>
          </a:p>
          <a:p xmlns:a="http://schemas.openxmlformats.org/drawingml/2006/main">
            <a:pPr algn="l">
              <a:spcBef>
                <a:spcPts val="0"/>
              </a:spcBef>
              <a:spcAft>
                <a:spcPts val="0"/>
              </a:spcAft>
            </a:pPr>
            <a:r>
              <a:rPr sz="1050" b="0">
                <a:solidFill>
                  <a:srgbClr val="262626"/>
                </a:solidFill>
                <a:latin typeface="맑은 고딕"/>
                <a:ea typeface="맑은 고딕"/>
                <a:cs typeface="맑은 고딕"/>
              </a:rPr>
              <a:t>자동 검사, 독립 평가, 브라우저 흐름 확인</a:t>
            </a:r>
          </a:p>
        </p:txBody>
      </p:sp>
      <p:sp>
        <p:nvSpPr>
          <p:cNvPr id="10" name="Rounded Rectangle 9">
            <a:extLst xmlns:a="http://schemas.openxmlformats.org/drawingml/2006/main">
              <a:ext uri="{FF2B5EF4-FFF2-40B4-BE49-F238E27FC236}">
                <a16:creationId xmlns:a16="http://schemas.microsoft.com/office/drawing/2014/main" id="{3259F98F-A5A2-4714-B76A-A852926FCB04}"/>
              </a:ext>
            </a:extLst>
          </p:cNvPr>
          <p:cNvSpPr>
            <a:spLocks xmlns:a="http://schemas.openxmlformats.org/drawingml/2006/main" noGrp="1"/>
          </p:cNvSpPr>
          <p:nvPr/>
        </p:nvSpPr>
        <p:spPr>
          <a:xfrm xmlns:a="http://schemas.openxmlformats.org/drawingml/2006/main">
            <a:off x="429768" y="3383280"/>
            <a:ext cx="2923032" cy="14630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200"/>
              </a:spcAft>
            </a:pPr>
            <a:r>
              <a:rPr sz="1000" b="1">
                <a:solidFill>
                  <a:srgbClr val="6E6E6E"/>
                </a:solidFill>
                <a:latin typeface="맑은 고딕"/>
                <a:ea typeface="맑은 고딕"/>
                <a:cs typeface="맑은 고딕"/>
              </a:rPr>
              <a:t>04</a:t>
            </a:r>
          </a:p>
          <a:p xmlns:a="http://schemas.openxmlformats.org/drawingml/2006/main">
            <a:pPr algn="l">
              <a:spcBef>
                <a:spcPts val="0"/>
              </a:spcBef>
              <a:spcAft>
                <a:spcPts val="600"/>
              </a:spcAft>
            </a:pPr>
            <a:r>
              <a:rPr sz="1300" b="1">
                <a:solidFill>
                  <a:srgbClr val="002060"/>
                </a:solidFill>
                <a:latin typeface="맑은 고딕"/>
                <a:ea typeface="맑은 고딕"/>
                <a:cs typeface="맑은 고딕"/>
              </a:rPr>
              <a:t>형상 관리</a:t>
            </a:r>
          </a:p>
          <a:p xmlns:a="http://schemas.openxmlformats.org/drawingml/2006/main">
            <a:pPr algn="l">
              <a:spcBef>
                <a:spcPts val="0"/>
              </a:spcBef>
              <a:spcAft>
                <a:spcPts val="0"/>
              </a:spcAft>
            </a:pPr>
            <a:r>
              <a:rPr sz="1050" b="0">
                <a:solidFill>
                  <a:srgbClr val="262626"/>
                </a:solidFill>
                <a:latin typeface="맑은 고딕"/>
                <a:ea typeface="맑은 고딕"/>
                <a:cs typeface="맑은 고딕"/>
              </a:rPr>
              <a:t>작업 브랜치와 리뷰·CI를 통한 통합 계획</a:t>
            </a:r>
          </a:p>
        </p:txBody>
      </p:sp>
      <p:sp>
        <p:nvSpPr>
          <p:cNvPr id="11" name="Rounded Rectangle 10">
            <a:extLst xmlns:a="http://schemas.openxmlformats.org/drawingml/2006/main">
              <a:ext uri="{FF2B5EF4-FFF2-40B4-BE49-F238E27FC236}">
                <a16:creationId xmlns:a16="http://schemas.microsoft.com/office/drawing/2014/main" id="{5789CE8F-00E3-4787-B48F-B698E078E063}"/>
              </a:ext>
            </a:extLst>
          </p:cNvPr>
          <p:cNvSpPr>
            <a:spLocks xmlns:a="http://schemas.openxmlformats.org/drawingml/2006/main" noGrp="1"/>
          </p:cNvSpPr>
          <p:nvPr/>
        </p:nvSpPr>
        <p:spPr>
          <a:xfrm xmlns:a="http://schemas.openxmlformats.org/drawingml/2006/main">
            <a:off x="3489960" y="3383280"/>
            <a:ext cx="2923032" cy="14630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200"/>
              </a:spcAft>
            </a:pPr>
            <a:r>
              <a:rPr sz="1000" b="1">
                <a:solidFill>
                  <a:srgbClr val="6E6E6E"/>
                </a:solidFill>
                <a:latin typeface="맑은 고딕"/>
                <a:ea typeface="맑은 고딕"/>
                <a:cs typeface="맑은 고딕"/>
              </a:rPr>
              <a:t>05</a:t>
            </a:r>
          </a:p>
          <a:p xmlns:a="http://schemas.openxmlformats.org/drawingml/2006/main">
            <a:pPr algn="l">
              <a:spcBef>
                <a:spcPts val="0"/>
              </a:spcBef>
              <a:spcAft>
                <a:spcPts val="600"/>
              </a:spcAft>
            </a:pPr>
            <a:r>
              <a:rPr sz="1300" b="1">
                <a:solidFill>
                  <a:srgbClr val="002060"/>
                </a:solidFill>
                <a:latin typeface="맑은 고딕"/>
                <a:ea typeface="맑은 고딕"/>
                <a:cs typeface="맑은 고딕"/>
              </a:rPr>
              <a:t>리스크·이슈 관리</a:t>
            </a:r>
          </a:p>
          <a:p xmlns:a="http://schemas.openxmlformats.org/drawingml/2006/main">
            <a:pPr algn="l">
              <a:spcBef>
                <a:spcPts val="0"/>
              </a:spcBef>
              <a:spcAft>
                <a:spcPts val="0"/>
              </a:spcAft>
            </a:pPr>
            <a:r>
              <a:rPr sz="1050" b="0">
                <a:solidFill>
                  <a:srgbClr val="262626"/>
                </a:solidFill>
                <a:latin typeface="맑은 고딕"/>
                <a:ea typeface="맑은 고딕"/>
                <a:cs typeface="맑은 고딕"/>
              </a:rPr>
              <a:t>영향·대응·잔여 위험을 기록하고 담당자 배정</a:t>
            </a:r>
          </a:p>
        </p:txBody>
      </p:sp>
      <p:sp>
        <p:nvSpPr>
          <p:cNvPr id="12" name="Rounded Rectangle 11">
            <a:extLst xmlns:a="http://schemas.openxmlformats.org/drawingml/2006/main">
              <a:ext uri="{FF2B5EF4-FFF2-40B4-BE49-F238E27FC236}">
                <a16:creationId xmlns:a16="http://schemas.microsoft.com/office/drawing/2014/main" id="{909EA390-747B-4064-B3C7-AFE61A5F3116}"/>
              </a:ext>
            </a:extLst>
          </p:cNvPr>
          <p:cNvSpPr>
            <a:spLocks xmlns:a="http://schemas.openxmlformats.org/drawingml/2006/main" noGrp="1"/>
          </p:cNvSpPr>
          <p:nvPr/>
        </p:nvSpPr>
        <p:spPr>
          <a:xfrm xmlns:a="http://schemas.openxmlformats.org/drawingml/2006/main">
            <a:off x="6550152" y="3383280"/>
            <a:ext cx="2923032" cy="146304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46304" tIns="109728" rIns="146304" bIns="109728" anchor="t"/>
          <a:lstStyle xmlns:a="http://schemas.openxmlformats.org/drawingml/2006/main"/>
          <a:p xmlns:a="http://schemas.openxmlformats.org/drawingml/2006/main">
            <a:pPr algn="l">
              <a:spcBef>
                <a:spcPts val="0"/>
              </a:spcBef>
              <a:spcAft>
                <a:spcPts val="200"/>
              </a:spcAft>
            </a:pPr>
            <a:r>
              <a:rPr sz="1000" b="1">
                <a:solidFill>
                  <a:srgbClr val="6E6E6E"/>
                </a:solidFill>
                <a:latin typeface="맑은 고딕"/>
                <a:ea typeface="맑은 고딕"/>
                <a:cs typeface="맑은 고딕"/>
              </a:rPr>
              <a:t>06</a:t>
            </a:r>
          </a:p>
          <a:p xmlns:a="http://schemas.openxmlformats.org/drawingml/2006/main">
            <a:pPr algn="l">
              <a:spcBef>
                <a:spcPts val="0"/>
              </a:spcBef>
              <a:spcAft>
                <a:spcPts val="600"/>
              </a:spcAft>
            </a:pPr>
            <a:r>
              <a:rPr sz="1300" b="1">
                <a:solidFill>
                  <a:srgbClr val="002060"/>
                </a:solidFill>
                <a:latin typeface="맑은 고딕"/>
                <a:ea typeface="맑은 고딕"/>
                <a:cs typeface="맑은 고딕"/>
              </a:rPr>
              <a:t>비용·데이터 관리</a:t>
            </a:r>
          </a:p>
          <a:p xmlns:a="http://schemas.openxmlformats.org/drawingml/2006/main">
            <a:pPr algn="l">
              <a:spcBef>
                <a:spcPts val="0"/>
              </a:spcBef>
              <a:spcAft>
                <a:spcPts val="0"/>
              </a:spcAft>
            </a:pPr>
            <a:r>
              <a:rPr sz="1050" b="0">
                <a:solidFill>
                  <a:srgbClr val="262626"/>
                </a:solidFill>
                <a:latin typeface="맑은 고딕"/>
                <a:ea typeface="맑은 고딕"/>
                <a:cs typeface="맑은 고딕"/>
              </a:rPr>
              <a:t>경로별 사용량·예산, 전송·보존·삭제 정책 확인</a:t>
            </a:r>
          </a:p>
        </p:txBody>
      </p:sp>
    </p:spTree>
    <p:extLst>
      <p:ext uri="{BB962C8B-B14F-4D97-AF65-F5344CB8AC3E}">
        <p14:creationId xmlns:p14="http://schemas.microsoft.com/office/powerpoint/2010/main" val="15449821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BA7F434-9561-48F6-9237-DC54732F06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5. 프로젝트 관리</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F6DF2BE2-2DFA-1C03-677D-BDC2260D6D92}" type="slidenum">
              <a:rPr b="0">
                <a:solidFill>
                  <a:srgbClr val="000000"/>
                </a:solidFill>
                <a:latin typeface="맑은 고딕"/>
                <a:ea typeface="맑은 고딕"/>
                <a:cs typeface="맑은 고딕"/>
              </a:rPr>
              <a:t>21</a:t>
            </a:fld>
            <a:endParaRPr/>
          </a:p>
        </p:txBody>
      </p:sp>
      <p:sp>
        <p:nvSpPr>
          <p:cNvPr id="5" name="TextBox 4">
            <a:extLst xmlns:a="http://schemas.openxmlformats.org/drawingml/2006/main">
              <a:ext uri="{FF2B5EF4-FFF2-40B4-BE49-F238E27FC236}">
                <a16:creationId xmlns:a16="http://schemas.microsoft.com/office/drawing/2014/main" id="{E92B382E-297B-4207-BA0C-AAC407E3C6F8}"/>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5-2. 품질 관리</a:t>
            </a:r>
          </a:p>
        </p:txBody>
      </p:sp>
      <p:sp>
        <p:nvSpPr>
          <p:cNvPr id="6" name="TextBox 5">
            <a:extLst xmlns:a="http://schemas.openxmlformats.org/drawingml/2006/main">
              <a:ext uri="{FF2B5EF4-FFF2-40B4-BE49-F238E27FC236}">
                <a16:creationId xmlns:a16="http://schemas.microsoft.com/office/drawing/2014/main" id="{27AA518E-8132-4173-8C22-2B5D9A187593}"/>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자동 회귀 검사와 실제 사용 검증을 함께 수행해 기능 정확성과 사용자 경험을 확인합니다</a:t>
            </a:r>
          </a:p>
        </p:txBody>
      </p:sp>
      <p:sp>
        <p:nvSpPr>
          <p:cNvPr id="7" name="TextBox 6">
            <a:extLst xmlns:a="http://schemas.openxmlformats.org/drawingml/2006/main">
              <a:ext uri="{FF2B5EF4-FFF2-40B4-BE49-F238E27FC236}">
                <a16:creationId xmlns:a16="http://schemas.microsoft.com/office/drawing/2014/main" id="{C40268CC-6890-44A3-8F55-54473EC72391}"/>
              </a:ext>
            </a:extLst>
          </p:cNvPr>
          <p:cNvSpPr>
            <a:spLocks xmlns:a="http://schemas.openxmlformats.org/drawingml/2006/main" noGrp="1"/>
          </p:cNvSpPr>
          <p:nvPr/>
        </p:nvSpPr>
        <p:spPr>
          <a:xfrm xmlns:a="http://schemas.openxmlformats.org/drawingml/2006/main">
            <a:off x="429768" y="1737360"/>
            <a:ext cx="5577840" cy="384048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pPr marL="146304" indent="-146304">
              <a:spcBef>
                <a:spcPts val="0"/>
              </a:spcBef>
              <a:spcAft>
                <a:spcPts val="900"/>
              </a:spcAft>
              <a:buChar char="•"/>
            </a:pPr>
            <a:r>
              <a:rPr sz="1050" b="0">
                <a:solidFill>
                  <a:srgbClr val="262626"/>
                </a:solidFill>
                <a:latin typeface="맑은 고딕"/>
                <a:ea typeface="맑은 고딕"/>
                <a:cs typeface="맑은 고딕"/>
              </a:rPr>
              <a:t>자동 검사  push·PR마다 API 없는 테스트와 프론트 빌드</a:t>
            </a:r>
          </a:p>
          <a:p xmlns:a="http://schemas.openxmlformats.org/drawingml/2006/main">
            <a:pPr marL="146304" indent="-146304">
              <a:spcBef>
                <a:spcPts val="0"/>
              </a:spcBef>
              <a:spcAft>
                <a:spcPts val="900"/>
              </a:spcAft>
              <a:buChar char="•"/>
            </a:pPr>
            <a:r>
              <a:rPr sz="1050" b="0">
                <a:solidFill>
                  <a:srgbClr val="262626"/>
                </a:solidFill>
                <a:latin typeface="맑은 고딕"/>
                <a:ea typeface="맑은 고딕"/>
                <a:cs typeface="맑은 고딕"/>
              </a:rPr>
              <a:t>회귀 방지  결함을 재현한 뒤 수정 결과 확인</a:t>
            </a:r>
          </a:p>
          <a:p xmlns:a="http://schemas.openxmlformats.org/drawingml/2006/main">
            <a:pPr marL="146304" indent="-146304">
              <a:spcBef>
                <a:spcPts val="0"/>
              </a:spcBef>
              <a:spcAft>
                <a:spcPts val="900"/>
              </a:spcAft>
              <a:buChar char="•"/>
            </a:pPr>
            <a:r>
              <a:rPr sz="1050" b="0">
                <a:solidFill>
                  <a:srgbClr val="262626"/>
                </a:solidFill>
                <a:latin typeface="맑은 고딕"/>
                <a:ea typeface="맑은 고딕"/>
                <a:cs typeface="맑은 고딕"/>
              </a:rPr>
              <a:t>근거 대조  문서 수치와 커밋된 결과 파일 비교</a:t>
            </a:r>
          </a:p>
          <a:p xmlns:a="http://schemas.openxmlformats.org/drawingml/2006/main">
            <a:pPr marL="146304" indent="-146304">
              <a:spcBef>
                <a:spcPts val="0"/>
              </a:spcBef>
              <a:spcAft>
                <a:spcPts val="900"/>
              </a:spcAft>
              <a:buChar char="•"/>
            </a:pPr>
            <a:r>
              <a:rPr sz="1050" b="0">
                <a:solidFill>
                  <a:srgbClr val="262626"/>
                </a:solidFill>
                <a:latin typeface="맑은 고딕"/>
                <a:ea typeface="맑은 고딕"/>
                <a:cs typeface="맑은 고딕"/>
              </a:rPr>
              <a:t>독립 평가  내부 점수와 별도 지표·오류 확인</a:t>
            </a:r>
          </a:p>
          <a:p xmlns:a="http://schemas.openxmlformats.org/drawingml/2006/main">
            <a:pPr marL="146304" indent="-146304">
              <a:spcBef>
                <a:spcPts val="0"/>
              </a:spcBef>
              <a:spcAft>
                <a:spcPts val="900"/>
              </a:spcAft>
              <a:buChar char="•"/>
            </a:pPr>
            <a:r>
              <a:rPr sz="1050" b="0">
                <a:solidFill>
                  <a:srgbClr val="262626"/>
                </a:solidFill>
                <a:latin typeface="맑은 고딕"/>
                <a:ea typeface="맑은 고딕"/>
                <a:cs typeface="맑은 고딕"/>
              </a:rPr>
              <a:t>분야별 검증  코딩 빌드·동작, AWS 금액·기간 일치</a:t>
            </a:r>
          </a:p>
        </p:txBody>
      </p:sp>
      <p:sp>
        <p:nvSpPr>
          <p:cNvPr id="8" name="Rounded Rectangle 7">
            <a:extLst xmlns:a="http://schemas.openxmlformats.org/drawingml/2006/main">
              <a:ext uri="{FF2B5EF4-FFF2-40B4-BE49-F238E27FC236}">
                <a16:creationId xmlns:a16="http://schemas.microsoft.com/office/drawing/2014/main" id="{CC9EE7DF-58EB-474D-998E-F7A0B2BB9341}"/>
              </a:ext>
            </a:extLst>
          </p:cNvPr>
          <p:cNvSpPr>
            <a:spLocks xmlns:a="http://schemas.openxmlformats.org/drawingml/2006/main" noGrp="1"/>
          </p:cNvSpPr>
          <p:nvPr/>
        </p:nvSpPr>
        <p:spPr>
          <a:xfrm xmlns:a="http://schemas.openxmlformats.org/drawingml/2006/main">
            <a:off x="6236207" y="1737360"/>
            <a:ext cx="3236976" cy="118872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pPr algn="ctr">
              <a:spcBef>
                <a:spcPts val="0"/>
              </a:spcBef>
              <a:spcAft>
                <a:spcPts val="0"/>
              </a:spcAft>
            </a:pPr>
            <a:r>
              <a:rPr sz="2600" b="1">
                <a:solidFill>
                  <a:srgbClr val="002060"/>
                </a:solidFill>
                <a:latin typeface="맑은 고딕"/>
                <a:ea typeface="맑은 고딕"/>
                <a:cs typeface="맑은 고딕"/>
              </a:rPr>
              <a:t>313개</a:t>
            </a:r>
          </a:p>
          <a:p xmlns:a="http://schemas.openxmlformats.org/drawingml/2006/main">
            <a:pPr algn="ctr">
              <a:spcBef>
                <a:spcPts val="0"/>
              </a:spcBef>
              <a:spcAft>
                <a:spcPts val="0"/>
              </a:spcAft>
            </a:pPr>
            <a:r>
              <a:rPr sz="1000" b="0">
                <a:solidFill>
                  <a:srgbClr val="262626"/>
                </a:solidFill>
                <a:latin typeface="맑은 고딕"/>
                <a:ea typeface="맑은 고딕"/>
                <a:cs typeface="맑은 고딕"/>
              </a:rPr>
              <a:t>API 없는 회귀 테스트의 과거 기록</a:t>
            </a:r>
          </a:p>
          <a:p xmlns:a="http://schemas.openxmlformats.org/drawingml/2006/main">
            <a:pPr algn="ctr">
              <a:spcBef>
                <a:spcPts val="0"/>
              </a:spcBef>
              <a:spcAft>
                <a:spcPts val="0"/>
              </a:spcAft>
            </a:pPr>
            <a:r>
              <a:rPr sz="1000" b="0">
                <a:solidFill>
                  <a:srgbClr val="262626"/>
                </a:solidFill>
                <a:latin typeface="맑은 고딕"/>
                <a:ea typeface="맑은 고딕"/>
                <a:cs typeface="맑은 고딕"/>
              </a:rPr>
              <a:t>2026.09.27 기준</a:t>
            </a:r>
          </a:p>
        </p:txBody>
      </p:sp>
      <p:sp>
        <p:nvSpPr>
          <p:cNvPr id="9" name="Rounded Rectangle 8">
            <a:extLst xmlns:a="http://schemas.openxmlformats.org/drawingml/2006/main">
              <a:ext uri="{FF2B5EF4-FFF2-40B4-BE49-F238E27FC236}">
                <a16:creationId xmlns:a16="http://schemas.microsoft.com/office/drawing/2014/main" id="{A758B09F-1582-40E7-A009-951D144BB8D1}"/>
              </a:ext>
            </a:extLst>
          </p:cNvPr>
          <p:cNvSpPr>
            <a:spLocks xmlns:a="http://schemas.openxmlformats.org/drawingml/2006/main" noGrp="1"/>
          </p:cNvSpPr>
          <p:nvPr/>
        </p:nvSpPr>
        <p:spPr>
          <a:xfrm xmlns:a="http://schemas.openxmlformats.org/drawingml/2006/main">
            <a:off x="6236207" y="3063240"/>
            <a:ext cx="3236976" cy="1188720"/>
          </a:xfrm>
          <a:prstGeom xmlns:a="http://schemas.openxmlformats.org/drawingml/2006/main" prst="roundRect">
            <a:avLst>
              <a:gd name="adj" fmla="val 6000"/>
            </a:avLst>
          </a:prstGeom>
          <a:solidFill xmlns:a="http://schemas.openxmlformats.org/drawingml/2006/main">
            <a:srgbClr val="F3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pPr algn="ctr">
              <a:spcBef>
                <a:spcPts val="0"/>
              </a:spcBef>
              <a:spcAft>
                <a:spcPts val="0"/>
              </a:spcAft>
            </a:pPr>
            <a:r>
              <a:rPr sz="2600" b="1">
                <a:solidFill>
                  <a:srgbClr val="175C2C"/>
                </a:solidFill>
                <a:latin typeface="맑은 고딕"/>
                <a:ea typeface="맑은 고딕"/>
                <a:cs typeface="맑은 고딕"/>
              </a:rPr>
              <a:t>사용자 검증</a:t>
            </a:r>
          </a:p>
          <a:p xmlns:a="http://schemas.openxmlformats.org/drawingml/2006/main">
            <a:pPr algn="ctr">
              <a:spcBef>
                <a:spcPts val="0"/>
              </a:spcBef>
              <a:spcAft>
                <a:spcPts val="0"/>
              </a:spcAft>
            </a:pPr>
            <a:r>
              <a:rPr sz="1000" b="0">
                <a:solidFill>
                  <a:srgbClr val="262626"/>
                </a:solidFill>
                <a:latin typeface="맑은 고딕"/>
                <a:ea typeface="맑은 고딕"/>
                <a:cs typeface="맑은 고딕"/>
              </a:rPr>
              <a:t>파일럿 선호·시간·오류·누락</a:t>
            </a:r>
          </a:p>
          <a:p xmlns:a="http://schemas.openxmlformats.org/drawingml/2006/main">
            <a:pPr algn="ctr">
              <a:spcBef>
                <a:spcPts val="0"/>
              </a:spcBef>
              <a:spcAft>
                <a:spcPts val="0"/>
              </a:spcAft>
            </a:pPr>
            <a:r>
              <a:rPr sz="1000" b="0">
                <a:solidFill>
                  <a:srgbClr val="262626"/>
                </a:solidFill>
                <a:latin typeface="맑은 고딕"/>
                <a:ea typeface="맑은 고딕"/>
                <a:cs typeface="맑은 고딕"/>
              </a:rPr>
              <a:t>테스트 수와 별도로 확인</a:t>
            </a:r>
          </a:p>
        </p:txBody>
      </p:sp>
      <p:sp>
        <p:nvSpPr>
          <p:cNvPr id="10" name="Rounded Rectangle 9">
            <a:extLst xmlns:a="http://schemas.openxmlformats.org/drawingml/2006/main">
              <a:ext uri="{FF2B5EF4-FFF2-40B4-BE49-F238E27FC236}">
                <a16:creationId xmlns:a16="http://schemas.microsoft.com/office/drawing/2014/main" id="{085F0B5F-D1E5-47D0-9C0A-9EED74ADB354}"/>
              </a:ext>
            </a:extLst>
          </p:cNvPr>
          <p:cNvSpPr>
            <a:spLocks xmlns:a="http://schemas.openxmlformats.org/drawingml/2006/main" noGrp="1"/>
          </p:cNvSpPr>
          <p:nvPr/>
        </p:nvSpPr>
        <p:spPr>
          <a:xfrm xmlns:a="http://schemas.openxmlformats.org/drawingml/2006/main">
            <a:off x="429768" y="5029200"/>
            <a:ext cx="9043416" cy="777240"/>
          </a:xfrm>
          <a:prstGeom xmlns:a="http://schemas.openxmlformats.org/drawingml/2006/main" prst="roundRect">
            <a:avLst>
              <a:gd name="adj" fmla="val 8000"/>
            </a:avLst>
          </a:prstGeom>
          <a:solidFill xmlns:a="http://schemas.openxmlformats.org/drawingml/2006/main">
            <a:srgbClr val="FBE9DF"/>
          </a:solidFill>
          <a:ln xmlns:a="http://schemas.openxmlformats.org/drawingml/2006/main" w="9525">
            <a:solidFill>
              <a:srgbClr val="D04A0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82296" rIns="109728" bIns="82296" anchor="ctr"/>
          <a:lstStyle xmlns:a="http://schemas.openxmlformats.org/drawingml/2006/main"/>
          <a:p xmlns:a="http://schemas.openxmlformats.org/drawingml/2006/main">
            <a:r>
              <a:rPr sz="1050" b="1">
                <a:solidFill>
                  <a:srgbClr val="D04A02"/>
                </a:solidFill>
                <a:latin typeface="맑은 고딕"/>
                <a:ea typeface="맑은 고딕"/>
                <a:cs typeface="맑은 고딕"/>
              </a:rPr>
              <a:t>추가 검사  </a:t>
            </a:r>
            <a:r>
              <a:rPr sz="1050" b="0">
                <a:solidFill>
                  <a:srgbClr val="864027"/>
                </a:solidFill>
                <a:latin typeface="맑은 고딕"/>
                <a:ea typeface="맑은 고딕"/>
                <a:cs typeface="맑은 고딕"/>
              </a:rPr>
              <a:t>React 비교·결과·시험 적용 흐름과 오류 처리를 브라우저에서 확인합니다. 테스트 313개는 현재 배포본의 재실행 결과가 아닙니다.</a:t>
            </a:r>
          </a:p>
        </p:txBody>
      </p:sp>
    </p:spTree>
    <p:extLst>
      <p:ext uri="{BB962C8B-B14F-4D97-AF65-F5344CB8AC3E}">
        <p14:creationId xmlns:p14="http://schemas.microsoft.com/office/powerpoint/2010/main" val="88631571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CFC7F559-9891-465D-BFE6-967BAD7B5E9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5. 프로젝트 관리</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0BB18BA8-60F4-C50D-CD9B-1BB87D3E8506}" type="slidenum">
              <a:rPr b="0">
                <a:solidFill>
                  <a:srgbClr val="000000"/>
                </a:solidFill>
                <a:latin typeface="맑은 고딕"/>
                <a:ea typeface="맑은 고딕"/>
                <a:cs typeface="맑은 고딕"/>
              </a:rPr>
              <a:t>22</a:t>
            </a:fld>
            <a:endParaRPr/>
          </a:p>
        </p:txBody>
      </p:sp>
      <p:sp>
        <p:nvSpPr>
          <p:cNvPr id="5" name="TextBox 4">
            <a:extLst xmlns:a="http://schemas.openxmlformats.org/drawingml/2006/main">
              <a:ext uri="{FF2B5EF4-FFF2-40B4-BE49-F238E27FC236}">
                <a16:creationId xmlns:a16="http://schemas.microsoft.com/office/drawing/2014/main" id="{F2FFCFB9-A3D7-4092-B120-D989ECE9171B}"/>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5-3. 리스크 관리</a:t>
            </a:r>
          </a:p>
        </p:txBody>
      </p:sp>
      <p:sp>
        <p:nvSpPr>
          <p:cNvPr id="6" name="TextBox 5">
            <a:extLst xmlns:a="http://schemas.openxmlformats.org/drawingml/2006/main">
              <a:ext uri="{FF2B5EF4-FFF2-40B4-BE49-F238E27FC236}">
                <a16:creationId xmlns:a16="http://schemas.microsoft.com/office/drawing/2014/main" id="{1EB6F771-59CF-428A-A1CC-23EFE8737BDE}"/>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모집 지연, API 비용, 지표 왜곡을 우선 관리하고 대응 구현 뒤에도 잔여 위험을 추적합니다</a:t>
            </a:r>
          </a:p>
        </p:txBody>
      </p:sp>
      <p:graphicFrame>
        <p:nvGraphicFramePr>
          <p:cNvPr id="12" name="Table 6"/>
          <p:cNvGraphicFramePr/>
          <p:nvPr/>
        </p:nvGraphicFramePr>
        <p:xfrm>
          <a:off xmlns:a="http://schemas.openxmlformats.org/drawingml/2006/main" x="429768" y="1691640"/>
          <a:ext xmlns:a="http://schemas.openxmlformats.org/drawingml/2006/main" cx="9043414" cy="3657600"/>
        </p:xfrm>
        <a:graphic xmlns:a="http://schemas.openxmlformats.org/drawingml/2006/main">
          <a:graphicData uri="http://schemas.openxmlformats.org/drawingml/2006/table">
            <a:tbl>
              <a:tblPr firstRow="1">
                <a:tableStyleId>{5C22544A-7EE6-4342-B048-85BDC9FD1C3A}</a:tableStyleId>
              </a:tblPr>
              <a:tblGrid>
                <a:gridCol w="2379846"/>
                <a:gridCol w="1713489"/>
                <a:gridCol w="3902947"/>
                <a:gridCol w="1047132"/>
              </a:tblGrid>
              <a:tr h="457200">
                <a:tc>
                  <a:txBody>
                    <a:bodyPr wrap="square">
                      <a:noAutofit/>
                    </a:bodyPr>
                    <a:lstStyle/>
                    <a:p>
                      <a:r>
                        <a:rPr sz="1000" b="1">
                          <a:solidFill>
                            <a:srgbClr val="FFFFFF"/>
                          </a:solidFill>
                          <a:latin typeface="맑은 고딕"/>
                          <a:ea typeface="맑은 고딕"/>
                          <a:cs typeface="맑은 고딕"/>
                        </a:rPr>
                        <a:t>리스크</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영향</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대응 방안</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상태</a:t>
                      </a:r>
                    </a:p>
                  </a:txBody>
                  <a:tcPr marL="64008" marR="64008" marT="32004" marB="32004" anchor="ctr">
                    <a:solidFill>
                      <a:srgbClr val="002060"/>
                    </a:solidFill>
                  </a:tcPr>
                </a:tc>
              </a:tr>
              <a:tr h="457200">
                <a:tc>
                  <a:txBody>
                    <a:bodyPr wrap="square">
                      <a:noAutofit/>
                    </a:bodyPr>
                    <a:lstStyle/>
                    <a:p>
                      <a:r>
                        <a:rPr sz="1000" b="1">
                          <a:solidFill>
                            <a:srgbClr val="262626"/>
                          </a:solidFill>
                          <a:latin typeface="맑은 고딕"/>
                          <a:ea typeface="맑은 고딕"/>
                          <a:cs typeface="맑은 고딕"/>
                        </a:rPr>
                        <a:t>API 비용·크레딧 소진</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실험 중단</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예상 호출량·예산 확인, 중간 저장</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관리 중</a:t>
                      </a:r>
                    </a:p>
                  </a:txBody>
                  <a:tcPr marL="64008" marR="64008" marT="32004" marB="32004" anchor="ctr">
                    <a:solidFill>
                      <a:srgbClr val="FFFFFF"/>
                    </a:solidFill>
                  </a:tcPr>
                </a:tc>
              </a:tr>
              <a:tr h="457200">
                <a:tc>
                  <a:txBody>
                    <a:bodyPr wrap="square">
                      <a:noAutofit/>
                    </a:bodyPr>
                    <a:lstStyle/>
                    <a:p>
                      <a:r>
                        <a:rPr sz="1000" b="1">
                          <a:solidFill>
                            <a:srgbClr val="262626"/>
                          </a:solidFill>
                          <a:latin typeface="맑은 고딕"/>
                          <a:ea typeface="맑은 고딕"/>
                          <a:cs typeface="맑은 고딕"/>
                        </a:rPr>
                        <a:t>지표에만 맞춘 출력</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성과 과대평가</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독립 지표, 오류·누락·사람 평가 병행</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대응 구현</a:t>
                      </a:r>
                    </a:p>
                  </a:txBody>
                  <a:tcPr marL="64008" marR="64008" marT="32004" marB="32004" anchor="ctr">
                    <a:solidFill>
                      <a:srgbClr val="F3F4F7"/>
                    </a:solidFill>
                  </a:tcPr>
                </a:tc>
              </a:tr>
              <a:tr h="457200">
                <a:tc>
                  <a:txBody>
                    <a:bodyPr wrap="square">
                      <a:noAutofit/>
                    </a:bodyPr>
                    <a:lstStyle/>
                    <a:p>
                      <a:r>
                        <a:rPr sz="1000" b="1">
                          <a:solidFill>
                            <a:srgbClr val="262626"/>
                          </a:solidFill>
                          <a:latin typeface="맑은 고딕"/>
                          <a:ea typeface="맑은 고딕"/>
                          <a:cs typeface="맑은 고딕"/>
                        </a:rPr>
                        <a:t>실사용자 모집 지연</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부담·선호 미검증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초기 모집 준비, 5~8명 파일럿 우선</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준비 예정</a:t>
                      </a:r>
                    </a:p>
                  </a:txBody>
                  <a:tcPr marL="64008" marR="64008" marT="32004" marB="32004" anchor="ctr">
                    <a:solidFill>
                      <a:srgbClr val="FFFFFF"/>
                    </a:solidFill>
                  </a:tcPr>
                </a:tc>
              </a:tr>
              <a:tr h="457200">
                <a:tc>
                  <a:txBody>
                    <a:bodyPr wrap="square">
                      <a:noAutofit/>
                    </a:bodyPr>
                    <a:lstStyle/>
                    <a:p>
                      <a:r>
                        <a:rPr sz="1000" b="1">
                          <a:solidFill>
                            <a:srgbClr val="262626"/>
                          </a:solidFill>
                          <a:latin typeface="맑은 고딕"/>
                          <a:ea typeface="맑은 고딕"/>
                          <a:cs typeface="맑은 고딕"/>
                        </a:rPr>
                        <a:t>React 공개 전환 지연</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사용 경험 확인 지연</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핵심 흐름 확인, 기존 데모 유지</a:t>
                      </a:r>
                    </a:p>
                  </a:txBody>
                  <a:tcPr marL="64008" marR="64008" marT="32004" marB="32004" anchor="ctr">
                    <a:solidFill>
                      <a:srgbClr val="F3F4F7"/>
                    </a:solidFill>
                  </a:tcPr>
                </a:tc>
                <a:tc>
                  <a:txBody>
                    <a:bodyPr wrap="square">
                      <a:noAutofit/>
                    </a:bodyPr>
                    <a:lstStyle/>
                    <a:p>
                      <a:r>
                        <a:rPr sz="1000" b="1">
                          <a:solidFill>
                            <a:srgbClr val="D04A02"/>
                          </a:solidFill>
                          <a:latin typeface="맑은 고딕"/>
                          <a:ea typeface="맑은 고딕"/>
                          <a:cs typeface="맑은 고딕"/>
                        </a:rPr>
                        <a:t>협의 예정</a:t>
                      </a:r>
                    </a:p>
                  </a:txBody>
                  <a:tcPr marL="64008" marR="64008" marT="32004" marB="32004" anchor="ctr">
                    <a:solidFill>
                      <a:srgbClr val="F3F4F7"/>
                    </a:solidFill>
                  </a:tcPr>
                </a:tc>
              </a:tr>
              <a:tr h="457200">
                <a:tc>
                  <a:txBody>
                    <a:bodyPr wrap="square">
                      <a:noAutofit/>
                    </a:bodyPr>
                    <a:lstStyle/>
                    <a:p>
                      <a:r>
                        <a:rPr sz="1000" b="1">
                          <a:solidFill>
                            <a:srgbClr val="262626"/>
                          </a:solidFill>
                          <a:latin typeface="맑은 고딕"/>
                          <a:ea typeface="맑은 고딕"/>
                          <a:cs typeface="맑은 고딕"/>
                        </a:rPr>
                        <a:t>공개 운영 비용 증가</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예산 초과</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경로별 상한 적용 범위·영속성 확인</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FFFFF"/>
                    </a:solidFill>
                  </a:tcPr>
                </a:tc>
              </a:tr>
              <a:tr h="457200">
                <a:tc>
                  <a:txBody>
                    <a:bodyPr wrap="square">
                      <a:noAutofit/>
                    </a:bodyPr>
                    <a:lstStyle/>
                    <a:p>
                      <a:r>
                        <a:rPr sz="1000" b="1">
                          <a:solidFill>
                            <a:srgbClr val="262626"/>
                          </a:solidFill>
                          <a:latin typeface="맑은 고딕"/>
                          <a:ea typeface="맑은 고딕"/>
                          <a:cs typeface="맑은 고딕"/>
                        </a:rPr>
                        <a:t>API 키·원문 처리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노출·보존 위험</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오류 원문 제거, 전송·삭제 안내</a:t>
                      </a:r>
                    </a:p>
                  </a:txBody>
                  <a:tcPr marL="64008" marR="64008" marT="32004" marB="32004" anchor="ctr">
                    <a:solidFill>
                      <a:srgbClr val="F3F4F7"/>
                    </a:solidFill>
                  </a:tcPr>
                </a:tc>
                <a:tc>
                  <a:txBody>
                    <a:bodyPr wrap="square">
                      <a:noAutofit/>
                    </a:bodyPr>
                    <a:lstStyle/>
                    <a:p>
                      <a:r>
                        <a:rPr sz="1000" b="1">
                          <a:solidFill>
                            <a:srgbClr val="155B2D"/>
                          </a:solidFill>
                          <a:latin typeface="맑은 고딕"/>
                          <a:ea typeface="맑은 고딕"/>
                          <a:cs typeface="맑은 고딕"/>
                        </a:rPr>
                        <a:t>대응 구현</a:t>
                      </a:r>
                    </a:p>
                  </a:txBody>
                  <a:tcPr marL="64008" marR="64008" marT="32004" marB="32004" anchor="ctr">
                    <a:solidFill>
                      <a:srgbClr val="F3F4F7"/>
                    </a:solidFill>
                  </a:tcPr>
                </a:tc>
              </a:tr>
              <a:tr h="457200">
                <a:tc>
                  <a:txBody>
                    <a:bodyPr wrap="square">
                      <a:noAutofit/>
                    </a:bodyPr>
                    <a:lstStyle/>
                    <a:p>
                      <a:r>
                        <a:rPr sz="1000" b="1">
                          <a:solidFill>
                            <a:srgbClr val="262626"/>
                          </a:solidFill>
                          <a:latin typeface="맑은 고딕"/>
                          <a:ea typeface="맑은 고딕"/>
                          <a:cs typeface="맑은 고딕"/>
                        </a:rPr>
                        <a:t>모의 페르소나 편향</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복원율 과대 추정</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조건 재검토와 실제 사용자 선택 비교</a:t>
                      </a:r>
                    </a:p>
                  </a:txBody>
                  <a:tcPr marL="64008" marR="64008" marT="32004" marB="32004" anchor="ctr">
                    <a:solidFill>
                      <a:srgbClr val="FFFFFF"/>
                    </a:solidFill>
                  </a:tcPr>
                </a:tc>
                <a:tc>
                  <a:txBody>
                    <a:bodyPr wrap="square">
                      <a:noAutofit/>
                    </a:bodyPr>
                    <a:lstStyle/>
                    <a:p>
                      <a:r>
                        <a:rPr sz="1000" b="1">
                          <a:solidFill>
                            <a:srgbClr val="D04A02"/>
                          </a:solidFill>
                          <a:latin typeface="맑은 고딕"/>
                          <a:ea typeface="맑은 고딕"/>
                          <a:cs typeface="맑은 고딕"/>
                        </a:rPr>
                        <a:t>검증 예정</a:t>
                      </a:r>
                    </a:p>
                  </a:txBody>
                  <a:tcPr marL="64008" marR="64008" marT="32004" marB="32004" anchor="ctr">
                    <a:solidFill>
                      <a:srgbClr val="FFFFFF"/>
                    </a:solidFill>
                  </a:tcPr>
                </a:tc>
              </a:tr>
            </a:tbl>
          </a:graphicData>
        </a:graphic>
      </p:graphicFrame>
    </p:spTree>
    <p:extLst>
      <p:ext uri="{BB962C8B-B14F-4D97-AF65-F5344CB8AC3E}">
        <p14:creationId xmlns:p14="http://schemas.microsoft.com/office/powerpoint/2010/main" val="88462687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440A78A-B0FF-4DB1-9EA7-8038DA03C7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5. 프로젝트 관리</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A4E99CEF-AF55-BA3C-ADF8-4E52E186DD8F}" type="slidenum">
              <a:rPr b="0">
                <a:solidFill>
                  <a:srgbClr val="000000"/>
                </a:solidFill>
                <a:latin typeface="맑은 고딕"/>
                <a:ea typeface="맑은 고딕"/>
                <a:cs typeface="맑은 고딕"/>
              </a:rPr>
              <a:t>23</a:t>
            </a:fld>
            <a:endParaRPr/>
          </a:p>
        </p:txBody>
      </p:sp>
      <p:sp>
        <p:nvSpPr>
          <p:cNvPr id="5" name="TextBox 4">
            <a:extLst xmlns:a="http://schemas.openxmlformats.org/drawingml/2006/main">
              <a:ext uri="{FF2B5EF4-FFF2-40B4-BE49-F238E27FC236}">
                <a16:creationId xmlns:a16="http://schemas.microsoft.com/office/drawing/2014/main" id="{43B302CF-8BEB-4B92-82D4-8C8DD5FB5B18}"/>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spAutoFit/>
          </a:bodyPr>
          <a:lstStyle xmlns:a="http://schemas.openxmlformats.org/drawingml/2006/main"/>
          <a:p xmlns:a="http://schemas.openxmlformats.org/drawingml/2006/main">
            <a:r>
              <a:rPr sz="1400" b="1">
                <a:solidFill>
                  <a:srgbClr val="002060"/>
                </a:solidFill>
              </a:rPr>
              <a:t>5-4. 이슈 관리 사례</a:t>
            </a:r>
          </a:p>
        </p:txBody>
      </p:sp>
      <p:sp>
        <p:nvSpPr>
          <p:cNvPr id="6" name="TextBox 5">
            <a:extLst xmlns:a="http://schemas.openxmlformats.org/drawingml/2006/main">
              <a:ext uri="{FF2B5EF4-FFF2-40B4-BE49-F238E27FC236}">
                <a16:creationId xmlns:a16="http://schemas.microsoft.com/office/drawing/2014/main" id="{AD149AA1-F1AE-43AE-B1D1-6AF607551C84}"/>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측정의 문제를 발견하면 코드와 결과 해석을 함께 수정하고, 효과는 새 검증으로 확인합니다</a:t>
            </a:r>
          </a:p>
        </p:txBody>
      </p:sp>
      <p:graphicFrame>
        <p:nvGraphicFramePr>
          <p:cNvPr id="12" name="Table 6"/>
          <p:cNvGraphicFramePr/>
          <p:nvPr/>
        </p:nvGraphicFramePr>
        <p:xfrm>
          <a:off xmlns:a="http://schemas.openxmlformats.org/drawingml/2006/main" x="429768" y="1691640"/>
          <a:ext xmlns:a="http://schemas.openxmlformats.org/drawingml/2006/main" cx="9043415" cy="3520440"/>
        </p:xfrm>
        <a:graphic xmlns:a="http://schemas.openxmlformats.org/drawingml/2006/main">
          <a:graphicData uri="http://schemas.openxmlformats.org/drawingml/2006/table">
            <a:tbl>
              <a:tblPr firstRow="1">
                <a:tableStyleId>{5C22544A-7EE6-4342-B048-85BDC9FD1C3A}</a:tableStyleId>
              </a:tblPr>
              <a:tblGrid>
                <a:gridCol w="2731865"/>
                <a:gridCol w="1978247"/>
                <a:gridCol w="2826067"/>
                <a:gridCol w="1507236"/>
              </a:tblGrid>
              <a:tr h="502920">
                <a:tc>
                  <a:txBody>
                    <a:bodyPr wrap="square">
                      <a:noAutofit/>
                    </a:bodyPr>
                    <a:lstStyle/>
                    <a:p>
                      <a:r>
                        <a:rPr sz="1000" b="1">
                          <a:solidFill>
                            <a:srgbClr val="FFFFFF"/>
                          </a:solidFill>
                          <a:latin typeface="맑은 고딕"/>
                          <a:ea typeface="맑은 고딕"/>
                          <a:cs typeface="맑은 고딕"/>
                        </a:rPr>
                        <a:t>이슈</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발견 경위</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조치</a:t>
                      </a:r>
                    </a:p>
                  </a:txBody>
                  <a:tcPr marL="64008" marR="64008" marT="32004" marB="32004" anchor="ctr">
                    <a:solidFill>
                      <a:srgbClr val="002060"/>
                    </a:solidFill>
                  </a:tcPr>
                </a:tc>
                <a:tc>
                  <a:txBody>
                    <a:bodyPr wrap="square">
                      <a:noAutofit/>
                    </a:bodyPr>
                    <a:lstStyle/>
                    <a:p>
                      <a:r>
                        <a:rPr sz="1000" b="1">
                          <a:solidFill>
                            <a:srgbClr val="FFFFFF"/>
                          </a:solidFill>
                          <a:latin typeface="맑은 고딕"/>
                          <a:ea typeface="맑은 고딕"/>
                          <a:cs typeface="맑은 고딕"/>
                        </a:rPr>
                        <a:t>결과·남은 검증</a:t>
                      </a:r>
                    </a:p>
                  </a:txBody>
                  <a:tcPr marL="64008" marR="64008" marT="32004" marB="32004" anchor="ctr">
                    <a:solidFill>
                      <a:srgbClr val="002060"/>
                    </a:solidFill>
                  </a:tcPr>
                </a:tc>
              </a:tr>
              <a:tr h="502920">
                <a:tc>
                  <a:txBody>
                    <a:bodyPr wrap="square">
                      <a:noAutofit/>
                    </a:bodyPr>
                    <a:lstStyle/>
                    <a:p>
                      <a:r>
                        <a:rPr sz="1000" b="1">
                          <a:solidFill>
                            <a:srgbClr val="262626"/>
                          </a:solidFill>
                          <a:latin typeface="맑은 고딕"/>
                          <a:ea typeface="맑은 고딕"/>
                          <a:cs typeface="맑은 고딕"/>
                        </a:rPr>
                        <a:t>어휘 겹침으로 모의 선택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내용 겹침이 취향을 대신함</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축별 검사 기반 선택으로 교체</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과거 복원율 80%, 사람 검증 필요</a:t>
                      </a:r>
                    </a:p>
                  </a:txBody>
                  <a:tcPr marL="64008" marR="64008" marT="32004" marB="32004" anchor="ctr">
                    <a:solidFill>
                      <a:srgbClr val="FFFFFF"/>
                    </a:solidFill>
                  </a:tcPr>
                </a:tc>
              </a:tr>
              <a:tr h="502920">
                <a:tc>
                  <a:txBody>
                    <a:bodyPr wrap="square">
                      <a:noAutofit/>
                    </a:bodyPr>
                    <a:lstStyle/>
                    <a:p>
                      <a:r>
                        <a:rPr sz="1000" b="1">
                          <a:solidFill>
                            <a:srgbClr val="262626"/>
                          </a:solidFill>
                          <a:latin typeface="맑은 고딕"/>
                          <a:ea typeface="맑은 고딕"/>
                          <a:cs typeface="맑은 고딕"/>
                        </a:rPr>
                        <a:t>한·영 출력 언어 혼재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겹침 지표 왜곡</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출력 언어·실험 조건 고정</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수정 후 회귀 확인</a:t>
                      </a:r>
                    </a:p>
                  </a:txBody>
                  <a:tcPr marL="64008" marR="64008" marT="32004" marB="32004" anchor="ctr">
                    <a:solidFill>
                      <a:srgbClr val="F3F4F7"/>
                    </a:solidFill>
                  </a:tcPr>
                </a:tc>
              </a:tr>
              <a:tr h="502920">
                <a:tc>
                  <a:txBody>
                    <a:bodyPr wrap="square">
                      <a:noAutofit/>
                    </a:bodyPr>
                    <a:lstStyle/>
                    <a:p>
                      <a:r>
                        <a:rPr sz="1000" b="1">
                          <a:solidFill>
                            <a:srgbClr val="262626"/>
                          </a:solidFill>
                          <a:latin typeface="맑은 고딕"/>
                          <a:ea typeface="맑은 고딕"/>
                          <a:cs typeface="맑은 고딕"/>
                        </a:rPr>
                        <a:t>GEPA 원문 과적합</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기사 내용이 프롬프트에 섞임</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평가 원문 분리, 누수 후보 제거</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다른 원문에서도 확인</a:t>
                      </a:r>
                    </a:p>
                  </a:txBody>
                  <a:tcPr marL="64008" marR="64008" marT="32004" marB="32004" anchor="ctr">
                    <a:solidFill>
                      <a:srgbClr val="FFFFFF"/>
                    </a:solidFill>
                  </a:tcPr>
                </a:tc>
              </a:tr>
              <a:tr h="502920">
                <a:tc>
                  <a:txBody>
                    <a:bodyPr wrap="square">
                      <a:noAutofit/>
                    </a:bodyPr>
                    <a:lstStyle/>
                    <a:p>
                      <a:r>
                        <a:rPr sz="1000" b="1">
                          <a:solidFill>
                            <a:srgbClr val="262626"/>
                          </a:solidFill>
                          <a:latin typeface="맑은 고딕"/>
                          <a:ea typeface="맑은 고딕"/>
                          <a:cs typeface="맑은 고딕"/>
                        </a:rPr>
                        <a:t>평가 함수 오차</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내부 점수와 형식 유사성 불일치</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오차 함수 수정, 독립 지표 병기</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별도 지표 결과 함께 보고</a:t>
                      </a:r>
                    </a:p>
                  </a:txBody>
                  <a:tcPr marL="64008" marR="64008" marT="32004" marB="32004" anchor="ctr">
                    <a:solidFill>
                      <a:srgbClr val="F3F4F7"/>
                    </a:solidFill>
                  </a:tcPr>
                </a:tc>
              </a:tr>
              <a:tr h="502920">
                <a:tc>
                  <a:txBody>
                    <a:bodyPr wrap="square">
                      <a:noAutofit/>
                    </a:bodyPr>
                    <a:lstStyle/>
                    <a:p>
                      <a:r>
                        <a:rPr sz="1000" b="1">
                          <a:solidFill>
                            <a:srgbClr val="262626"/>
                          </a:solidFill>
                          <a:latin typeface="맑은 고딕"/>
                          <a:ea typeface="맑은 고딕"/>
                          <a:cs typeface="맑은 고딕"/>
                        </a:rPr>
                        <a:t>생성 변동성</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노이즈를 효과로 해석할 가능성</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온도 등 조건 고정·기록</a:t>
                      </a:r>
                    </a:p>
                  </a:txBody>
                  <a:tcPr marL="64008" marR="64008" marT="32004" marB="32004" anchor="ctr">
                    <a:solidFill>
                      <a:srgbClr val="FFFFFF"/>
                    </a:solidFill>
                  </a:tcPr>
                </a:tc>
                <a:tc>
                  <a:txBody>
                    <a:bodyPr wrap="square">
                      <a:noAutofit/>
                    </a:bodyPr>
                    <a:lstStyle/>
                    <a:p>
                      <a:r>
                        <a:rPr sz="1000" b="0">
                          <a:solidFill>
                            <a:srgbClr val="262626"/>
                          </a:solidFill>
                          <a:latin typeface="맑은 고딕"/>
                          <a:ea typeface="맑은 고딕"/>
                          <a:cs typeface="맑은 고딕"/>
                        </a:rPr>
                        <a:t>완전한 재현성 보장과 구분</a:t>
                      </a:r>
                    </a:p>
                  </a:txBody>
                  <a:tcPr marL="64008" marR="64008" marT="32004" marB="32004" anchor="ctr">
                    <a:solidFill>
                      <a:srgbClr val="FFFFFF"/>
                    </a:solidFill>
                  </a:tcPr>
                </a:tc>
              </a:tr>
              <a:tr h="502920">
                <a:tc>
                  <a:txBody>
                    <a:bodyPr wrap="square">
                      <a:noAutofit/>
                    </a:bodyPr>
                    <a:lstStyle/>
                    <a:p>
                      <a:r>
                        <a:rPr sz="1000" b="1">
                          <a:solidFill>
                            <a:srgbClr val="262626"/>
                          </a:solidFill>
                          <a:latin typeface="맑은 고딕"/>
                          <a:ea typeface="맑은 고딕"/>
                          <a:cs typeface="맑은 고딕"/>
                        </a:rPr>
                        <a:t>빈 출력 만점 처리</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평가 함수 결함</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빈 출력 방어와 회귀 테스트</a:t>
                      </a:r>
                    </a:p>
                  </a:txBody>
                  <a:tcPr marL="64008" marR="64008" marT="32004" marB="32004" anchor="ctr">
                    <a:solidFill>
                      <a:srgbClr val="F3F4F7"/>
                    </a:solidFill>
                  </a:tcPr>
                </a:tc>
                <a:tc>
                  <a:txBody>
                    <a:bodyPr wrap="square">
                      <a:noAutofit/>
                    </a:bodyPr>
                    <a:lstStyle/>
                    <a:p>
                      <a:r>
                        <a:rPr sz="1000" b="0">
                          <a:solidFill>
                            <a:srgbClr val="262626"/>
                          </a:solidFill>
                          <a:latin typeface="맑은 고딕"/>
                          <a:ea typeface="맑은 고딕"/>
                          <a:cs typeface="맑은 고딕"/>
                        </a:rPr>
                        <a:t>수정·자동 검사</a:t>
                      </a:r>
                    </a:p>
                  </a:txBody>
                  <a:tcPr marL="64008" marR="64008" marT="32004" marB="32004" anchor="ctr">
                    <a:solidFill>
                      <a:srgbClr val="F3F4F7"/>
                    </a:solidFill>
                  </a:tcPr>
                </a:tc>
              </a:tr>
            </a:tbl>
          </a:graphicData>
        </a:graphic>
      </p:graphicFrame>
    </p:spTree>
    <p:extLst>
      <p:ext uri="{BB962C8B-B14F-4D97-AF65-F5344CB8AC3E}">
        <p14:creationId xmlns:p14="http://schemas.microsoft.com/office/powerpoint/2010/main" val="34092112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1733965-3E6D-4F14-B71F-33095CF3C8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5. 프로젝트 관리</a:t>
            </a:r>
          </a:p>
        </p:txBody>
      </p:sp>
      <p:sp>
        <p:nvSpPr>
          <p:cNvPr id="4" name="슬라이드 번호 개체 틀 3">
            <a:extLst xmlns:a="http://schemas.openxmlformats.org/drawingml/2006/main">
              <a:ext uri="{FF2B5EF4-FFF2-40B4-BE49-F238E27FC236}">
                <a16:creationId xmlns:a16="http://schemas.microsoft.com/office/drawing/2014/main" id="{712E7145-58AB-67B5-E1A6-EB540CE8D873}"/>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fld id="{4A59AF09-D197-0193-A7DE-FAAF0B691058}" type="slidenum">
              <a:rPr b="0">
                <a:solidFill>
                  <a:srgbClr val="000000"/>
                </a:solidFill>
                <a:latin typeface="맑은 고딕"/>
                <a:ea typeface="맑은 고딕"/>
                <a:cs typeface="맑은 고딕"/>
              </a:rPr>
              <a:t>24</a:t>
            </a:fld>
            <a:endParaRPr/>
          </a:p>
        </p:txBody>
      </p:sp>
      <p:sp>
        <p:nvSpPr>
          <p:cNvPr id="5" name="TextBox 4">
            <a:extLst xmlns:a="http://schemas.openxmlformats.org/drawingml/2006/main">
              <a:ext uri="{FF2B5EF4-FFF2-40B4-BE49-F238E27FC236}">
                <a16:creationId xmlns:a16="http://schemas.microsoft.com/office/drawing/2014/main" id="{FC06A737-223A-427D-A579-C3CB42D3782E}"/>
              </a:ext>
            </a:extLst>
          </p:cNvPr>
          <p:cNvSpPr>
            <a:spLocks xmlns:a="http://schemas.openxmlformats.org/drawingml/2006/main" noGrp="1"/>
          </p:cNvSpPr>
          <p:nvPr/>
        </p:nvSpPr>
        <p:spPr>
          <a:xfrm xmlns:a="http://schemas.openxmlformats.org/drawingml/2006/main">
            <a:off x="429768" y="896112"/>
            <a:ext cx="9043416" cy="292608"/>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1">
                <a:solidFill>
                  <a:srgbClr val="002060"/>
                </a:solidFill>
                <a:latin typeface="맑은 고딕"/>
                <a:ea typeface="맑은 고딕"/>
                <a:cs typeface="맑은 고딕"/>
              </a:defRPr>
            </a:pPr>
            <a:r>
              <a:rPr sz="1400" b="1">
                <a:solidFill>
                  <a:srgbClr val="002060"/>
                </a:solidFill>
                <a:latin typeface="맑은 고딕"/>
                <a:ea typeface="맑은 고딕"/>
                <a:cs typeface="맑은 고딕"/>
              </a:rPr>
              <a:t>5-5. 남은 결정과 실행 항목</a:t>
            </a:r>
          </a:p>
        </p:txBody>
      </p:sp>
      <p:sp>
        <p:nvSpPr>
          <p:cNvPr id="6" name="TextBox 5">
            <a:extLst xmlns:a="http://schemas.openxmlformats.org/drawingml/2006/main">
              <a:ext uri="{FF2B5EF4-FFF2-40B4-BE49-F238E27FC236}">
                <a16:creationId xmlns:a16="http://schemas.microsoft.com/office/drawing/2014/main" id="{87E700B9-F306-4709-BE48-797BDE235BA5}"/>
              </a:ext>
            </a:extLst>
          </p:cNvPr>
          <p:cNvSpPr>
            <a:spLocks xmlns:a="http://schemas.openxmlformats.org/drawingml/2006/main" noGrp="1"/>
          </p:cNvSpPr>
          <p:nvPr/>
        </p:nvSpPr>
        <p:spPr>
          <a:xfrm xmlns:a="http://schemas.openxmlformats.org/drawingml/2006/main">
            <a:off x="429768" y="1188720"/>
            <a:ext cx="9043416" cy="457200"/>
          </a:xfrm>
          <a:prstGeom xmlns:a="http://schemas.openxmlformats.org/drawingml/2006/main" prst="rect">
            <a:avLst/>
          </a:prstGeom>
          <a:noFill xmlns:a="http://schemas.openxmlformats.org/drawingml/2006/main"/>
        </p:spPr>
        <p:txBody>
          <a:bodyPr xmlns:a="http://schemas.openxmlformats.org/drawingml/2006/main" wrap="square" lIns="36576" tIns="18288" rIns="36576" bIns="18288" anchor="t">
            <a:noAutofit/>
          </a:bodyPr>
          <a:lstStyle xmlns:a="http://schemas.openxmlformats.org/drawingml/2006/main"/>
          <a:p xmlns:a="http://schemas.openxmlformats.org/drawingml/2006/main">
            <a:pPr>
              <a:defRPr b="0">
                <a:solidFill>
                  <a:srgbClr val="464646"/>
                </a:solidFill>
                <a:latin typeface="맑은 고딕"/>
                <a:ea typeface="맑은 고딕"/>
                <a:cs typeface="맑은 고딕"/>
              </a:defRPr>
            </a:pPr>
            <a:r>
              <a:rPr sz="1150" b="0">
                <a:solidFill>
                  <a:srgbClr val="464646"/>
                </a:solidFill>
                <a:latin typeface="맑은 고딕"/>
                <a:ea typeface="맑은 고딕"/>
                <a:cs typeface="맑은 고딕"/>
              </a:rPr>
              <a:t>초기 사용 범위와 완료 기준에 대한 피드백을 받아 검증과 제품 작업의 우선순위를 확정합니다</a:t>
            </a:r>
          </a:p>
        </p:txBody>
      </p:sp>
      <p:sp>
        <p:nvSpPr>
          <p:cNvPr id="7" name="Rounded Rectangle 6">
            <a:extLst xmlns:a="http://schemas.openxmlformats.org/drawingml/2006/main">
              <a:ext uri="{FF2B5EF4-FFF2-40B4-BE49-F238E27FC236}">
                <a16:creationId xmlns:a16="http://schemas.microsoft.com/office/drawing/2014/main" id="{174CF578-DB1F-4FB2-B2F8-2F5E79E3C698}"/>
              </a:ext>
            </a:extLst>
          </p:cNvPr>
          <p:cNvSpPr>
            <a:spLocks xmlns:a="http://schemas.openxmlformats.org/drawingml/2006/main" noGrp="1"/>
          </p:cNvSpPr>
          <p:nvPr/>
        </p:nvSpPr>
        <p:spPr>
          <a:xfrm xmlns:a="http://schemas.openxmlformats.org/drawingml/2006/main">
            <a:off x="429768" y="1737360"/>
            <a:ext cx="2923032" cy="3840480"/>
          </a:xfrm>
          <a:prstGeom xmlns:a="http://schemas.openxmlformats.org/drawingml/2006/main" prst="roundRect">
            <a:avLst>
              <a:gd name="adj" fmla="val 6000"/>
            </a:avLst>
          </a:prstGeom>
          <a:solidFill xmlns:a="http://schemas.openxmlformats.org/drawingml/2006/main">
            <a:srgbClr val="FBE9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64592" tIns="123444" rIns="164592" bIns="123444" anchor="t"/>
          <a:lstStyle xmlns:a="http://schemas.openxmlformats.org/drawingml/2006/main"/>
          <a:p xmlns:a="http://schemas.openxmlformats.org/drawingml/2006/main">
            <a:pPr algn="l">
              <a:spcBef>
                <a:spcPts val="0"/>
              </a:spcBef>
              <a:spcAft>
                <a:spcPts val="1000"/>
              </a:spcAft>
            </a:pPr>
            <a:r>
              <a:rPr sz="1300" b="1">
                <a:solidFill>
                  <a:srgbClr val="D04A02"/>
                </a:solidFill>
                <a:latin typeface="맑은 고딕"/>
                <a:ea typeface="맑은 고딕"/>
                <a:cs typeface="맑은 고딕"/>
              </a:rPr>
              <a:t>팀이 먼저 확정할 것</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초기 사용자와 우선 도메인</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팀명·실제 담당자·투입 시간</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학기 일정과 회의 주기</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API 예산·공개 운영 범위</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파일럿 모집·동의·문서 준비</a:t>
            </a:r>
          </a:p>
        </p:txBody>
      </p:sp>
      <p:sp>
        <p:nvSpPr>
          <p:cNvPr id="8" name="Rounded Rectangle 7">
            <a:extLst xmlns:a="http://schemas.openxmlformats.org/drawingml/2006/main">
              <a:ext uri="{FF2B5EF4-FFF2-40B4-BE49-F238E27FC236}">
                <a16:creationId xmlns:a16="http://schemas.microsoft.com/office/drawing/2014/main" id="{9FB9D1EA-5644-4FD7-AFD7-AE07A9FD4CD7}"/>
              </a:ext>
            </a:extLst>
          </p:cNvPr>
          <p:cNvSpPr>
            <a:spLocks xmlns:a="http://schemas.openxmlformats.org/drawingml/2006/main" noGrp="1"/>
          </p:cNvSpPr>
          <p:nvPr/>
        </p:nvSpPr>
        <p:spPr>
          <a:xfrm xmlns:a="http://schemas.openxmlformats.org/drawingml/2006/main">
            <a:off x="3489960" y="1737360"/>
            <a:ext cx="2923032" cy="3840480"/>
          </a:xfrm>
          <a:prstGeom xmlns:a="http://schemas.openxmlformats.org/drawingml/2006/main" prst="roundRect">
            <a:avLst>
              <a:gd name="adj" fmla="val 6000"/>
            </a:avLst>
          </a:prstGeom>
          <a:solidFill xmlns:a="http://schemas.openxmlformats.org/drawingml/2006/main">
            <a:srgbClr val="FBE9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64592" tIns="123444" rIns="164592" bIns="123444" anchor="t"/>
          <a:lstStyle xmlns:a="http://schemas.openxmlformats.org/drawingml/2006/main"/>
          <a:p xmlns:a="http://schemas.openxmlformats.org/drawingml/2006/main">
            <a:pPr algn="l">
              <a:spcBef>
                <a:spcPts val="0"/>
              </a:spcBef>
              <a:spcAft>
                <a:spcPts val="1000"/>
              </a:spcAft>
            </a:pPr>
            <a:r>
              <a:rPr sz="1300" b="1">
                <a:solidFill>
                  <a:srgbClr val="D04A02"/>
                </a:solidFill>
                <a:latin typeface="맑은 고딕"/>
                <a:ea typeface="맑은 고딕"/>
                <a:cs typeface="맑은 고딕"/>
              </a:rPr>
              <a:t>다음 검증에서 확인할 것</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강한 비교군의 독립 문서 확대</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직접 작성 대비 시간·수정 부담</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한국어 요약 파일럿 5~8명</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코딩 동작·AWS 비용 정확성</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GEPA 추가 효과와 경로별 비용</a:t>
            </a:r>
          </a:p>
        </p:txBody>
      </p:sp>
      <p:sp>
        <p:nvSpPr>
          <p:cNvPr id="9" name="Rounded Rectangle 8">
            <a:extLst xmlns:a="http://schemas.openxmlformats.org/drawingml/2006/main">
              <a:ext uri="{FF2B5EF4-FFF2-40B4-BE49-F238E27FC236}">
                <a16:creationId xmlns:a16="http://schemas.microsoft.com/office/drawing/2014/main" id="{464E9964-307D-41F6-AAC2-EE0DDD727BBF}"/>
              </a:ext>
            </a:extLst>
          </p:cNvPr>
          <p:cNvSpPr>
            <a:spLocks xmlns:a="http://schemas.openxmlformats.org/drawingml/2006/main" noGrp="1"/>
          </p:cNvSpPr>
          <p:nvPr/>
        </p:nvSpPr>
        <p:spPr>
          <a:xfrm xmlns:a="http://schemas.openxmlformats.org/drawingml/2006/main">
            <a:off x="6550152" y="1737360"/>
            <a:ext cx="2923032" cy="3840480"/>
          </a:xfrm>
          <a:prstGeom xmlns:a="http://schemas.openxmlformats.org/drawingml/2006/main" prst="roundRect">
            <a:avLst>
              <a:gd name="adj" fmla="val 6000"/>
            </a:avLst>
          </a:prstGeom>
          <a:solidFill xmlns:a="http://schemas.openxmlformats.org/drawingml/2006/main">
            <a:srgbClr val="FBE9D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64592" tIns="123444" rIns="164592" bIns="123444" anchor="t"/>
          <a:lstStyle xmlns:a="http://schemas.openxmlformats.org/drawingml/2006/main"/>
          <a:p xmlns:a="http://schemas.openxmlformats.org/drawingml/2006/main">
            <a:pPr algn="l">
              <a:spcBef>
                <a:spcPts val="0"/>
              </a:spcBef>
              <a:spcAft>
                <a:spcPts val="1000"/>
              </a:spcAft>
            </a:pPr>
            <a:r>
              <a:rPr sz="1300" b="1">
                <a:solidFill>
                  <a:srgbClr val="D04A02"/>
                </a:solidFill>
                <a:latin typeface="맑은 고딕"/>
                <a:ea typeface="맑은 고딕"/>
                <a:cs typeface="맑은 고딕"/>
              </a:rPr>
              <a:t>다음 제품 단계</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분야별 템플릿 탐색 연결</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개인 프롬프트 저장·보관함</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새 입력으로 반복 실행</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React 핵심 흐름·오류 확인</a:t>
            </a:r>
          </a:p>
          <a:p xmlns:a="http://schemas.openxmlformats.org/drawingml/2006/main">
            <a:pPr marL="146304" indent="-146304" algn="l">
              <a:spcBef>
                <a:spcPts val="0"/>
              </a:spcBef>
              <a:spcAft>
                <a:spcPts val="800"/>
              </a:spcAft>
              <a:buChar char="•"/>
            </a:pPr>
            <a:r>
              <a:rPr sz="1100" b="0">
                <a:solidFill>
                  <a:srgbClr val="262626"/>
                </a:solidFill>
                <a:latin typeface="맑은 고딕"/>
                <a:ea typeface="맑은 고딕"/>
                <a:cs typeface="맑은 고딕"/>
              </a:rPr>
              <a:t>검증 후 공개 전환</a:t>
            </a:r>
          </a:p>
        </p:txBody>
      </p:sp>
    </p:spTree>
    <p:extLst>
      <p:ext uri="{BB962C8B-B14F-4D97-AF65-F5344CB8AC3E}">
        <p14:creationId xmlns:p14="http://schemas.microsoft.com/office/powerpoint/2010/main" val="96025963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 name="제목 4">
            <a:extLst xmlns:a="http://schemas.openxmlformats.org/drawingml/2006/main">
              <a:ext uri="{FF2B5EF4-FFF2-40B4-BE49-F238E27FC236}">
                <a16:creationId xmlns:a16="http://schemas.microsoft.com/office/drawing/2014/main" id="{150099DF-B6E7-47EB-95F3-6A6A22A477EF}"/>
              </a:ext>
            </a:extLst>
          </p:cNvPr>
          <p:cNvSpPr>
            <a:spLocks xmlns:a="http://schemas.openxmlformats.org/drawingml/2006/main" noGrp="1"/>
          </p:cNvSpPr>
          <p:nvPr>
            <p:ph type="ctrTitle" idx="0"/>
          </p:nvPr>
        </p:nvSpPr>
        <p:spPr/>
        <p:txBody>
          <a:bodyPr xmlns:a="http://schemas.openxmlformats.org/drawingml/2006/main">
            <a:noAutofit/>
          </a:bodyPr>
          <a:lstStyle xmlns:a="http://schemas.openxmlformats.org/drawingml/2006/main"/>
          <a:p xmlns:a="http://schemas.openxmlformats.org/drawingml/2006/main">
            <a:pPr>
              <a:defRPr b="0">
                <a:solidFill>
                  <a:srgbClr val="000000"/>
                </a:solidFill>
                <a:latin typeface="맑은 고딕"/>
                <a:ea typeface="맑은 고딕"/>
                <a:cs typeface="맑은 고딕"/>
              </a:defRPr>
            </a:pPr>
            <a:r>
              <a:rPr b="0">
                <a:solidFill>
                  <a:srgbClr val="000000"/>
                </a:solidFill>
                <a:latin typeface="맑은 고딕"/>
                <a:ea typeface="맑은 고딕"/>
                <a:cs typeface="맑은 고딕"/>
              </a:rPr>
              <a:t>감사합니다</a:t>
            </a:r>
            <a:endParaRPr>
              <a:latin typeface="+mn-lt"/>
              <a:ea typeface="+mn-lt"/>
              <a:cs typeface="+mn-lt"/>
            </a:endParaRPr>
          </a:p>
        </p:txBody>
      </p:sp>
      <p:sp>
        <p:nvSpPr>
          <p:cNvPr id="6" name="closing-message">
            <a:extLst xmlns:a="http://schemas.openxmlformats.org/drawingml/2006/main">
              <a:ext uri="{FF2B5EF4-FFF2-40B4-BE49-F238E27FC236}">
                <a16:creationId xmlns:a16="http://schemas.microsoft.com/office/drawing/2014/main" id="{994B9019-725D-4AC6-82E5-A0A6F501DBC3}"/>
              </a:ext>
            </a:extLst>
          </p:cNvPr>
          <p:cNvSpPr>
            <a:spLocks xmlns:a="http://schemas.openxmlformats.org/drawingml/2006/main" noGrp="1"/>
          </p:cNvSpPr>
          <p:nvPr/>
        </p:nvSpPr>
        <p:spPr>
          <a:xfrm xmlns:a="http://schemas.openxmlformats.org/drawingml/2006/main">
            <a:off x="438150" y="2952750"/>
            <a:ext cx="900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a:solidFill>
                  <a:srgbClr val="002060"/>
                </a:solidFill>
                <a:latin typeface="맑은 고딕"/>
                <a:ea typeface="맑은 고딕"/>
                <a:cs typeface="맑은 고딕"/>
              </a:defRPr>
            </a:pPr>
            <a:r>
              <a:rPr>
                <a:solidFill>
                  <a:srgbClr val="002060"/>
                </a:solidFill>
                <a:latin typeface="맑은 고딕"/>
                <a:ea typeface="맑은 고딕"/>
                <a:cs typeface="맑은 고딕"/>
              </a:rPr>
              <a:t>비교 선택으로 개인화한 프롬프트를 만들고</a:t>
            </a:r>
          </a:p>
          <a:p xmlns:a="http://schemas.openxmlformats.org/drawingml/2006/main">
            <a:pPr>
              <a:defRPr>
                <a:solidFill>
                  <a:srgbClr val="002060"/>
                </a:solidFill>
                <a:latin typeface="맑은 고딕"/>
                <a:ea typeface="맑은 고딕"/>
                <a:cs typeface="맑은 고딕"/>
              </a:defRPr>
            </a:pPr>
            <a:r>
              <a:rPr>
                <a:solidFill>
                  <a:srgbClr val="002060"/>
                </a:solidFill>
                <a:latin typeface="맑은 고딕"/>
                <a:ea typeface="맑은 고딕"/>
                <a:cs typeface="맑은 고딕"/>
              </a:rPr>
              <a:t>분야별 템플릿의 저장·반복 사용으로 확장하겠습니다</a:t>
            </a:r>
          </a:p>
        </p:txBody>
      </p:sp>
    </p:spTree>
    <p:extLst>
      <p:ext uri="{BB962C8B-B14F-4D97-AF65-F5344CB8AC3E}">
        <p14:creationId xmlns:p14="http://schemas.microsoft.com/office/powerpoint/2010/main" val="1626386324"/>
      </p:ext>
    </p:extLst>
  </p:cSld>
</p:sld>
</file>

<file path=ppt/theme/theme1.xml><?xml version="1.0" encoding="utf-8"?>
<a:theme xmlns:a="http://schemas.openxmlformats.org/drawingml/2006/main" name="기본">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사용자 지정 2">
      <a:majorFont>
        <a:latin typeface="Arial"/>
        <a:ea typeface="맑은 고딕"/>
        <a:cs typeface=""/>
      </a:majorFont>
      <a:minorFont>
        <a:latin typeface="Arial"/>
        <a:ea typeface="맑은 고딕"/>
        <a:cs typeface=""/>
      </a:minorFont>
    </a:fontScheme>
    <a:fmtScheme name="PwC Colors">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2026-09-30T13:01:44.5710000Z</dcterms:created>
  <dcterms:modified xsi:type="dcterms:W3CDTF">2026-09-30T13:01:44.5710000Z</dcterms:modified>
</coreProperties>
</file>