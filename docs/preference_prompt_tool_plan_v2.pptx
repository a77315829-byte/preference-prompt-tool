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7" y="13898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FF6B74"/>
                </a:solidFill>
                <a:latin typeface="Consolas"/>
              </a:rPr>
              <a:t>CAPSTONE DESIGN · 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7830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선호 기반 프롬프트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자동 생성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361188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9C1CC"/>
                </a:solidFill>
                <a:latin typeface="맑은 고딕"/>
              </a:rPr>
              <a:t>"원하는 것을 서술하세요"를 "이 둘 중 나은 쪽을 고르세요"로 바꾼다.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9C1CC"/>
                </a:solidFill>
                <a:latin typeface="맑은 고딕"/>
              </a:rPr>
              <a:t>8회의 비교 선택에서 암묵적 선호를 추정해 개인 전용 시스템 프롬프트를 생성한다.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5120640"/>
            <a:ext cx="10607040" cy="8229"/>
          </a:xfrm>
          <a:prstGeom prst="rect">
            <a:avLst/>
          </a:prstGeom>
          <a:solidFill>
            <a:srgbClr val="3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7" y="5303520"/>
            <a:ext cx="246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문서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555955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수행계획서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(Project Plan)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5303520"/>
            <a:ext cx="246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작성일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555955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2026. 09. 18.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5303520"/>
            <a:ext cx="246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수행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555955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15주 / 3인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5303520"/>
            <a:ext cx="246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현재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5559552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v2 완료 · 예선 제출 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성공과 한계를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같은 비중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으로 놓는다. 유리한 지표만 골라 보고하지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1. 추진 배경 및 목표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P.04–08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7357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개인화 방식의 한계 · 문제 정의 · 정량 목표 · 기술 계보 · 기대효과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58644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2450084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2. 수행 범위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P.10–19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80081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시스템 개요 · 기능/비기능 요건 · 아키텍처 · 핵심 알고리즘 3종 · 전문가 경로 · 검증 범위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71368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3162808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3. 수행 방안 및 일정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P.21–30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92805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측정 우선 방법론 · 확보된 결과 5건 · 한계와 음성 결과 · 단계별 계획 · 15주 일정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4719" y="1645920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4. 추진 조직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P.32–33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967357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3인 역할 분담 · 공수 산정 · 협업 규칙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4719" y="2358644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15887" y="2450084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5. 프로젝트 관리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P.35–38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680081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위험 관리 · 품질 관리 · 산출물 · 데이터 출처 · 개인정보 보호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4719" y="3071368"/>
            <a:ext cx="5410047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15887" y="3162808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부록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P.39–41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3392805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검사 함수 대 사람 라벨 · 예상 질문과 근거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719" y="3784092"/>
            <a:ext cx="5410047" cy="77482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4719" y="3784092"/>
            <a:ext cx="32004" cy="77482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15887" y="3875532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이 문서의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4105529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본 계획서에 적힌 모든 수치는 저장소에 커밋된 실험 결과에서 재계산한 값이다. 기각된 가설과 되돌린 기능도 성과와 같은 분량으로 기재한다.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200" b="1">
                <a:solidFill>
                  <a:srgbClr val="B0121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81D"/>
                </a:solidFill>
                <a:latin typeface="맑은 고딕"/>
              </a:rPr>
              <a:t>추진 배경 및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1-1 배경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1-2 문제 정의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1-3 목표 및 정량 지표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1-4 기술 계보와 차별점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1-5 기대효과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1-1. 배경 — 개인화는 "서술"에 의존한다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지금의 개인화 수단은 전부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사용자가 자기 취향을 글로 설명할 수 있다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고 가정한다.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3527450" cy="95580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① 커스텀 인스트럭션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7357"/>
            <a:ext cx="3216554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사용자가 "간결하게", "전문적으로" 같은 문구를 직접 작성한다. 추상적 형용사가 실제로 어떤 출력이 되는지는 사용자가 알 수 없다. 본 실험의 비교군 B에 해당한다.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2122" y="1645920"/>
            <a:ext cx="3527450" cy="7748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33290" y="1737360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② 프롬프트 생성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290" y="1967357"/>
            <a:ext cx="321655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"어떤 프롬프트를 원하냐"를 다시 묻는다. 질문의 형태만 바뀌고 서술 부담은 그대로다.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1645920"/>
            <a:ext cx="3527450" cy="7748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8484" y="1737360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③ 파인튜닝 · 선호 정렬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8484" y="1967357"/>
            <a:ext cx="321655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선호 데이터로 모델 자체를 바꾼다. 개인 단위로는 데이터량·비용·접근성이 모두 성립하지 않는다.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20593"/>
            <a:ext cx="11057839" cy="77482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2720593"/>
            <a:ext cx="32004" cy="774827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2812034"/>
            <a:ext cx="10746943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이 가정이 깨지는 지점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042031"/>
            <a:ext cx="10746943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사람은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두 결과물을 비교하면 즉시 고를 수 있지만, 무엇을 기준으로 골랐는지 서술하지 못한다.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실험에서 비교군 B(직접 작성한 지침)는 독립 지표 ROUGE-L </a:t>
            </a:r>
            <a:r>
              <a:rPr sz="950" b="0">
                <a:solidFill>
                  <a:srgbClr val="14181D"/>
                </a:solidFill>
                <a:latin typeface="Consolas"/>
              </a:rPr>
              <a:t>0.168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에 머물렀고, 같은 페르소나에서 비교 선택으로 조립한 프롬프트는 </a:t>
            </a:r>
            <a:r>
              <a:rPr sz="950" b="1">
                <a:solidFill>
                  <a:srgbClr val="B0121A"/>
                </a:solidFill>
                <a:latin typeface="Consolas"/>
              </a:rPr>
              <a:t>0.207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에 도달했다. 서술 능력이 아니라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판별 능력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을 입력으로 쓰면 더 나은 결과가 나온다는 뜻이다.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1-2. 문제 정의 — 무엇을 입력으로 받는가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입력을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서술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에서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선택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으로 바꾸고, 그 선택을 기계가 읽을 수 있는 평가 함수로 번역한다.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992111" cy="75222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1755648"/>
            <a:ext cx="17726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비교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967357"/>
            <a:ext cx="1772655" cy="752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같은 과제, 다른 설정으로 만든 결과물 A·B 중 하나를 고른다. 8회 반복.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471" y="191230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7D8794"/>
                </a:solidFill>
                <a:latin typeface="Consola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3359" y="1645920"/>
            <a:ext cx="1992111" cy="75222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43087" y="1755648"/>
            <a:ext cx="17726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선호 추정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3087" y="1967357"/>
            <a:ext cx="1772655" cy="752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Bradley-Terry 기반으로 축별 선호값과 상대 확신도를 추정한다.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2903" y="191230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7D8794"/>
                </a:solidFill>
                <a:latin typeface="Consola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9791" y="1645920"/>
            <a:ext cx="1992111" cy="752221"/>
          </a:xfrm>
          <a:prstGeom prst="rect">
            <a:avLst/>
          </a:prstGeom>
          <a:solidFill>
            <a:srgbClr val="F7E9EA"/>
          </a:solidFill>
          <a:ln w="19050">
            <a:solidFill>
              <a:srgbClr val="B01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09519" y="1755648"/>
            <a:ext cx="17726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평가 함수 조립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9519" y="1967357"/>
            <a:ext cx="1772655" cy="752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추정된 선호를 점수 + 자연어 피드백을 내는 함수로 변환한다. 본 과제의 핵심 기여.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9335" y="191230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7D8794"/>
                </a:solidFill>
                <a:latin typeface="Consola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6223" y="1645920"/>
            <a:ext cx="1992111" cy="75222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75951" y="1755648"/>
            <a:ext cx="17726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프롬프트 최적화 (선택)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5951" y="1967357"/>
            <a:ext cx="1772655" cy="752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GEPA가 그 함수를 목표로 개선한다. 대표 수치(3-3)는 이 단계 없이 시드 템플릿만으로 낸 값이다.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5767" y="1912302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7D8794"/>
                </a:solidFill>
                <a:latin typeface="Consola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32655" y="1645920"/>
            <a:ext cx="1992111" cy="752221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742383" y="1755648"/>
            <a:ext cx="17726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산출물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2383" y="1967357"/>
            <a:ext cx="1772655" cy="752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그 사용자 전용 시스템 프롬프트 텍스트 한 덩어리.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517013"/>
            <a:ext cx="5410047" cy="108858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66928" y="2517013"/>
            <a:ext cx="32004" cy="1088580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8096" y="2608453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이 과제가 하는 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292531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2688" y="2838450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상용 API를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부품으로 호출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해 조합한다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315055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2688" y="3063684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개인 적합도를 목표로 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3375787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32688" y="3288919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어떤 취향 축이 측정 가능한지를 실험으로 구분한다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4719" y="2517013"/>
            <a:ext cx="5410047" cy="1088580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214719" y="2517013"/>
            <a:ext cx="32004" cy="108858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15887" y="2608453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이 과제가 하지 않는 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4175" y="292531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0479" y="2838450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모델을 학습하거나 파인튜닝하지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않는다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4175" y="315055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0479" y="3063684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"범용적으로 좋은 프롬프트"를 목표로 하지 않는다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4175" y="3375787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0479" y="3288919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산출물이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모든 사람에게 잘 맞으면 개인화 실패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본다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1-3. 목표 및 정량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완성도의 기준은 "동작하는 도구"가 아니라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측정된 결과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목표 지표 및 달성 현황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4087" y="1906905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목표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0632" y="1906905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449" y="1906905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현재 실측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08290" y="1906905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개인화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4087" y="2171166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독립 지표(ROUGE-L)에서 직접 작성 지침(B)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0632" y="2171166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&gt; 0.168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449" y="2171166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0.207 (4/5)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08290" y="2171166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8A5A00"/>
                </a:solidFill>
                <a:latin typeface="Consolas"/>
              </a:rPr>
              <a:t>경향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440000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선호 복원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4087" y="2440000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숨긴 축별 선호의 완전복원율 (5문서×5시드)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0632" y="2440000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≥ 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7449" y="2440000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08290" y="2440000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달성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65031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708833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수렴 효율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4087" y="2708833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2축 완전 도달까지의 비교 횟수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0632" y="2708833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≤ 10회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449" y="2708833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8~9회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08290" y="2708833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달성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91914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2977667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구조적 기여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04087" y="2977667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구조화 피드백의 최적화 효과 (동일 예산 40회, 최적화 지표)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0632" y="2977667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유의한 차이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7449" y="2977667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0.98 vs 0.44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08290" y="2977667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8A5A00"/>
                </a:solidFill>
                <a:latin typeface="Consolas"/>
              </a:rPr>
              <a:t>부분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8797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246501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확장성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4087" y="3246501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engine/ 무수정으로 동작하는 카테고리 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0632" y="3246501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≥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449" y="3246501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8290" y="3246501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달성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568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515334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언어 이식성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04087" y="3515334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한국어 도메인 완주 및 검사 함수 스팟 체크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40632" y="3515334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기능 검증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7449" y="3515334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94% / 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08290" y="3515334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달성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2564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9224" y="3784168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형식 복제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04087" y="3784168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실제 저자 형식 거리 (저자 8명 × 홀드아웃 30)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40632" y="3784168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유의한 감소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67449" y="3784168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0.308→0.146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08290" y="3784168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달성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99448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9224" y="4053001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검증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04087" y="4053001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링크 방문자 만족 응답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0632" y="4053001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3~5인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67449" y="4053001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수집 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08290" y="4053001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8A5A00"/>
                </a:solidFill>
                <a:latin typeface="Consolas"/>
              </a:rPr>
              <a:t>진행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2633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49224" y="4321835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측정 불가 축 복원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04087" y="4321835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하이브리드 판정으로 specificity 축 복원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0632" y="4321835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≥ 0.70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67449" y="4321835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0.558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08290" y="4321835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기각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532147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49224" y="4590669"/>
            <a:ext cx="16902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사람 축 재발견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04087" y="4590669"/>
            <a:ext cx="49719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온보딩 에이전트가 사람이 고른 축과 일치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40632" y="4590669"/>
            <a:ext cx="126222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|r| ≥ 0.7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67449" y="4590669"/>
            <a:ext cx="147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0.453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08290" y="4590669"/>
            <a:ext cx="834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기각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4800981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566928" y="4928082"/>
            <a:ext cx="11057839" cy="487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566928" y="4928082"/>
            <a:ext cx="32004" cy="48768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68096" y="5019522"/>
            <a:ext cx="10746943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판정을 낮춰 적은 두 칸: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개인화 효과는 차이 0.039가 표준편차 안이라 페어드 4/5승만 말하고 유의성은 주장하지 않는다(3-3). 구조적 기여의 0.98은 최적화 목표 지표로 잰 값이라 규칙 7에 따라 독립 검증 전까지 부분 달성이다(3-2, 잔여 과제 2).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기각된 두 항목은 지우지 않고 왜 실패했는지를 결과로 보고한다.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1-4. 기술 계보와 차별점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가져다 쓴 것과 직접 만든 것을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명시적으로 구분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0047" cy="17642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1764284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가져다 쓴 것 (기성 부품)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054225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1967357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GEPA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반성적 프롬프트 진화 (Agrawal et al., ICLR 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279459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2192591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DSPy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자동 프롬프트 최적화 프레임워크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50469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2417826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LiteLLM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다중 모델 API 통합 인터페이스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272992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2643060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MACSum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혼합 속성 제어 요약 데이터셋 (Zhang et al., TACL 2023)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2955163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2868295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rouge-score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독립 채점용 ROUGE-L (LCS 기반)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180397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3093529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Kiwi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한국어 형태소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29076"/>
            <a:ext cx="5410047" cy="54483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3529076"/>
            <a:ext cx="32004" cy="54483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8096" y="3620516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기성 도구를 쓰는 것이 감점 요인이 아니라,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어디까지가 기성품인지 명시하지 않는 것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이 감점 요인이다. 본 계획서는 모든 결과에 대해 어느 부품이 기여했는지를 함께 적는다.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4719" y="1645920"/>
            <a:ext cx="5410047" cy="1539049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4719" y="1645920"/>
            <a:ext cx="32004" cy="1539049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직접 만든 것 (라이브러리로 대체 불가)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4175" y="2054225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0479" y="1967357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Consolas"/>
              </a:rPr>
              <a:t>selector.py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다음에 보여줄 쌍 선택. 불확실도 기반 능동 질의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4175" y="2279459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0479" y="2192591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Consolas"/>
              </a:rPr>
              <a:t>estimator.py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선택 이력 → 축별 선호 + 확신도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4175" y="250469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0479" y="2417826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Consolas"/>
              </a:rPr>
              <a:t>metric_builder.py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 — 선호 → GEPA용 평가 함수 조립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4175" y="272992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0479" y="2643060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Consolas"/>
              </a:rPr>
              <a:t>domain_onboarding.py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축 제안 → 검사 코드 작성 → 판별력 실측 → 재시도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4175" y="2955163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80479" y="2868295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Consolas"/>
              </a:rPr>
              <a:t>expert_onboarding.py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저자 코퍼스에서 형식 앵커 추출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4719" y="3303841"/>
            <a:ext cx="5410047" cy="95580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14719" y="3303841"/>
            <a:ext cx="32004" cy="95580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5887" y="3395281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차별점 — 구조화 피드백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5887" y="3625278"/>
            <a:ext cx="5099151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GEPA는 점수만이 아니라 자연어 피드백도 받는다. 본 도구는 축을 명시적으로 갖고 있으므로 </a:t>
            </a:r>
            <a:r>
              <a:rPr sz="950" b="0">
                <a:solidFill>
                  <a:srgbClr val="14181D"/>
                </a:solidFill>
                <a:latin typeface="Consolas"/>
              </a:rPr>
              <a:t>"길이 위반: 6문장(목표 3문장 이하). 원문 수치 3개 중 1개 누락."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같은 피드백을 낼 수 있다.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범용 최적화 도구가 할 수 없는 부분이고, 효과를 어블레이션으로 실증했다(3-2).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1. 추진 배경 및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1-5. 기대효과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도구 하나가 아니라,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어떤 취향이 측정 가능한지에 대한 지도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를 함께 남긴다.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261358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2613583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181D"/>
                </a:solidFill>
                <a:latin typeface="Consolas"/>
              </a:rPr>
              <a:t>8회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2613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사용자가 부담하는 전체 작업량.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서술 없이 클릭만으로 완료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1679" y="1645920"/>
            <a:ext cx="261358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1679" y="1755648"/>
            <a:ext cx="2613583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181D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2157984"/>
            <a:ext cx="2613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엔진 무수정으로 동작하는 카테고리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(요약 영·한 / 코딩 / 리뷰 / 이메일)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31" y="1645920"/>
            <a:ext cx="261358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96431" y="1755648"/>
            <a:ext cx="2613583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181D"/>
                </a:solidFill>
                <a:latin typeface="Consolas"/>
              </a:rPr>
              <a:t>0회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431" y="2157984"/>
            <a:ext cx="2613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전문가 경로의 API 호출 수.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사용자 글이 외부로 전송되지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1183" y="1645920"/>
            <a:ext cx="261358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1183" y="1755648"/>
            <a:ext cx="2613583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4181D"/>
                </a:solidFill>
                <a:latin typeface="Consolas"/>
              </a:rPr>
              <a:t>242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183" y="2157984"/>
            <a:ext cx="2613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API 없이 통과하는 회귀 테스트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(착수 시점 16개)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496312"/>
            <a:ext cx="3527450" cy="7748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" y="2587752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정성적 효과 ① 진입 장벽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817749"/>
            <a:ext cx="321655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프롬프트 작성법을 모르는 사용자가 자기 취향에 맞는 프롬프트를 얻는다. 입력은 두 결과물 중 하나를 고르는 것뿐이다.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2122" y="2496312"/>
            <a:ext cx="3527450" cy="7748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33290" y="2587752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정성적 효과 ② 방법론 자산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290" y="2817749"/>
            <a:ext cx="321655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축 하나를 채택하기 전에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판별력을 먼저 측정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하는 절차를 확립했다. specificity 축을 5가지 방법으로 시도해 전부 실패한 기록이 그 절차의 근거다.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7316" y="2496312"/>
            <a:ext cx="3527450" cy="774827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98484" y="2587752"/>
            <a:ext cx="321655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정성적 효과 ③ 재현 가능한 실패 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2817749"/>
            <a:ext cx="321655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폐기한 중간 결론 3건과 되돌린 기능 1건을 경과 그대로 남겼다. 실제로 실험을 굴린 팀만 쓸 수 있는 내용이다.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90011"/>
            <a:ext cx="11057839" cy="59385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3390011"/>
            <a:ext cx="32004" cy="59385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8096" y="3481451"/>
            <a:ext cx="10746943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가장 방어 가능한 단일 주장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711448"/>
            <a:ext cx="10746943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"선택 기반 개인화는 작동한다. 다만 모든 취향 축이 측정 가능한 것은 아니며, 어떤 축이 그러한지를 실험으로 구분했다."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200" b="1">
                <a:solidFill>
                  <a:srgbClr val="B0121A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81D"/>
                </a:solidFill>
                <a:latin typeface="맑은 고딕"/>
              </a:rPr>
              <a:t>수행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2-1 시스템 개요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2-2~3 기능 요구사항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2-4 비기능 요구사항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2-5 아키텍처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2-6~8 핵심 알고리즘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2-9 전문가 경로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2-10 검증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2-1. 시스템 개요 — 두 개의 입력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같은 산출물에 도달하는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서로 다른 두 경로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를 제공한다.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0047" cy="113677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113677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경로 A — 비교 선택 (주 경로)</a:t>
            </a:r>
            <a:r>
              <a:rPr sz="950" b="1">
                <a:solidFill>
                  <a:srgbClr val="B0121A"/>
                </a:solidFill>
                <a:latin typeface="Consolas"/>
              </a:rPr>
              <a:t>        API 사용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67357"/>
            <a:ext cx="5099151" cy="769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입력: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과제 카테고리 선택 + 원문 입력 + 8회 비교 클릭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처리: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라운드마다 축 조합이 다른 후보 2개를 동시 생성 → 선택 이력 누적 → 축별 선호 추정 → 평가 함수 조립 → GEPA 최적화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산출: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시스템 프롬프트 + 추정된 축별 선호 + 갈린 비교 수 게이지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01569"/>
            <a:ext cx="5410047" cy="95580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6928" y="2901569"/>
            <a:ext cx="32004" cy="95580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2993009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왜 8회인가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223006"/>
            <a:ext cx="5099151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수렴 곡선 실측에서 불확실도 기반 선택이 </a:t>
            </a:r>
            <a:r>
              <a:rPr sz="950" b="0">
                <a:solidFill>
                  <a:srgbClr val="14181D"/>
                </a:solidFill>
                <a:latin typeface="Consolas"/>
              </a:rPr>
              <a:t>8~9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라운드에 2축 완전 도달했다. 그 이상 늘렸을 때의 실측은 없다 — 인접한 값(normal/long)을 더 가를 수 있는지는 미확인이다(3-4). 라운드 수는 </a:t>
            </a:r>
            <a:r>
              <a:rPr sz="950" b="0">
                <a:solidFill>
                  <a:srgbClr val="14181D"/>
                </a:solidFill>
                <a:latin typeface="Consolas"/>
              </a:rPr>
              <a:t>service.TOTAL_ROUNDS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한 곳에서 관리한다.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4719" y="1645920"/>
            <a:ext cx="5410047" cy="1136777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4719" y="1645920"/>
            <a:ext cx="32004" cy="1136777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경로 B — 전문가 자료 (보조 경로)</a:t>
            </a:r>
            <a:r>
              <a:rPr sz="950" b="1">
                <a:solidFill>
                  <a:srgbClr val="1E5E3C"/>
                </a:solidFill>
                <a:latin typeface="Consolas"/>
              </a:rPr>
              <a:t>        API 0회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967357"/>
            <a:ext cx="5099151" cy="769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입력: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자기가 쓴 답변 뭉치를 구분선으로 나눠 붙여넣기. 권장 30개 이상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처리: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전부 파이썬 코드로 계측. 단어·문장·문단·글머리 기호 비율을 재고, 절대 단어 수와 압축률 중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변동계수가 작은 쪽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을 길이 모수화로 선택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산출: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29단어 형식 앵커가 붙은 프롬프트 + 측정된 형식 프로필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4719" y="2901569"/>
            <a:ext cx="5410047" cy="77482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4719" y="2901569"/>
            <a:ext cx="32004" cy="774827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5887" y="2993009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경로 B의 설계상 이점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3223006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효과가 전부 코드 계측에서 나오므로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사용자의 글이 어디로도 전송되지 않는다.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같은 자료를 예시로 프롬프트에 넣어봤을 때 형식 거리는 </a:t>
            </a:r>
            <a:r>
              <a:rPr sz="950" b="0">
                <a:solidFill>
                  <a:srgbClr val="14181D"/>
                </a:solidFill>
                <a:latin typeface="Consolas"/>
              </a:rPr>
              <a:t>0.146 → 0.149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차이가 없었다(페어드 </a:t>
            </a:r>
            <a:r>
              <a:rPr sz="950" b="0">
                <a:solidFill>
                  <a:srgbClr val="14181D"/>
                </a:solidFill>
                <a:latin typeface="Consolas"/>
              </a:rPr>
              <a:t>p=0.727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). 보낼 이유가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2-2. 기능 요구사항 ① 핵심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별표(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★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) 항목은 라이브러리로 대체할 수 없는 부분이며, 공수의 대부분이 여기에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핵심 기능 요구사항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4435" y="1906905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30" y="1906905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399" y="1906905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6893" y="1906905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상태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4435" y="2171166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정의 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9930" y="2171166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 이름·값·문구·검사 함수 지정을 YAML에서 읽고 스키마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1399" y="2171166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domain_loader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6893" y="2171166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440000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4435" y="2440000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후보 생성 및 캐싱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9930" y="2440000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캐시 키는 조립된 프롬프트 텍스트 자체 — 문구를 고치면 무효화된다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1399" y="2440000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6893" y="2440000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65031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708833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4435" y="2708833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후보 2개 동시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9930" y="2708833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순서 보존 필수. 뒤바뀌면 사용자가 고른 것과 다른 축을 학습한다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1399" y="2708833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6893" y="2708833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91914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2977667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FR-04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4435" y="2977667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쌍 선택 알고리즘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9930" y="2977667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무작위 / 축 순차 / 불확실도 3종. 확신한 축은 다시 묻지 않는다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1399" y="2977667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selector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6893" y="2977667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8797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246501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FR-05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74435" y="3246501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선호 추정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9930" y="3246501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Bradley-Terry 선호값 + 정규화 엔트로피 확신도 (축 간 상대 비교용)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1399" y="3246501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estimator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46893" y="3246501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568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515334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FR-06 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4435" y="3515334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평가 함수 조립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9930" y="3515334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선호 → (점수, 자연어 피드백) 함수. 축 가중치는 확신도에서 유도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1399" y="3515334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metric_builder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6893" y="3515334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2564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9224" y="3784168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74435" y="3784168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GEPA 연동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99930" y="3784168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시드·trainset/valset·metric 전달. 호출 예산 상한 고정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1399" y="3784168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run_gepa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46893" y="3784168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99448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9224" y="4053001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74435" y="4053001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데모 모드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99930" y="4053001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API 키 없이 규칙 기반 후보로 8회 완주. 축을 실제로 구현한다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1399" y="4053001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demos/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46893" y="4053001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2633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49224" y="4321835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FR-09 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74435" y="4321835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형식 앵커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99930" y="4321835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답변 계측 → 길이 모수화 자동 선택 → 29단어 앵커. API 0회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21399" y="4321835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expert_onboarding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46893" y="4321835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532147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49224" y="4590669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FR-10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74435" y="4590669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온보딩 에이전트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99930" y="4590669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 제안 → 코드 작성 → 샌드박스 판별력 측정 → 재시도(최대 2회)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21399" y="4590669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domain_onboarding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46893" y="4590669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8A5A00"/>
                </a:solidFill>
                <a:latin typeface="Consolas"/>
              </a:rPr>
              <a:t>MVP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4800981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9224" y="4859502"/>
            <a:ext cx="6606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74435" y="4859502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하이브리드 판정 라우팅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99930" y="4859502"/>
            <a:ext cx="55568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코드 → 소형 → 대형. 확신도는 단일 토큰 logprob 소프트맥스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21399" y="4859502"/>
            <a:ext cx="176090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checks/*_hybrid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46893" y="4859502"/>
            <a:ext cx="49557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기각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5069814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2-3. 기능 요구사항 ② 운영 · 검증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공개 링크로 심사받는 과제이므로,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링크가 죽지 않는 것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이 기능 요구사항이다.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운영 및 검증 기능 요구사항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146" y="1906905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4607" y="1906905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상세 및 설계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7217" y="1906905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" y="2171166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146" y="2171166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지출 상한 이중화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607" y="2171166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세션당 3회 + 앱이 공유하는 하루 60회. 세션 상한만으로는 브라우저를 새로 열면 초기화돼 공개 링크에서 방어가 안 된다. 확인과 차감을 한 락 안에서 수행 — 나누면 동시 방문자가 마지막 한 칸을 같이 가져간다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7217" y="2171166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2440000"/>
            <a:ext cx="53233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6146" y="2440000"/>
            <a:ext cx="169386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배포 감시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4607" y="2440000"/>
            <a:ext cx="754801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6시간마다 실제 브라우저로 열어 화면이 그려지는지 확인, 실패 시 메일 통보. 마커는 DOM 속성이 아니라 화면에 보이는 문구를 쓴다 — 예전에 입력란의 maxlength를 마커로 썼다가 프레임워크가 DOM에 찍지 않아 낭패를 봤다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7217" y="2440000"/>
            <a:ext cx="62525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8747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2845993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146" y="2845993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배포 갱신 강제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4607" y="2845993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코드만 푸시하면 이미 import된 모듈이 갱신되지 않아 구버전이 남는다. 의존성 파일의 빌드 마커를 올려 프로세스 재시작을 강제하고 감시 대상 디렉터리를 명시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7217" y="2845993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05630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3114827"/>
            <a:ext cx="53233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146" y="3114827"/>
            <a:ext cx="169386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응답 수집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4607" y="3114827"/>
            <a:ext cx="754801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화면 끝의 예/아니오 한 줄 질문. 저장소 없이 표준 출력 한 줄 JSON(의존성 0개). 원문과 생성 결과는 기록하지 않는다. api / demo / expert 모드를 합치지 않는다 — 서로 다른 것을 평가하므로 합치면 아무것도 말하지 못한다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7217" y="3114827"/>
            <a:ext cx="62525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8A5A00"/>
                </a:solidFill>
                <a:latin typeface="Consolas"/>
              </a:rPr>
              <a:t>수집 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46229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" y="3520821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6146" y="3520821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재현 검사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4607" y="3520821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문서의 수치를 커밋된 결과 파일에서 다시 계산해 일치를 확인. 리뷰 중 실제로 두 번 어긋났기 때문에(%p 혼용, 표본 5개 평균만으로 우위 주장) 코드로 막는다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17217" y="3520821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73113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789654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6146" y="3789654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생성 코드 안전 실행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4607" y="3789654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AST 정적 검증(import 전면 금지, 던더 이름·속성 패턴 차단) + 프로세스 격리 + 타임아웃. 개별 위험 이름을 나열하는 대신 구조적으로 막아 샌드박스 탈출 경로까지 차단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7217" y="3789654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99996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9224" y="4058488"/>
            <a:ext cx="5323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FR-18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46146" y="4058488"/>
            <a:ext cx="169386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중간 저장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4607" y="4058488"/>
            <a:ext cx="754801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장시간 유료 실행은 항목 단위로 즉시 저장하고 어디서 왜 멈췄는지를 함께 기록. 실제로 크레딧 소진으로 중단돼 두 항목의 유료 결과를 잃은 사고가 있었다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17217" y="4058488"/>
            <a:ext cx="62525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E5E3C"/>
                </a:solidFill>
                <a:latin typeface="Consolas"/>
              </a:rPr>
              <a:t>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268800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2-4. 비기능 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비용과 응답 시간은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측정해서 관리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한다. 추정치로 두지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032602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성능 — 응답 시간 실측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032602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251946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3278" y="1906905"/>
            <a:ext cx="9537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라운드당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1634" y="1906905"/>
            <a:ext cx="106559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8회 완주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03260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2519462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배포, 순차 호출 (이전)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278" y="2171166"/>
            <a:ext cx="953764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20.3초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1634" y="2171166"/>
            <a:ext cx="1065599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약 160초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07196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65717"/>
            <a:ext cx="2519462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배포, 동시 호출 (현재)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3278" y="2465717"/>
            <a:ext cx="953764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B0121A"/>
                </a:solidFill>
                <a:latin typeface="Consolas"/>
              </a:rPr>
              <a:t>4.2초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1634" y="2465717"/>
            <a:ext cx="1065599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B0121A"/>
                </a:solidFill>
                <a:latin typeface="Consolas"/>
              </a:rPr>
              <a:t>약 34초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01747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760268"/>
            <a:ext cx="2519462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로컬 통제, 순차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3278" y="2760268"/>
            <a:ext cx="953764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7.8초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1634" y="2760268"/>
            <a:ext cx="1065599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약 62초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96298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3054819"/>
            <a:ext cx="2519462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로컬 통제, 동시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3278" y="3054819"/>
            <a:ext cx="953764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2.9초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1634" y="3054819"/>
            <a:ext cx="1065599" cy="286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약 23초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90849"/>
            <a:ext cx="503260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3417950"/>
            <a:ext cx="5032602" cy="54483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3417950"/>
            <a:ext cx="32004" cy="54483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" y="3509390"/>
            <a:ext cx="4721706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배포 수치의 개선폭이 더 큰 이유는 이전 측정에 콜드스타트가 섞여 있었기 때문이다. 동시 생성만의 순효과는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같은 조건에서 잰 로컬 비교의 63%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본다 (캐시를 타지 않도록 매번 새 원문, 3회 측정).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7274" y="1645920"/>
            <a:ext cx="5787492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비기능 요구사항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37274" y="1852041"/>
            <a:ext cx="5787492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19570" y="1906905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항목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051" y="1906905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기준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37274" y="2112645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919570" y="2171166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3051" y="2171166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동일 (원문, 축조합) 쌍은 두 번 호출하지 않는다. 후보 생성은 소형 모델, GEPA 성찰만 강한 모델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37274" y="2381478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19570" y="2440000"/>
            <a:ext cx="86888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재현성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3051" y="2440000"/>
            <a:ext cx="4589419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비교 실험에는 temperature=0과 고정 시드. 고정 전에는 같은 페르소나 2회 실행이 277단어와 104단어로 갈려 노이즈를 결과로 읽었다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37274" y="2787472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919570" y="2845993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가용성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051" y="2845993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링크 상시 접속. 12시간 무트래픽 절전은 감수하고, 아예 안 뜨는 상태를 빨리 아는 것을 목표로 한다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37274" y="3056305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19570" y="3114827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보안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3051" y="3114827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API 키는 환경 파일에서만 읽고 저장소에 커밋하지 않는다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37274" y="3325139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919570" y="3383661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개인정보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3051" y="3383661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사용자 원문·생성 결과·자기 자료를 저장하지 않는다. 전문가 경로는 외부 전송 자체가 없다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37274" y="3593973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919570" y="3652494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이식성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3051" y="3652494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서버형 DB를 쓰지 않는다. 상태는 JSON 파일 또는 세션 내에만 둔다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7274" y="3862806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919570" y="3921328"/>
            <a:ext cx="8688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접근성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3051" y="3921328"/>
            <a:ext cx="4589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420px 폭에서 8회 완주 가능. 무료 티어 메모리 한도 안에서 동작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37274" y="4131640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2-5. 아키텍처 — 도메인을 모르는 엔진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B0121A"/>
                </a:solidFill>
                <a:latin typeface="맑은 고딕"/>
              </a:rPr>
              <a:t>엔진 코드에 도메인 특정 단어가 등장하지 않는다.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 이 제약이 확장성 주장의 실체다.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6576920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626602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표현 계층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  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7357"/>
            <a:ext cx="6266024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화면 조립만 담당. 3단계(카테고리 선택 → 비교 → 결과)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58644"/>
            <a:ext cx="6576920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2450084"/>
            <a:ext cx="626602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순수 서비스 계층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   service.py · theme.py · expert_profile.py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80081"/>
            <a:ext cx="6266024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UI 프레임워크를 import하지 않는다. 세션 상태는 선택 이력만 보관하고 나머지는 이력에서 재생성한다.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UI 없이 그대로 단위 테스트할 수 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71368"/>
            <a:ext cx="6576920" cy="77482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3071368"/>
            <a:ext cx="32004" cy="77482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3162808"/>
            <a:ext cx="626602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엔진 계층 (도메인 무지)</a:t>
            </a:r>
            <a:r>
              <a:rPr sz="950" b="1">
                <a:solidFill>
                  <a:srgbClr val="B0121A"/>
                </a:solidFill>
                <a:latin typeface="Consolas"/>
              </a:rPr>
              <a:t>        팀의 핵심 기여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92805"/>
            <a:ext cx="6266024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"축이 N개 있고 각 축에 값이 M개 있다"까지만 안다. 축 이름, 축 값, 프롬프트 문구, 검사 함수 지정은 전부 도메인 정의 파일에서 읽는다.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이 규칙을 어기면 도메인 추가 시 엔진을 다시 짜야 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65066"/>
            <a:ext cx="6576920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4056506"/>
            <a:ext cx="626602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도메인 계층 (교체 가능)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   domains/ · checks/ · demos/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286503"/>
            <a:ext cx="6266024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과제 카테고리 5종. 새 카테고리는 이 계층에만 파일을 추가한다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77791"/>
            <a:ext cx="6576920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8096" y="4769231"/>
            <a:ext cx="6266024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에이전트 계층 (분리)</a:t>
            </a:r>
            <a:r>
              <a:rPr sz="950" b="1">
                <a:solidFill>
                  <a:srgbClr val="7D8794"/>
                </a:solidFill>
                <a:latin typeface="Consolas"/>
              </a:rPr>
              <a:t>        agents/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999227"/>
            <a:ext cx="6266024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축 발견 · 전문가 형식 추출. 기존 파이프라인과 완전히 분리되어 실패해도 확보된 결과를 훼손하지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1592" y="1645920"/>
            <a:ext cx="4243174" cy="77482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81592" y="1645920"/>
            <a:ext cx="32004" cy="77482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2760" y="1737360"/>
            <a:ext cx="3932278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검증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2760" y="1967357"/>
            <a:ext cx="3932278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완전히 다른 도메인(이메일 초안, 축 3개: 길이·격식·구조)을 정의 파일만 추가해 붙였다.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엔진 코드는 한 줄도 고치지 않았다.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1592" y="2539619"/>
            <a:ext cx="4243174" cy="95580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381592" y="2539619"/>
            <a:ext cx="32004" cy="95580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82760" y="2631059"/>
            <a:ext cx="3932278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남아 있던 구멍도 메웠다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2760" y="2861056"/>
            <a:ext cx="3932278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전에는 새 도메인을 앱에 노출하려면 데모 생성기를 손으로 써야 했다. 지금은 여러 도메인이 공유하는 축(길이·감정·격식·구조)을 실제로 구현한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공용 데모 생성기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가 있고, 전용 모듈이 없으면 라우터가 여기로 내려온다.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81592" y="3614293"/>
            <a:ext cx="4243174" cy="774827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381592" y="3614293"/>
            <a:ext cx="32004" cy="774827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82760" y="3705733"/>
            <a:ext cx="3932278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축을 흉내만 내면 안 된다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2760" y="3935729"/>
            <a:ext cx="3932278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데모 후보가 아무렇게나 다른 텍스트를 내놓으면 사용자의 선택이 축과 무관해지고 추정된 선호가 의미를 잃는다. 데모 생성기도 축을 실제로 구현한다.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2-6. 핵심 알고리즘 ① 쌍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같은 질문을 반복하지 않는 것이 목표다.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이미 확신한 축은 묻지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4328038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4017142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무작위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7357"/>
            <a:ext cx="4017142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축 조합을 임의로 뽑는다. 중복 질문이 다발하고 수렴이 느리다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358644"/>
            <a:ext cx="4328038" cy="5938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2450084"/>
            <a:ext cx="4017142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축 순차 질의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680081"/>
            <a:ext cx="4017142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축을 하나씩 순서대로 가른다. 질문 수는 적으나 축 간 상호작용을 포착하지 못한다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71368"/>
            <a:ext cx="4328038" cy="59385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3071368"/>
            <a:ext cx="32004" cy="59385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3162808"/>
            <a:ext cx="4017142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불확실도 기반 (채택)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92805"/>
            <a:ext cx="4017142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현재 추정에서 가장 불확실한 축을 가르는 쌍을 우선 제시한다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84092"/>
            <a:ext cx="4328038" cy="54483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3784092"/>
            <a:ext cx="32004" cy="54483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3875532"/>
            <a:ext cx="4017142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세 방식을 모두 구현해 비교 결과를 발표의 핵심 그래프로 쓴다. 비교 없이 하나만 만들면 "왜 그 방식인가"에 답할 근거가 없다.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2710" y="1645920"/>
            <a:ext cx="649205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수렴 실측 — 5문서 × 5시드 평균, 2축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2710" y="1852041"/>
            <a:ext cx="649205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15006" y="1906905"/>
            <a:ext cx="99950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방식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099" y="1906905"/>
            <a:ext cx="7308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도달 축수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55" y="1906905"/>
            <a:ext cx="68609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완전복원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5238" y="1906905"/>
            <a:ext cx="341723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비고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2710" y="2112645"/>
            <a:ext cx="649205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15006" y="2171166"/>
            <a:ext cx="99950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무작위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9099" y="2171166"/>
            <a:ext cx="7308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1.3 /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4555" y="2171166"/>
            <a:ext cx="68609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238" y="2171166"/>
            <a:ext cx="341723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10라운드까지 정체. 15라운드에도 유지 못 함(평균 1.8/2)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2710" y="2381478"/>
            <a:ext cx="649205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5006" y="2440000"/>
            <a:ext cx="99950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 순차 질의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099" y="2440000"/>
            <a:ext cx="7308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1.8 /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4555" y="2440000"/>
            <a:ext cx="68609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5238" y="2440000"/>
            <a:ext cx="341723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복원 후 되돌아가지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2710" y="2650312"/>
            <a:ext cx="649205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215006" y="2708833"/>
            <a:ext cx="99950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불확실도 기반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099" y="2708833"/>
            <a:ext cx="7308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2.0 /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4555" y="2708833"/>
            <a:ext cx="68609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5238" y="2708833"/>
            <a:ext cx="341723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8~9라운드에 완전 도달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2710" y="2919145"/>
            <a:ext cx="649205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132710" y="3046247"/>
            <a:ext cx="6492057" cy="95580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132710" y="3046247"/>
            <a:ext cx="32004" cy="95580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333878" y="3137687"/>
            <a:ext cx="618116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정직하게 적어야 하는 부분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3878" y="3367684"/>
            <a:ext cx="6181161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불확실도 방식이 순차보다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빠르지는 않다.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실측 곡선에서 둘 다 6라운드에 복원하고 완전복원율도 같은 80%다. 그래서 회귀 테스트에 "불확실도가 더 빠르다"를 박지 않았고, 대신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둘 다 복원 후 되돌아가지 않는 것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과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무작위는 유지하지 못하는 것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만 고정했다. 불확실도 방식의 이점은 속도가 아니라 최종 도달 축수(2.0 대 1.8)다.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2-7. 핵심 알고리즘 ② 선호 추정과 확신도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내부 계산에 쓰이던 수치가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사용자에게 보여줄 만큼 의미 있는지는 따로 재봐야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0047" cy="77482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774827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추정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67357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선택 이력을 Bradley-Terry 쌍대 비교로 보고 축별 선호값을 추정한다. 확신도는 축별 선호 분포의 정규화 엔트로피에서 유도하고,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평가 함수의 축 가중치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쓴다 — 확신이 큰 축에 큰 가중치를 준다.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39619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확신도 보정 실측 — 완벽히 일관된 가상 사용자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745740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800604"/>
            <a:ext cx="18874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카테고리 (축 값 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1311" y="2800604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8회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4247" y="2800604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12회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7184" y="2800604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16회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121" y="2800604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24회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058" y="2800604"/>
            <a:ext cx="58162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복원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06344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224" y="3064865"/>
            <a:ext cx="18874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요약 한국어 (3값)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1311" y="3064865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4247" y="3064865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7184" y="3064865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0121" y="3064865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3058" y="3064865"/>
            <a:ext cx="58162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9/9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75177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3333699"/>
            <a:ext cx="18874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코딩 (2값)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1311" y="3333699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4247" y="3333699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7184" y="3333699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0121" y="3333699"/>
            <a:ext cx="4883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3058" y="3333699"/>
            <a:ext cx="58162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8/8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544011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14719" y="1645920"/>
            <a:ext cx="5410047" cy="77482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214719" y="1645920"/>
            <a:ext cx="32004" cy="77482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시도했으나 되돌린 기능 — 확신도 표시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5887" y="1967357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결과 화면에 확신도를 띄우려 했으나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철회했다.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3값 축에서는 비교를 24회까지 늘려도 </a:t>
            </a:r>
            <a:r>
              <a:rPr sz="950" b="0">
                <a:solidFill>
                  <a:srgbClr val="14181D"/>
                </a:solidFill>
                <a:latin typeface="Consolas"/>
              </a:rPr>
              <a:t>0.06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에 머무는데 선호는 </a:t>
            </a:r>
            <a:r>
              <a:rPr sz="950" b="0">
                <a:solidFill>
                  <a:srgbClr val="14181D"/>
                </a:solidFill>
                <a:latin typeface="Consolas"/>
              </a:rPr>
              <a:t>9/9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전부 정확히 복원한다. 맞힌 사용자에게 "확신도 6%"라고 적으면 오히려 오인시킨다.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4719" y="2539619"/>
            <a:ext cx="5410047" cy="774827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14719" y="2539619"/>
            <a:ext cx="32004" cy="774827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15887" y="2631059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대안도 실패했다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5887" y="2861056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"이 축이 갈린 비교 중 추정 결과와 같은 쪽을 고른 비율"도 쟀는데, 3값 축에서는 선호값이 아닌 두 값끼리 붙는 비교가 섞여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일관된 사용자 52% 대 무작위 클릭 55%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구분되지 않았다 (2값인 코딩은 100% 대 83%로 갈린다).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4719" y="3433318"/>
            <a:ext cx="5410047" cy="774827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214719" y="3433318"/>
            <a:ext cx="32004" cy="774827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15887" y="3524758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대신 화면에 무엇을 넣었나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5887" y="3754755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보정되지 않은 확신도 대신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"갈린 비교 수"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를 축별 게이지로 보여준다. 이 수치는 정의가 명확하고 해석에 보정이 필요하지 않다 — 그 축을 실제로 몇 번 물었는지다. 보정된 확신도는 사후분포나 홀드아웃 일관성 검사가 필요한 별도 과제로 남긴다.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2-8. 핵심 알고리즘 ③ 평가 함수 조립 → GEPA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GEPA에 넘기는 세 인자 중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평가 함수가 본 과제의 기여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이고, 나머지 둘은 데이터다.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GEPA 인자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12351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GEPA 인자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7330" y="1906905"/>
            <a:ext cx="27551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본 도구의 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038" y="1906905"/>
            <a:ext cx="10376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출처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112351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seed_candidate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7330" y="2171166"/>
            <a:ext cx="27551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추정된 축 선호로 조립한 초기 시스템 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038" y="2171166"/>
            <a:ext cx="10376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estimator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112351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trainset / valset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7330" y="2440000"/>
            <a:ext cx="27551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과제 원문 수십 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038" y="2440000"/>
            <a:ext cx="10376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데이터셋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50312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708833"/>
            <a:ext cx="112351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7330" y="2708833"/>
            <a:ext cx="27551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축별 위반 내역을 점수 + 자연어 피드백으로 반환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038" y="2708833"/>
            <a:ext cx="10376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metric_builder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19145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2977667"/>
            <a:ext cx="112351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max_metric_calls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7330" y="2977667"/>
            <a:ext cx="27551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비용 상한. 초기에는 낮게 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038" y="2977667"/>
            <a:ext cx="10376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설정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187979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3315081"/>
            <a:ext cx="5410047" cy="77482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3315081"/>
            <a:ext cx="32004" cy="774827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" y="3406521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반환 형태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3636518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14181D"/>
                </a:solidFill>
                <a:latin typeface="Consolas"/>
              </a:rPr>
              <a:t>return 0.6, "길이 위반: 6문장(목표 3문장 이하). 원문 수치 3개 중 1개 누락."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점수만 주면 GEPA는 무엇을 고쳐야 하는지 모른다. 축을 명시적으로 갖고 있으므로 이걸 줄 수 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4719" y="1645920"/>
            <a:ext cx="5410047" cy="774827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14719" y="1645920"/>
            <a:ext cx="32004" cy="774827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설계 과정에서 걸린 함정 — 시드가 이미 최적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5887" y="1967357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1차 어블레이션에서 시드를 추정 선호로 조립했더니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검증 점수가 처음부터 1.0으로 포화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돼 두 조건 모두 개선할 여지가 없었다. 무의미한 비교였다. 시드를 일부러 못 맞는 것으로 바꿔 재실행했다.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4719" y="2539619"/>
            <a:ext cx="5410047" cy="131775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14719" y="2539619"/>
            <a:ext cx="32004" cy="131775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15887" y="2631059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같은 함정이 제품에도 있다 — 정직하게 기재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5887" y="2861056"/>
            <a:ext cx="5099151" cy="950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대표 수치(3-3의 D)는 GEPA 없이 시드 템플릿만으로 낸 값이다. 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배포 앱의 최적화 버튼도 같은 이유로 대부분 아무것도 바꾸지 않는다. 시드가 추정된 선호로 조립되고 평가 함수가 그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같은 선호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를 검사하므로, 로그에 </a:t>
            </a:r>
            <a:r>
              <a:rPr sz="950" b="0">
                <a:solidFill>
                  <a:srgbClr val="14181D"/>
                </a:solidFill>
                <a:latin typeface="Consolas"/>
              </a:rPr>
              <a:t>Base program full valset score: 1.0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이후 </a:t>
            </a:r>
            <a:r>
              <a:rPr sz="950" b="0">
                <a:solidFill>
                  <a:srgbClr val="14181D"/>
                </a:solidFill>
                <a:latin typeface="Consolas"/>
              </a:rPr>
              <a:t>All subsample scores perfect. Skipping.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이 찍힌다.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시드를 중립으로 바꾸는 것은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홀드아웃 검증이 필요한 별도 과제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이므로 임의로 손대지 않았고, 대신 화면이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"시드가 이미 통과해 바꿀 것이 없었다"고 말하도록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고쳤다. 조용히 아무 일도 하지 않는 버튼을 두는 것이 더 나쁘다.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2-9. 전문가 프롬프트 경로 — 계측만으로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길이 기준을 상수로 박지 않고,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어느 모수화가 이 저자에게 안정적인지를 학습 예시에서 재서 고른다.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판별력비 — 저자 간 차이가 저자 안 흔들림보다 큰가 (임계값 2.0)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특징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4522" y="1906905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5285" y="1906905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Q&amp;A cooking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278" y="1906905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Q&amp;A writing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64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" y="2171166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압축률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4522" y="2171166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165.51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5285" y="2171166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2278" y="2171166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81478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2440000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단어 / 답변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4522" y="2440000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5.76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5285" y="2440000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4.27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2278" y="2440000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2.13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650312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2708833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문장 / 답변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4522" y="2708833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5285" y="2708833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4.19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2278" y="2708833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2.23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19145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2977667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문장당 단어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4522" y="2977667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5285" y="2977667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3.27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2278" y="2977667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187979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" y="3246501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문단 / 답변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4522" y="3246501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5285" y="3246501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4.14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2278" y="3246501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456813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515334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글머리 기호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84522" y="3515334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5285" y="3515334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2278" y="3515334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0.97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725646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9224" y="3784168"/>
            <a:ext cx="15707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유보 표현 밀도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84522" y="3784168"/>
            <a:ext cx="8561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5285" y="3784168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2278" y="3784168"/>
            <a:ext cx="11624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3994480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66928" y="4121581"/>
            <a:ext cx="5410047" cy="544830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66928" y="4121581"/>
            <a:ext cx="32004" cy="54483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68096" y="4213021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압축률 앵커는 요약 과제의 산물이었다.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요약은 원문이 길면 요약도 길어 상관이 </a:t>
            </a:r>
            <a:r>
              <a:rPr sz="950" b="0">
                <a:solidFill>
                  <a:srgbClr val="14181D"/>
                </a:solidFill>
                <a:latin typeface="Consolas"/>
              </a:rPr>
              <a:t>0.91~0.996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이지만, 실제 Q&amp;A에서는 </a:t>
            </a:r>
            <a:r>
              <a:rPr sz="950" b="0">
                <a:solidFill>
                  <a:srgbClr val="14181D"/>
                </a:solidFill>
                <a:latin typeface="Consolas"/>
              </a:rPr>
              <a:t>0.04~0.25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다 — 답변 길이는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질문의 난이도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가 정하고 질문의 길이가 정하지 않는다. 두 사이트에서 재현됐다.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4719" y="1645920"/>
            <a:ext cx="5410047" cy="95580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214719" y="1645920"/>
            <a:ext cx="32004" cy="95580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대응 — 모수화를 측정으로 고른다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5887" y="1967357"/>
            <a:ext cx="5099151" cy="588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학습 예시에서 절대 단어 수와 압축률의 변동계수를 각각 재서 작은 쪽을 쓴다. 상수를 박지 않는다. 여유 계수 </a:t>
            </a:r>
            <a:r>
              <a:rPr sz="950" b="0">
                <a:solidFill>
                  <a:srgbClr val="14181D"/>
                </a:solidFill>
                <a:latin typeface="Consolas"/>
              </a:rPr>
              <a:t>0.6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을 두면 저자 11명 × 20개 분할 =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220개 분할을 전부 올바르게 판정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한다(계수 없이는 13개를 놓친다). 요약 페르소나 3명은 전원 압축률, 실제 저자 16명은 전원 절대 단어 수가 선택됐다.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4719" y="2720593"/>
            <a:ext cx="5410047" cy="113677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214719" y="2720593"/>
            <a:ext cx="32004" cy="1136777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15887" y="2812034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앵커의 두 절은 각각 다른 일을 한다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5887" y="3042031"/>
            <a:ext cx="5099151" cy="769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문장당 단어 수는 판별력 </a:t>
            </a:r>
            <a:r>
              <a:rPr sz="950" b="0">
                <a:solidFill>
                  <a:srgbClr val="14181D"/>
                </a:solidFill>
                <a:latin typeface="Consolas"/>
              </a:rPr>
              <a:t>1.02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탈락했지만, 앵커에서 그 절을 빼면 모델이 문장을 잘게 쪼개 문장당 단어가 </a:t>
            </a:r>
            <a:r>
              <a:rPr sz="950" b="0">
                <a:solidFill>
                  <a:srgbClr val="14181D"/>
                </a:solidFill>
                <a:latin typeface="Consolas"/>
              </a:rPr>
              <a:t>13~17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로 내려간다 — 저자(18~23)도 모델 기본값(22.2)도 아닌 값이다. 형식 거리가 3~11배 나빠진다.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"그 특징이 저자를 구분하지 못한다"와 "그 특징을 적는 것이 도움이 안 된다"는 다른 말이다.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문장 절은 저자 정보를 나르는 게 아니라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모델의 기본 습관을 묶는 제약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으로 일한다.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2. 수행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2-10. 실험 및 검증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데이터셋마다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무엇을 검증할 수 있고 무엇은 할 수 없는지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를 먼저 확정한다.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검증 자산 — 출처 / 규모 / 검증 가능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40067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4488" y="1906905"/>
            <a:ext cx="1350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261" y="1906905"/>
            <a:ext cx="296593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9791" y="1906905"/>
            <a:ext cx="20570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검증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1457" y="1906905"/>
            <a:ext cx="2461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검증 불가 — 그 이유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140067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MACSum macdoc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4488" y="2171166"/>
            <a:ext cx="135018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 94개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페르소나 3종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261" y="2171166"/>
            <a:ext cx="2965937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주 실험. 속성 조합 하나 = 페르소나 하나, 사람 작성 요약이 답안지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9791" y="2171166"/>
            <a:ext cx="205707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복원율 · 수렴 곡선 · 비교군 A/B/D · 독립 채점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1457" y="2171166"/>
            <a:ext cx="246101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길이 외 문체. 요약 2,954개 전체에서 글머리 기호가 0이고 문단 수가 정확히 1이다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1863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577160"/>
            <a:ext cx="140067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MACSum macdial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4488" y="2577160"/>
            <a:ext cx="13501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요약 2,954개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9261" y="2577160"/>
            <a:ext cx="296593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위 판정의 확인용 반대쪽 분할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9791" y="2577160"/>
            <a:ext cx="20570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길이 외 문체 검증 불가의 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1457" y="2577160"/>
            <a:ext cx="2461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동일 — 글머리 기호 0, 문단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78747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845993"/>
            <a:ext cx="140067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Stack Exchange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(공개 API · CC BY-SA)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4488" y="2845993"/>
            <a:ext cx="135018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 16명 / 4사이트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저자당 88~100쌍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9261" y="2845993"/>
            <a:ext cx="2965937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경로 검증. 제품이 노리는 상황 그 자체 — 자기 분야에 답을 많이 써둔 실제 사람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9791" y="2845993"/>
            <a:ext cx="205707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형식 거리 · 판별력 진단 · 모수화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1457" y="2845993"/>
            <a:ext cx="246101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내용 정확도. 답변의 사실성은 채점하지 않는다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9346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3251987"/>
            <a:ext cx="140067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Yelp Review Full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4488" y="3251987"/>
            <a:ext cx="135018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3,000건 캐싱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(전체 65만)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9261" y="3251987"/>
            <a:ext cx="2965937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세 번째 카테고리(리뷰). 감정 축 사전을 실측으로 검증한 뒤 도메인을 만들었다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9791" y="3251987"/>
            <a:ext cx="205707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감정 축의 단조성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(−0.0022 / 0.019 / 0.0392)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1457" y="3251987"/>
            <a:ext cx="246101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개인 저자 단위 문체. 리뷰는 한 사람이 여러 개를 쓰지 않는다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59945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657980"/>
            <a:ext cx="140067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한국어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4488" y="3657980"/>
            <a:ext cx="135018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스팟 체크 20건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+ 72케이스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29261" y="3657980"/>
            <a:ext cx="2965937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언어 이식성 검증 및 데모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9791" y="3657980"/>
            <a:ext cx="205707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파이프라인 완주 · 스팟 체크 · 백엔드 일치율 97%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1457" y="3657980"/>
            <a:ext cx="246101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정량 복원율. 사람 주석 답안지가 없어 오라클을 세울 수 없다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00545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4063974"/>
            <a:ext cx="1400672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specificity 라벨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4488" y="4063974"/>
            <a:ext cx="1350180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5,379건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(normal 4,670 / high 709)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9261" y="4063974"/>
            <a:ext cx="2965937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하이브리드 판정 계층의 진짜 정확도 측정. 프록시가 아니다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9791" y="4063974"/>
            <a:ext cx="2057074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5가지 판정 방법의 균형정확도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1457" y="4063974"/>
            <a:ext cx="2461013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548606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200" b="1">
                <a:solidFill>
                  <a:srgbClr val="B0121A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81D"/>
                </a:solidFill>
                <a:latin typeface="맑은 고딕"/>
              </a:rPr>
              <a:t>수행 방안 및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3-1 측정 우선 방법론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3-2~3-6 확보된 결과 5건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3-7 한계와 음성 결과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3-8 단계별 수행 계획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3-9 추진 일정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3-10 마일스톤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3-1. 방법론 — 측정 우선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축을 채택하기 전에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판별력을 먼저 측정한다.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 11개 절대 규칙으로 문서화해 팀 전체가 공유한다.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4808931" cy="2561844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2561844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4498035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절대 규칙 (전문)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01574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1942592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1. 엔진 코드에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도메인 특정 단어가 등장해서는 안 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21335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2140204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2. API 호출 결과는 반드시 캐싱한다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41096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2337816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3. 새 라이브러리를 추가하기 전에 먼저 묻는다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260858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2535428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4. API 키를 코드에 하드코딩하지 않는다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280619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2733040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5. 한 번에 파일 하나 또는 함수 하나 단위로 작업한다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00380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2930652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6. 평가 지표는 가능한 한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코드로 직접 잰다.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모델 판정은 최후 수단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320141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3128264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7.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최적화에 사용한 지표만으로 최종 성능을 보고하지 않는다.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독립 지표를 병기한다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339902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3325876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8. 한국어에서는 정량 복원율을 산출하지 않는다 — 답안지가 없다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359664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3523488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9. 생성된 코드는 검증 후에만 실행한다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" y="379425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2688" y="3721100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10. 신규 모듈은 기존 파이프라인과 분리한다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399186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688" y="3918712"/>
            <a:ext cx="4351731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11.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개별 케이스의 작은 차이를 결론으로 쓰지 않는다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13603" y="1645920"/>
            <a:ext cx="6011164" cy="8453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613603" y="1645920"/>
            <a:ext cx="32004" cy="8453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14771" y="1737360"/>
            <a:ext cx="57002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규칙 6·7이 생긴 경위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4771" y="1942592"/>
            <a:ext cx="570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비교군 D의 프롬프트는 검사 함수로 조립한 평가 함수에 대해 최적화되고, 그 결과를 다시 같은 검사 함수로 채점한다.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자기가 최적화한 함수로 자기를 채점하는 구조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이므로 순환 논증으로 지적당할 수 있다. 그래서 최적화에 전혀 쓰이지 않은 독립 지표를 추가하고,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점수가 낮아져도 그대로 보고한다.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0.996보다 0.85가 더 믿을 만한 결과다.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13603" y="2610104"/>
            <a:ext cx="6011164" cy="8453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613603" y="2610104"/>
            <a:ext cx="32004" cy="8453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814771" y="2701544"/>
            <a:ext cx="57002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규칙 11이 생긴 경위 — 가장 최근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4771" y="2906776"/>
            <a:ext cx="570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 한 명의 결과를 보고 "모델이 큰 길이 목표에 체계적으로 미달한다"는 결론을 냈다가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폐기했다.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요청 단어 수를 20~320으로 바꿔 전달 함수를 직접 재보니 모델은 요청값을 거의 정확히 따랐다(비율 </a:t>
            </a:r>
            <a:r>
              <a:rPr sz="800" b="0">
                <a:solidFill>
                  <a:srgbClr val="14181D"/>
                </a:solidFill>
                <a:latin typeface="Consolas"/>
              </a:rPr>
              <a:t>0.99~1.06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). 실제 원인은 실험 설계였다 — 학습과 홀드아웃 부분집합의 평균 길이가 체계적으로 달랐다(98.5 대 128.4단어).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거의 완벽한 준수를 미달로 읽은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13603" y="3574288"/>
            <a:ext cx="6011164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613603" y="3574288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14771" y="3665728"/>
            <a:ext cx="57002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측정 우선의 실제 효과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4771" y="3870960"/>
            <a:ext cx="5700268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감정 축을 만들 때 사전 없이 바로 구현하지 않고, 3,000건으로 별점 파생 라벨과의 단조성을 먼저 확인했다(−0.0022 / 0.019 / 0.0392). 임계값도 중앙값 사이 중점을 실측 분포에서 뽑았다.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이 절차를 밟은 축은 이후 문제를 일으키지 않았다.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3-2. 확보된 결과 ① 구조화 피드백 어블레이션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인과관계가 가장 깨끗한 결과.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점수 계산 함수는 완전히 동일하게 두고 피드백 텍스트만 바꿨다.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410047" cy="1044321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1044321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실험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67357"/>
            <a:ext cx="5099151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같은 호출 예산 </a:t>
            </a:r>
            <a:r>
              <a:rPr sz="950" b="0">
                <a:solidFill>
                  <a:srgbClr val="14181D"/>
                </a:solidFill>
                <a:latin typeface="Consolas"/>
              </a:rPr>
              <a:t>40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회 안에서 도달하는 검증 점수를 비교한다. 바꾼 변수는 단 하나 — GEPA에게 보이는 피드백 텍스트다.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23520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148332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rich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축별 위반 내역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46043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2373566"/>
            <a:ext cx="4952847" cy="22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terse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— 점수만 (Score: 0.44)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3654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rich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48256" y="2809113"/>
            <a:ext cx="3215487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048256" y="2809113"/>
            <a:ext cx="3151177" cy="19659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5183" y="283654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10172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terse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48256" y="3074289"/>
            <a:ext cx="3215487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048256" y="3074289"/>
            <a:ext cx="1414814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55183" y="310172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366897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rich 8회 시점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48256" y="3339465"/>
            <a:ext cx="3215487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048256" y="3339465"/>
            <a:ext cx="3086868" cy="19659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55183" y="3366897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63207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rich 시작점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48256" y="3604641"/>
            <a:ext cx="3215487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048256" y="3604641"/>
            <a:ext cx="1157575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55183" y="363207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24681"/>
            <a:ext cx="5410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같은 예산 40회에서 도달한 검증 점수. 0~1 척도.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4719" y="1645920"/>
            <a:ext cx="5410047" cy="774827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14719" y="1645920"/>
            <a:ext cx="32004" cy="774827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15887" y="1737360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결과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5887" y="1967357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rich 0.98 대 terse 0.44.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rich는 </a:t>
            </a:r>
            <a:r>
              <a:rPr sz="950" b="0">
                <a:solidFill>
                  <a:srgbClr val="14181D"/>
                </a:solidFill>
                <a:latin typeface="Consolas"/>
              </a:rPr>
              <a:t>8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회 만에 0.36에서 0.96으로 뛰고 그 언저리를 유지하는데, terse는 40회 내내 0.44 근처에서 벗어나지 못한다.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4719" y="2539619"/>
            <a:ext cx="5410047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14719" y="2539619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15887" y="2631059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이 수치는 최적화 목표 지표로 잰 값이다 (규칙 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5887" y="2836291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검증 점수 0.98은 GEPA가 최적화한 바로 그 평가 함수로 잰 값이다. 독립 지표(ROUGE-L)로 다시 재는 것이 잔여 과제 2번이고, 그 전까지 목표표(1-3)에는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부분 달성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으로 적는다.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4719" y="3351403"/>
            <a:ext cx="5410047" cy="774827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214719" y="3351403"/>
            <a:ext cx="32004" cy="774827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15887" y="3442843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왜 이 결과가 중요한가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5887" y="3672840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"우리는 축을 명시적으로 갖고 있어서 구조화된 피드백을 줄 수 있고, 범용 최적화 도구는 못 하는 부분"이라는 본 과제의 기여 주장에 대한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유일한 직접 증거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다. 다른 변수 없이 피드백 형식 하나만 바꿔서 나온 차이라 인과관계를 주장할 수 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4719" y="4245102"/>
            <a:ext cx="5410047" cy="774827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214719" y="4245102"/>
            <a:ext cx="32004" cy="774827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15887" y="4336542"/>
            <a:ext cx="5099151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이 실험을 한 번 다시 설계해야 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5887" y="4566539"/>
            <a:ext cx="5099151" cy="407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1차 시도에서는 시드를 추정 선호로 조립했는데, 그러면 시드가 이미 평가 함수에 최적화돼 검증 점수가 처음부터 1.0으로 포화된다.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두 조건 모두 개선할 여지가 없어 무의미한 비교였다.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시드를 일부러 못 맞는 것으로 바꿔 재실행했다.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3-3. 확보된 결과 ② 개인화 효과 — 비교군 A · B ·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두 지표를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나란히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 보고한다. 절대값이 크게 낮아지는 것도 감추지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6011164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비교군별 결과 — 5개 문서 평균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6011164" cy="39776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256775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571" y="1906905"/>
            <a:ext cx="158411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checks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(최적화 목표와 동일 계열)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0273" y="1906905"/>
            <a:ext cx="136552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ROUGE-L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(독립)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49805"/>
            <a:ext cx="6011164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308326"/>
            <a:ext cx="256775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 — 프롬프트 없이 기본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1571" y="2308326"/>
            <a:ext cx="158411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0.600 ± 0.224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0273" y="2308326"/>
            <a:ext cx="13655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0.101 ± 0.055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18638"/>
            <a:ext cx="6011164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577160"/>
            <a:ext cx="256775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B — 사용자가 직접 쓴 지침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571" y="2577160"/>
            <a:ext cx="158411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0.668 ± 0.240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0273" y="2577160"/>
            <a:ext cx="13655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0.168 ± 0.060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7472"/>
            <a:ext cx="6011164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845993"/>
            <a:ext cx="256775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D — 본 도구 (8회 비교 → 자동 조립)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1571" y="2845993"/>
            <a:ext cx="158411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0.996 ± 0.010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0273" y="2845993"/>
            <a:ext cx="13655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0.207 ± 0.057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056305"/>
            <a:ext cx="6011164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32108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 ·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48256" y="3183407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048256" y="3183407"/>
            <a:ext cx="2289962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56300" y="3210839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47601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B · checks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48256" y="3448583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048256" y="3448583"/>
            <a:ext cx="2549491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56300" y="347601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.668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74119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 ·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48256" y="3713759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048256" y="3713759"/>
            <a:ext cx="3801337" cy="19659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56300" y="3741191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.996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06367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 · ROUGE-L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48256" y="3978935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2048256" y="3978935"/>
            <a:ext cx="1541908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56300" y="4006367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.101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27154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B · ROUGE-L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48256" y="4244111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2048256" y="4244111"/>
            <a:ext cx="2564757" cy="196596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56300" y="427154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.168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53671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 · ROUGE-L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48256" y="4509287"/>
            <a:ext cx="3816603" cy="19659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048256" y="4509287"/>
            <a:ext cx="3160148" cy="196596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956300" y="4536719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.207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829327"/>
            <a:ext cx="60111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checks는 0~1 척도, ROUGE-L은 0~0.25 척도로 그렸다. 두 지표의 절대값은 직접 비교할 수 없다.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948199"/>
            <a:ext cx="6011164" cy="8453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66928" y="4948199"/>
            <a:ext cx="32004" cy="8453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68096" y="5039639"/>
            <a:ext cx="5700268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B의 지침 원문 · D의 구성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" y="5244871"/>
            <a:ext cx="57002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"Summarize the following article in a clear and concise way that captures the key points."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5개 문서 동일, 페르소나를 모르는 상태로 작성.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D는 GEPA를 쓰지 않는다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8회 루프 → 시드 템플릿 조립 → 생성. 검사 함수와 사람 라벨의 일치율은 부록 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5836" y="1645920"/>
            <a:ext cx="4808931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815836" y="1645920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017004" y="1737360"/>
            <a:ext cx="4498035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독립 지표를 어떻게 세웠나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7004" y="1942592"/>
            <a:ext cx="4498035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최적화 루프에서 완전히 분리된 ROUGE-L을 쓴다 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알고리즘이 다르고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(검사 함수는 bigram Dice, 이쪽은 LCS 기반),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비교 대상도 다르다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(원문이 아니라 사람이 작성한 정답 요약).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5836" y="2457704"/>
            <a:ext cx="4808931" cy="8453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815836" y="2457704"/>
            <a:ext cx="32004" cy="8453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017004" y="2549144"/>
            <a:ext cx="4498035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주장의 강도를 정확히 적는다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17004" y="2754376"/>
            <a:ext cx="44980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ROUGE-L에서 D(0.207)와 B(0.168)의 차이 </a:t>
            </a:r>
            <a:r>
              <a:rPr sz="800" b="0">
                <a:solidFill>
                  <a:srgbClr val="14181D"/>
                </a:solidFill>
                <a:latin typeface="Consolas"/>
              </a:rPr>
              <a:t>0.039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표준편차보다 작다.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평균만으로 우위라 단정할 근거가 약하다. 문서 5개 각각에서 페어드로 비교하면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D가 5개 중 4개에서 B보다 높다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(나머지 1개는 −0.0012로 사실상 동률). 표본이 5개뿐이라 통계적 유의성은 주장하지 않는다.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15836" y="3421888"/>
            <a:ext cx="4808931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815836" y="3421888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017004" y="3513328"/>
            <a:ext cx="4498035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지표를 병기하면 절대값이 무너진다 — 그래도 병기한다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17004" y="3718560"/>
            <a:ext cx="4498035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 기준 </a:t>
            </a:r>
            <a:r>
              <a:rPr sz="800" b="0">
                <a:solidFill>
                  <a:srgbClr val="14181D"/>
                </a:solidFill>
                <a:latin typeface="Consolas"/>
              </a:rPr>
              <a:t>0.996 → 0.207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. B 대비 상대 차이도 checks 기준 +32.8%p에서 ROUGE-L 기준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+3.9%p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줄어든다.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이게 0.996만 내세우는 것보다 방어 가능한 주장이다.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3-4. 확보된 결과 ③ 복원율 — 그리고 오라클을 다시 만든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가장 큰 개선은 알고리즘이 아니라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평가 방식의 오류를 찾아 고친 것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에서 나왔다.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5032602" cy="9977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9977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페르소나 오라클 재설계 — 0~8% →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42592"/>
            <a:ext cx="4721706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처음에는 "그 속성 조합의 사람 요약 = 답안지"로 삼아 단어 겹침으로 페르소나의 선택을 대행했다. 그런데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원문을 그대로 발췌하는 후보가 고유명사를 가져와 정답 요약과 우연히 어휘가 더 겹쳐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엉뚱한 축으로 수렴했다 — 내용 겹침과 문체 겹침을 구분하지 못한 것이다.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정답 요약 텍스트 대신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검증해둔 검사 함수를 페르소나의 실제 축값에 대고 두 후보에 돌려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점수가 높은 쪽을 고르는 방식으로 바꿨다. 5문서 평균 완전복원율이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0~8%에서 80%로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올랐다.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62504"/>
            <a:ext cx="5032602" cy="8453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6928" y="2762504"/>
            <a:ext cx="32004" cy="8453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2853944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같은 시기에 발견한 언어 혼재 버그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059176"/>
            <a:ext cx="472170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과제 서술이 한국어라 출력 언어가 축 조합에 따라 들쭉날쭉했고, 영어 데이터 기준의 겹침·키워드·선택 대행이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전부 언어 불일치로 왜곡된 값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을 내고 있었다. 출력 언어를 명시 고정해 고쳤고, 같은 맥락에서 캐시 키도 축 조합이 아니라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조립된 프롬프트 텍스트 자체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바꿨다 — 안 그러면 문구를 고쳐도 캐시가 무효화되지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7274" y="1645920"/>
            <a:ext cx="5787492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복원율 — 두 실험은 서로 다른 것을 잰다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7274" y="1852041"/>
            <a:ext cx="5787492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19570" y="1906905"/>
            <a:ext cx="132362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실험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7782" y="1906905"/>
            <a:ext cx="23984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0815" y="1906905"/>
            <a:ext cx="7448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완전복원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0278" y="1906905"/>
            <a:ext cx="66219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 단위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37274" y="2112645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19570" y="2171166"/>
            <a:ext cx="132362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알고리즘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7782" y="2171166"/>
            <a:ext cx="239844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5문서 × 3알고리즘 × 5시드, 750행 커밋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0815" y="2171166"/>
            <a:ext cx="74487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0278" y="2171166"/>
            <a:ext cx="66219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2.0 /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37274" y="2381478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19570" y="2440000"/>
            <a:ext cx="132362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폐쇄 루프 회귀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7782" y="2440000"/>
            <a:ext cx="239844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3문서 × 페르소나 3종 = 9케이스, 8라운드 실제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0815" y="2440000"/>
            <a:ext cx="74487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5/9 (56%)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0278" y="2440000"/>
            <a:ext cx="66219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12/18 (67%)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7274" y="2787472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37274" y="2914573"/>
            <a:ext cx="5787492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837274" y="2914573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38442" y="3006013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두 수치가 다른 이유를 명시한다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8442" y="3211245"/>
            <a:ext cx="54765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축별로 갈린다.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  <a:r>
              <a:rPr sz="800" b="0">
                <a:solidFill>
                  <a:srgbClr val="14181D"/>
                </a:solidFill>
                <a:latin typeface="Consolas"/>
              </a:rPr>
              <a:t>length=short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선호는 문서 3개에서 3번 다 정확히 복원되는데, </a:t>
            </a:r>
            <a:r>
              <a:rPr sz="800" b="0">
                <a:solidFill>
                  <a:srgbClr val="14181D"/>
                </a:solidFill>
                <a:latin typeface="Consolas"/>
              </a:rPr>
              <a:t>length=long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선호는 3번 중 2번 </a:t>
            </a:r>
            <a:r>
              <a:rPr sz="800" b="0">
                <a:solidFill>
                  <a:srgbClr val="14181D"/>
                </a:solidFill>
                <a:latin typeface="Consolas"/>
              </a:rPr>
              <a:t>normal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수렴한다.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8라운드 안에서는 인접한 값을 가르기 어렵다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는 뜻이다. 그래서 회귀 테스트는 안정적으로 복원되는 케이스의 회귀와 어려운 케이스의 완주만 잡는다.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37274" y="3726357"/>
            <a:ext cx="5787492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837274" y="3726357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38442" y="3817797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이 수치를 정정한 경위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8442" y="4023029"/>
            <a:ext cx="54765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원래 문서에는 "정확히 복원하는 걸 확인했다"고 적어뒀는데, 근거 파일이 검증문 없는 출력 스크립트라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아무도 회귀를 못 보고 있었다.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테스트로 바꾸면서 9케이스를 실제로 돌려 재고 수치를 내렸다. 문서의 수치와 커밋된 결과가 어긋나면 실패하는 검사도 함께 붙였다.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3-5. 확보된 결과 ④ 확장성 — 도메인과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엔진 코드를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한 줄도 고치지 않고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 카테고리 5종을 붙였다. 정량 검증 1종, 부분 검증 3종, 동작 확인만 1종.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032602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과제 카테고리 5종 — 동작은 전부, 검증 수준은 다르다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032602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0023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카테고리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6204" y="1906905"/>
            <a:ext cx="107532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6120" y="1906905"/>
            <a:ext cx="24611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검증 수준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03260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10023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 요약 (영어)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6204" y="2171166"/>
            <a:ext cx="107532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길이 · 추출성 · 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6120" y="2171166"/>
            <a:ext cx="24611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정량 — 복원율 80%, ROUGE-L, 비교군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100238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 요약 (한국어)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6204" y="2440000"/>
            <a:ext cx="107532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동일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6120" y="2440000"/>
            <a:ext cx="246111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스팟 체크 20건 + 백엔드 일치율 97%. 정량 복원율 없음(답안지 없음)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7472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845993"/>
            <a:ext cx="10023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6204" y="2845993"/>
            <a:ext cx="107532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2값 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6120" y="2845993"/>
            <a:ext cx="24611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일관된 가상 사용자 완전복원 8/8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056305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3114827"/>
            <a:ext cx="10023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고객 리뷰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6204" y="3114827"/>
            <a:ext cx="107532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길이 · 감정 · 주제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6120" y="3114827"/>
            <a:ext cx="24611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감정 축 3,000건 단조성 확인 + 실제 API 6회 루프 선호 복원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25139"/>
            <a:ext cx="503260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3383661"/>
            <a:ext cx="100238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이메일 초안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6204" y="3383661"/>
            <a:ext cx="107532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길이 · 격식 ·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56120" y="3383661"/>
            <a:ext cx="24611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확장성 테스트(동작)만. 실측 데이터 없음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593973"/>
            <a:ext cx="503260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66928" y="3721074"/>
            <a:ext cx="5032602" cy="8453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66928" y="3721074"/>
            <a:ext cx="32004" cy="8453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8096" y="3812514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확장성 주장의 구멍도 메웠다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017746"/>
            <a:ext cx="472170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전에는 엔진은 안 고쳐도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데모 생성기를 손으로 써야 한다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는 구멍이 남아 있었다. 공용 데모 생성기가 여러 도메인이 공유하는 축을 실제로 구현하면서, 리뷰·이메일은 정의와 검사 함수만으로 다섯 번째 카테고리까지 동작한다. 다섯 카테고리 전부의 8회 완주를 검사하는 테스트가 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37274" y="1645920"/>
            <a:ext cx="5787492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37274" y="1645920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38442" y="1737360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한국어에서 실제로 고쳐야 했던 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8442" y="1942592"/>
            <a:ext cx="54765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한국어는 조사가 붙어 "정부는/정부가/정부의"가 전부 다른 토큰이 된다. 표면형 비교는 겹침을 과소평가하므로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형태소 분석기로 어간만 추출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해 비교한다. 스팟 체크에서 발췌형 조합은 겹침 </a:t>
            </a:r>
            <a:r>
              <a:rPr sz="800" b="0">
                <a:solidFill>
                  <a:srgbClr val="14181D"/>
                </a:solidFill>
                <a:latin typeface="Consolas"/>
              </a:rPr>
              <a:t>94%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, 서술형 조합은 </a:t>
            </a:r>
            <a:r>
              <a:rPr sz="800" b="0">
                <a:solidFill>
                  <a:srgbClr val="14181D"/>
                </a:solidFill>
                <a:latin typeface="Consolas"/>
              </a:rPr>
              <a:t>40%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명확히 갈렸다.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37274" y="2457704"/>
            <a:ext cx="5787492" cy="9977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37274" y="2457704"/>
            <a:ext cx="32004" cy="9977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038442" y="2549144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배포 제약 때문에 두 번째 백엔드가 필요했다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8442" y="2754376"/>
            <a:ext cx="5476596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형태소 분석기 모델이 </a:t>
            </a:r>
            <a:r>
              <a:rPr sz="800" b="0">
                <a:solidFill>
                  <a:srgbClr val="14181D"/>
                </a:solidFill>
                <a:latin typeface="Consolas"/>
              </a:rPr>
              <a:t>88MB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라 무료 티어에서 빌드 실패나 메모리 초과 위험이 있었다 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제출 링크가 죽으면 실격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이라 감수할 수 없는 위험으로 판단했다. 지연 로드로 바꾸고 사전이 필요 없는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문자 4-gram 겹침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대체 경로를 뒀다.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처음엔 어절 끝 조사를 규칙으로 떼려 했으나 실패했다 — "전문가"의 "가"를 주격 조사로 오인해 중간 대역 겹침이 </a:t>
            </a:r>
            <a:r>
              <a:rPr sz="800" b="0">
                <a:solidFill>
                  <a:srgbClr val="14181D"/>
                </a:solidFill>
                <a:latin typeface="Consolas"/>
              </a:rPr>
              <a:t>0.59 → 0.47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내려가 임계값을 잘못 넘었다.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37274" y="3574288"/>
            <a:ext cx="5787492" cy="8453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37274" y="3574288"/>
            <a:ext cx="32004" cy="8453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038442" y="3665727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n을 실측으로 골랐다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8442" y="3870959"/>
            <a:ext cx="54765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원문 3종 × 발췌 문장 수 4단계 × 어절 누락률 6단계 = </a:t>
            </a:r>
            <a:r>
              <a:rPr sz="800" b="0">
                <a:solidFill>
                  <a:srgbClr val="14181D"/>
                </a:solidFill>
                <a:latin typeface="Consolas"/>
              </a:rPr>
              <a:t>72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케이스의 임계값 판정 일치율: n=2 </a:t>
            </a:r>
            <a:r>
              <a:rPr sz="800" b="0">
                <a:solidFill>
                  <a:srgbClr val="14181D"/>
                </a:solidFill>
                <a:latin typeface="Consolas"/>
              </a:rPr>
              <a:t>57%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· n=3 </a:t>
            </a:r>
            <a:r>
              <a:rPr sz="800" b="0">
                <a:solidFill>
                  <a:srgbClr val="14181D"/>
                </a:solidFill>
                <a:latin typeface="Consolas"/>
              </a:rPr>
              <a:t>67%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·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n=4 97%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· n=5 </a:t>
            </a:r>
            <a:r>
              <a:rPr sz="800" b="0">
                <a:solidFill>
                  <a:srgbClr val="14181D"/>
                </a:solidFill>
                <a:latin typeface="Consolas"/>
              </a:rPr>
              <a:t>82%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· n=6 </a:t>
            </a:r>
            <a:r>
              <a:rPr sz="800" b="0">
                <a:solidFill>
                  <a:srgbClr val="14181D"/>
                </a:solidFill>
                <a:latin typeface="Consolas"/>
              </a:rPr>
              <a:t>74%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. n=4는 r=0.977, 회귀 기울기 1.07 / 절편 −0.07로 거의 항등이라 보정 상수 없이 같은 임계값을 공유한다.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보고 수치는 전부 형태소 기준으로 유지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하고, 환경이 조용히 대체 경로로 내려앉지 않도록 검사를 붙였다.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3-6. 확보된 결과 ⑤ 전문가 경로 — 실제 저자 8명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29단어 앵커 하나가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1,000단어가 넘는 예시 나열보다 낫다.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621579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형식 거리 — 낮을수록 그 저자에 가깝다 / 학습 30개 · 홀드아웃 30개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6215799" cy="39776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00650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0316" y="1906905"/>
            <a:ext cx="60112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6031" y="1906905"/>
            <a:ext cx="55608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학습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단어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6703" y="1906905"/>
            <a:ext cx="64616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7459" y="1906905"/>
            <a:ext cx="64616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앵커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216" y="1906905"/>
            <a:ext cx="736248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예시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9056" y="1906905"/>
            <a:ext cx="87137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예시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+앵커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49805"/>
            <a:ext cx="621579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308326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academia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0316" y="2308326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75368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6031" y="2308326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6703" y="2308326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7459" y="2308326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0.079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216" y="2308326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056" y="2308326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518638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2577160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academia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0316" y="2577160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40589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86031" y="2577160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6703" y="2577160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7459" y="2577160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216" y="2577160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9056" y="2577160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787472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2845993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cooking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0316" y="2845993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4638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86031" y="2845993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6703" y="2845993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7459" y="2845993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8216" y="2845993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9056" y="2845993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0.053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056305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9224" y="3114827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cooking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0316" y="3114827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6031" y="3114827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6703" y="3114827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7459" y="3114827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8216" y="3114827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29056" y="3114827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0.136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3325139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9224" y="3383661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diy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0316" y="3383661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47125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86031" y="3383661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6703" y="3383661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7459" y="3383661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8216" y="3383661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0.192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29056" y="3383661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0.046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593973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9224" y="3652494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diy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0316" y="3652494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18078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86031" y="3652494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158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06703" y="3652494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7459" y="3652494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0.276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28216" y="3652494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29056" y="3652494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0.342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862806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9224" y="3921328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writing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0316" y="3921328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26047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86031" y="3921328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06703" y="3921328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0.413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7459" y="3921328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0.179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28216" y="3921328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0.372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29056" y="3921328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0.222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131640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49224" y="4190161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writing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0316" y="4190161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553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86031" y="4190161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06703" y="4190161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7459" y="4190161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0.019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28216" y="4190161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0.057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29056" y="4190161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0.096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4400473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49224" y="4458995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평균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0316" y="4458995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86031" y="4458995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06703" y="4458995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0.308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7459" y="4458995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0.146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28216" y="4458995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29056" y="4458995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0.149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4669307"/>
            <a:ext cx="621579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649224" y="4727829"/>
            <a:ext cx="10065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프롬프트 길이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20316" y="4727829"/>
            <a:ext cx="60112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86031" y="4727829"/>
            <a:ext cx="55608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06703" y="4727829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16단어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7459" y="4727829"/>
            <a:ext cx="64616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29단어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28216" y="4727829"/>
            <a:ext cx="7362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983~1784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29056" y="4727829"/>
            <a:ext cx="87137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996~1784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" y="4938141"/>
            <a:ext cx="621579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7020471" y="1645920"/>
            <a:ext cx="220156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7020471" y="1755648"/>
            <a:ext cx="2201563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8/8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20471" y="2104643"/>
            <a:ext cx="2201563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앵커가 base보다 개선된 저자 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부호검정 p = 0.0078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23203" y="1645920"/>
            <a:ext cx="2201563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423203" y="1755648"/>
            <a:ext cx="2201563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0.727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23203" y="2104643"/>
            <a:ext cx="2201563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앵커 단독 대 예시+앵커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페어드 p값 — 차이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20471" y="2442972"/>
            <a:ext cx="4604295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020471" y="2442972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221639" y="2534412"/>
            <a:ext cx="4293399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결론 — 앵커만 넣는다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21639" y="2739644"/>
            <a:ext cx="4293399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예시 나열(0.222)은 앵커(0.146)를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한 번도 이기지 못했고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, 둘을 합쳐도(0.149) 앵커 단독과 통계적으로 구분되지 않는다. 프롬프트는 </a:t>
            </a:r>
            <a:r>
              <a:rPr sz="800" b="0">
                <a:solidFill>
                  <a:srgbClr val="14181D"/>
                </a:solidFill>
                <a:latin typeface="Consolas"/>
              </a:rPr>
              <a:t>1,300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단어에서 </a:t>
            </a:r>
            <a:r>
              <a:rPr sz="800" b="0">
                <a:solidFill>
                  <a:srgbClr val="14181D"/>
                </a:solidFill>
                <a:latin typeface="Consolas"/>
              </a:rPr>
              <a:t>29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단어로 줄고, 사용자 자료를 모델에 보낼 필요도 사라진다.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20471" y="3254756"/>
            <a:ext cx="4604295" cy="6929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7020471" y="3254756"/>
            <a:ext cx="32004" cy="6929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221639" y="3346196"/>
            <a:ext cx="4293399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학습 자료는 30개가 필요하다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1639" y="3551428"/>
            <a:ext cx="4293399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12개로 만든 앵커는 한 저자에서 목표를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465단어로 추정했고 실제는 331단어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였다. 30개로 늘리자 그 저자가 </a:t>
            </a:r>
            <a:r>
              <a:rPr sz="800" b="0">
                <a:solidFill>
                  <a:srgbClr val="14181D"/>
                </a:solidFill>
                <a:latin typeface="Consolas"/>
              </a:rPr>
              <a:t>−0.122 → +0.187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뒤집혔다. 화면에서 자료가 부족하면 그 사실을 사용자에게 알린다.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20471" y="4066540"/>
            <a:ext cx="4604295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7020471" y="4066540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221639" y="4157980"/>
            <a:ext cx="4293399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독립 지표도 병기한다 (규칙 7)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21639" y="4363212"/>
            <a:ext cx="4293399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ROUGE-L은 </a:t>
            </a:r>
            <a:r>
              <a:rPr sz="800" b="0">
                <a:solidFill>
                  <a:srgbClr val="14181D"/>
                </a:solidFill>
                <a:latin typeface="Consolas"/>
              </a:rPr>
              <a:t>0.135 → 0.145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거의 움직이지 않는다.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이 방법이 주장하는 것은 형식 복제이고 내용 근접이 아니다.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그대로 적는다.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3-7. 한계와 음성 결과 — 성과와 같은 비중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실패한 시도에서 얻은 것을 적는다.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다섯 가지 방법이 전부 실패한 것 자체가 결과다.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측정 불가 축(SPECIFICITY) — 5가지 방법 전부 실패 / 균형정확도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0439" y="1906905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요약문만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0860" y="1906905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원문도 제공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정규식 휴리스틱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0439" y="2171166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normal 0.217 / high 0.228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860" y="2171166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개체명 인식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0439" y="2440000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실질 차이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0860" y="2440000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50312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708833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학습형 분류기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0439" y="2708833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0.500 (우연)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0860" y="2708833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19145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2977667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소형 모델 판정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0439" y="2977667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0860" y="2977667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187979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3246501"/>
            <a:ext cx="156662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대형 모델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0439" y="3246501"/>
            <a:ext cx="22158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0.464 (우연보다 낮음)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0860" y="3246501"/>
            <a:ext cx="11338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456813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66928" y="3583914"/>
            <a:ext cx="5410047" cy="11501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66928" y="3583914"/>
            <a:ext cx="32004" cy="11501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8096" y="3675354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이 실패에서 나온 독자적인 결론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3880586"/>
            <a:ext cx="5099151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확신도 임계값 </a:t>
            </a:r>
            <a:r>
              <a:rPr sz="800" b="0">
                <a:solidFill>
                  <a:srgbClr val="14181D"/>
                </a:solidFill>
                <a:latin typeface="Consolas"/>
              </a:rPr>
              <a:t>0.85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에서 최고점(0.558)을 찍고, 임계값을 1.0으로 올려 전부 대형 모델에 올리면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정확도는 0.514로 떨어지면서 비용은 5배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가 된다.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판별력이 이미 확인된 길이 축으로 대조 실험을 돌려 확인했다 — 분류기 </a:t>
            </a:r>
            <a:r>
              <a:rPr sz="800" b="0">
                <a:solidFill>
                  <a:srgbClr val="14181D"/>
                </a:solidFill>
                <a:latin typeface="Consolas"/>
              </a:rPr>
              <a:t>0.736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, 소형 </a:t>
            </a:r>
            <a:r>
              <a:rPr sz="800" b="0">
                <a:solidFill>
                  <a:srgbClr val="14181D"/>
                </a:solidFill>
                <a:latin typeface="Consolas"/>
              </a:rPr>
              <a:t>0.428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, 대형 </a:t>
            </a:r>
            <a:r>
              <a:rPr sz="800" b="0">
                <a:solidFill>
                  <a:srgbClr val="14181D"/>
                </a:solidFill>
                <a:latin typeface="Consolas"/>
              </a:rPr>
              <a:t>0.272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로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모델에 맡길수록 단조롭게 나빠진다.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원인도 찾았다: 데이터셋이 "짧다"고 라벨링한 2문장짜리를 대형 모델은 확신도 1.000으로 "길다"고 판정한다 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기준점 없이 물으면 모델이 데이터셋 고유의 라벨링 관례 대신 자기 내부 기준을 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4719" y="1645920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온보딩 에이전트 — 사람 축과의 상관 (임계값 |R| ≥ 0.7)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4719" y="1852041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97015" y="1906905"/>
            <a:ext cx="14489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사람 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0538" y="1906905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concise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9669" y="1906905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formal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8800" y="1906905"/>
            <a:ext cx="8319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complex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05388" y="1906905"/>
            <a:ext cx="73708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entity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4719" y="211264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97015" y="2171166"/>
            <a:ext cx="14489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길이 (문장 수)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0538" y="2171166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9669" y="2171166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−0.453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8800" y="2171166"/>
            <a:ext cx="8319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0.062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05388" y="2171166"/>
            <a:ext cx="73708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−0.088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4719" y="2381478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7015" y="2440000"/>
            <a:ext cx="144893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추출성 (겹침)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10538" y="2440000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0.012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9669" y="2440000"/>
            <a:ext cx="7845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0.113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08800" y="2440000"/>
            <a:ext cx="8319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−0.112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5388" y="2440000"/>
            <a:ext cx="73708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4719" y="2650312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214719" y="2777413"/>
            <a:ext cx="5410047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214719" y="2777413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15887" y="2868853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"다른 이름의 같은 축"이 아니라 정말 다른 축이다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5887" y="3074085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8개 조합 전부 임계값에 크게 못 미친다(최댓값 0.453). 길이와 가장 가까운 것도 직관적으로 예상했던 conciseness가 아니라 formality였고 그마저 약한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음의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상관이다.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이름이 다른 것이 아니라 다른 것을 찾은 것으로 정량 확인됐다.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4719" y="3589197"/>
            <a:ext cx="5410047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214719" y="3589197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415887" y="3680637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그래도 핵심 루프는 작동한다 — 이쪽이 독자적 성과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5887" y="3885869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6개 문서로 축 4개를 제안했고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전부 판별력 기준을 통과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했다. 판별 불가능한 축을 제안하지도, 채택하지도 않았다. 라벨 없이도 실제로 판별력 있는 새 축을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안전하게 찾아내고 나쁜 축은 스스로 걸러낸다.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4719" y="4400981"/>
            <a:ext cx="5410047" cy="1178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214719" y="4400981"/>
            <a:ext cx="32004" cy="117856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415887" y="4492421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기타 음성 결과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4175" y="4770805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0479" y="4697653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유보 표현 · 숫자 · 1인칭 밀도 — 실제 사람 16명 사이에서도 신호 없음.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지표 자체를 기각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34175" y="4968417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580479" y="4895265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비율을 규칙으로 적기 — 모델이 스스로 적용하지 못한다. 길이 오차 3단어 → 27~57단어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34175" y="5166029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580479" y="5092877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경로에 GEPA — 손조립(0.121)에 지고(0.191) 저자당 60회 호출을 쓴다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34175" y="5363641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580479" y="5290489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실패 예측(게이팅) — 모델 기본값과의 격차 r=−0.031.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예측 불가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3-8. 단계별 수행 계획 — 남은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남은 항목은 전부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확보된 결과의 방어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에 걸린 것이다. 새 기능보다 먼저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잔여 과제 — 우선순위 / 완료 판정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순위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9829" y="1906905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667" y="1906905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왜 필요한가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008" y="1906905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완료 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9019" y="1906905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공수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9829" y="2171166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응답 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5667" y="2171166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모든 정량 결과가 페르소나 기반이고 '실제 사람도 좋아했다'는 근거가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008" y="2171166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api 모드 응답 3건 이상 확보 후 모드별 분리 보고. demo·expert와 합치지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9019" y="2171166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440000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9829" y="2440000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시드 중립 GEPA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5667" y="2440000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현재 최적화 버튼은 시드가 이미 평가 함수를 통과해 대부분 아무것도 바꾸지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008" y="2440000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중립 시드 결과를 최적화에 쓰지 않은 지표로 채점해 base 대비 개선 확인. 어블레이션의 0.98은 순환이라 근거로 쓰지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9019" y="2440000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1.5주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65031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708833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9829" y="2708833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자료가 적은 사용자용 경로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5667" y="2708833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학습 12개 구간에서는 예시 방식이 0.121로 앵커(0.158)보다 낫다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1008" y="2708833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자료 개수에 따라 경로를 자동 선택하고 두 구간의 형식 거리를 각각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9019" y="2708833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91914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2977667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9829" y="2977667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배포 버전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5667" y="2977667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현재 감시는 화면이 그려지는지만 본다. 구버전이 떠 있어도 통과한다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1008" y="2977667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감시 스크립트가 배포된 버전 문자열을 확인하고 불일치 시 실패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9019" y="2977667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8797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246501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9829" y="3246501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보정된 확신도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5667" y="3246501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현재 확신도는 보여줄 만큼 보정되지 않아 화면에서 철회한 상태다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1008" y="3246501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사후분포 또는 홀드아웃 일관성 검사로, 완전복원한 사용자에게 높은 값이 나오는지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9019" y="3246501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568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515334"/>
            <a:ext cx="37601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9829" y="3515334"/>
            <a:ext cx="18012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정리 및 발표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5667" y="3515334"/>
            <a:ext cx="298074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성공과 한계를 같은 비중으로 놓는 구성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1008" y="3515334"/>
            <a:ext cx="45534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발표 자료 + 최종 보고서 + 저장소 문서 갱신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9019" y="3515334"/>
            <a:ext cx="52345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1.5주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25646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66928" y="3852748"/>
            <a:ext cx="5410047" cy="980948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66928" y="3852748"/>
            <a:ext cx="32004" cy="98094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68096" y="3944188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범위 밖으로 남기는 것 — 명시한다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" y="422257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" y="4149420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에이전트 정교화(축 값 개수 자동 결정, 중복 제거, 반복 자기개선) — 3~4주 분량, 시간 제약상 제외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" y="442018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32688" y="4347032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최적화기 교체 검증 (GEPA → MIPROv2)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" y="461779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32688" y="4544644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한국어 전문가 경로 — 문자 단위 계측 기준을 다시 세워야 한다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4719" y="3852748"/>
            <a:ext cx="5410047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214719" y="3852748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415887" y="3944188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우선순위 원칙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5887" y="4149420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새 기능보다 기존 결과의 방어가 먼저다.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1·2번이 끝나기 전에는 3~5번에 착수하지 않는다. 확보한 결과가 순환 논증으로 무너지면 나머지가 전부 의미를 잃는다.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3-9. 추진 일정 — 15주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8주차에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중간 점검으로 범위 축소선을 판단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하고, UI는 반드시 마지막에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9781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7994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6207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4421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2634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847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60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274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487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3700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1914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0127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8340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76553" y="1645920"/>
            <a:ext cx="5482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W15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924812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환경 구성 · 데이터 로드 · 튜토리얼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8027" y="1933956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966240" y="1933956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14453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62667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610880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59093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707306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255520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803733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351946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00160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448373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996586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544799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1093013" y="193395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66928" y="2112264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6928" y="219456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도메인 정의 · 생성기 · 캐싱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18027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966240" y="2203704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514453" y="2203704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062667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610880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159093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707306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255520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803733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351946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900160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448373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996586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544799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1093013" y="220370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566928" y="238201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66928" y="2464308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★ 쌍 선택 · 선호 추정 (3종)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18027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966240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514453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5062667" y="2473452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610880" y="2473452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159093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707306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255520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803733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8351946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900160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9448373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996586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0544799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1093013" y="2473452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566928" y="265176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66928" y="2734056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★ 평가 함수 조립 · 검사 함수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18027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966240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4514453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5062667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610880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159093" y="2743200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707306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255520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803733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8351946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900160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9448373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9996586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0544799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1093013" y="2743200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566928" y="292150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66928" y="3003803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GEPA 연동 · 엔드투엔드 관통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18027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3966240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4514453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5062667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5610880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6159093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6707306" y="3012948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255520" y="3012948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7803733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351946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8900160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448373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996586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544799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1093013" y="301294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66928" y="319125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566928" y="3273551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주 실험 · 수렴 곡선 · 비교군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18027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3966240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4514453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062667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610880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6159093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6707306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7255520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7803733" y="3282696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8351946" y="3282696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8900160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9448373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9996586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10544799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1093013" y="328269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566928" y="346100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66928" y="3543299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독립 채점자 · 한국어 이식 · UI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418027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3966240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4514453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5062667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610880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6159093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6707306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7255520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7803733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8351946" y="3552444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8900160" y="3552444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9448373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9996586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10544799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11093013" y="3552444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566928" y="373075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66928" y="3813048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하이브리드 판정 · 온보딩 에이전트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18027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3966240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4514453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5062667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5610880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6159093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6707306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7255520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7803733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8351946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8900160" y="3822191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9448373" y="3822191"/>
            <a:ext cx="515294" cy="132588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9996586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10544799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11093013" y="3822191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566928" y="400050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66928" y="4082796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맑은 고딕"/>
              </a:rPr>
              <a:t>전문가 경로 · 배포 운영 · UI 개편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418027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3966240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4514453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5062667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5610880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6159093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6707306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7255520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7803733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8351946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8900160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9448373" y="4091939"/>
            <a:ext cx="515294" cy="132588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9996586" y="4091939"/>
            <a:ext cx="515294" cy="132588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0544799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11093013" y="4091939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566928" y="427024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66928" y="4352544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맑은 고딕"/>
              </a:rPr>
              <a:t>실사용자 집계 · 시드 중립 검증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418027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3966240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4514453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5062667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5610880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6159093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6707306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7255520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7803733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8351946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8900160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9448373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9996586" y="4361688"/>
            <a:ext cx="515294" cy="132588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10544799" y="4361688"/>
            <a:ext cx="515294" cy="132588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11093013" y="4361688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566928" y="453999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566928" y="4622292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맑은 고딕"/>
              </a:rPr>
              <a:t>결과 정리 · 발표 준비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418027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3966240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4514453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5062667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5610880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6159093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6707306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7255520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7803733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8351946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8900160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9448373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9996586" y="4631436"/>
            <a:ext cx="515294" cy="1325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544799" y="4631436"/>
            <a:ext cx="515294" cy="132588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093013" y="4631436"/>
            <a:ext cx="515294" cy="132588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566928" y="4809744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566928" y="4924044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■ </a:t>
            </a:r>
            <a:r>
              <a:rPr sz="800" b="0">
                <a:solidFill>
                  <a:srgbClr val="7D8794"/>
                </a:solidFill>
                <a:latin typeface="맑은 고딕"/>
              </a:rPr>
              <a:t>완료 (v1 · v2)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     </a:t>
            </a:r>
            <a:r>
              <a:rPr sz="800" b="0">
                <a:solidFill>
                  <a:srgbClr val="B0121A"/>
                </a:solidFill>
                <a:latin typeface="맑은 고딕"/>
              </a:rPr>
              <a:t>■ </a:t>
            </a:r>
            <a:r>
              <a:rPr sz="800" b="0">
                <a:solidFill>
                  <a:srgbClr val="7D8794"/>
                </a:solidFill>
                <a:latin typeface="맑은 고딕"/>
              </a:rPr>
              <a:t>진행 중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     </a:t>
            </a:r>
            <a:r>
              <a:rPr sz="800" b="0">
                <a:solidFill>
                  <a:srgbClr val="1E5E3C"/>
                </a:solidFill>
                <a:latin typeface="맑은 고딕"/>
              </a:rPr>
              <a:t>■ </a:t>
            </a:r>
            <a:r>
              <a:rPr sz="800" b="0">
                <a:solidFill>
                  <a:srgbClr val="7D8794"/>
                </a:solidFill>
                <a:latin typeface="맑은 고딕"/>
              </a:rPr>
              <a:t>계획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     </a:t>
            </a:r>
            <a:r>
              <a:rPr sz="800" b="0">
                <a:solidFill>
                  <a:srgbClr val="7D8794"/>
                </a:solidFill>
                <a:latin typeface="맑은 고딕"/>
              </a:rPr>
              <a:t>W8 — 중간 점검 및 범위 축소선 판단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     </a:t>
            </a:r>
            <a:r>
              <a:rPr sz="800" b="0">
                <a:solidFill>
                  <a:srgbClr val="7D8794"/>
                </a:solidFill>
                <a:latin typeface="맑은 고딕"/>
              </a:rPr>
              <a:t>★ 라이브러리로 대체 불가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66928" y="5262372"/>
            <a:ext cx="11057839" cy="363855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566928" y="5262372"/>
            <a:ext cx="32004" cy="363855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768096" y="5353812"/>
            <a:ext cx="10746943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UI는 반드시 마지막에 만든다.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먼저 만들면 시간을 전부 잡아먹는다. 실제로 화면 개편은 실험이 전부 끝난 뒤에 착수했고, 그 과정에서 발견한 결함 두 건은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코드를 읽어서가 아니라 화면을 실제로 그려봐서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잡혔다(마크다운 이중 이스케이프, 카드 높이 불일치).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3. 수행 방안 및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3-10. 마일스톤 및 범위 축소선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진척이 부족하면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축소선을 강제 적용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한다. 판단 시점을 미리 정해둔다.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787492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마일스톤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787492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6101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시점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3927" y="1906905"/>
            <a:ext cx="193166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184" y="1906905"/>
            <a:ext cx="27519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산출물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6101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W8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3927" y="2171166"/>
            <a:ext cx="193166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중간 점검 — 범위 축소선 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184" y="2171166"/>
            <a:ext cx="27519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엔드투엔드 1회 관통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6101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9/20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3927" y="2440000"/>
            <a:ext cx="193166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예선 제출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184" y="2440000"/>
            <a:ext cx="27519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링크 · 저장소 · 본 계획서. 실사용자 응답은 '수집 중'으로 기재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50312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708833"/>
            <a:ext cx="6101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10/7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3927" y="2708833"/>
            <a:ext cx="193166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본선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184" y="2708833"/>
            <a:ext cx="27519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응답 실제 수치 · 발표 자료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19145"/>
            <a:ext cx="5787492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2977667"/>
            <a:ext cx="6101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W15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3927" y="2977667"/>
            <a:ext cx="193166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최종 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184" y="2977667"/>
            <a:ext cx="275193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최종 보고서 · 저장소 문서 갱신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187979"/>
            <a:ext cx="5787492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3315081"/>
            <a:ext cx="5787492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3315081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8096" y="3406521"/>
            <a:ext cx="547659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일정상의 설계 의도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3611753"/>
            <a:ext cx="54765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응답 수집은 예선 시점에 표본이 없다. 그래서 예선에는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'수집 중'으로만 쓰고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본선 발표에 실제 수치를 넣는 것이 이 설계의 의도다. 없는 표본을 추정치로 채우지 않는다.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2164" y="1645920"/>
            <a:ext cx="5032602" cy="117856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92164" y="1645920"/>
            <a:ext cx="32004" cy="1178560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93332" y="1737360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최소 달성선 (반드시) — 전부 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1620" y="201574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957924" y="1942592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1종, 축 3개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1620" y="221335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57924" y="2140204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선택 루프 동작, 평가 함수 자동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1620" y="241096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957924" y="2337816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페르소나 기반 복원율 · 수렴 곡선 측정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1620" y="260858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957924" y="2535428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비교군 A · B 대비 결과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92164" y="2943352"/>
            <a:ext cx="5032602" cy="15737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92164" y="2943352"/>
            <a:ext cx="32004" cy="1573784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93332" y="3034792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여유 시 항목 — 달성 현황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11620" y="331317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957924" y="3240024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알고리즘 3종 비교 — 완료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1620" y="351078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957924" y="3437636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2번째 도메인 이식 — 완료 (5종)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11620" y="370840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957924" y="3635248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배포 — 완료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1620" y="390601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957924" y="3832860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검증 — 진행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11620" y="410362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957924" y="4030472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비교군 C (상용 프롬프트 생성 도구) — 미착수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1620" y="430123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957924" y="4228084"/>
            <a:ext cx="4575402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최적화기 교체 검증 — 범위 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2164" y="4636008"/>
            <a:ext cx="5032602" cy="6929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592164" y="4636008"/>
            <a:ext cx="32004" cy="6929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793332" y="4727448"/>
            <a:ext cx="4721706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축소 시 우선 버리는 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3332" y="4932679"/>
            <a:ext cx="472170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배포보다 실험 결과가 우선이다.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실험이 끝나지 않았으면 배포를 버린다. 다만 이미 배포가 안정화된 현 시점에서는 그 반대 위험이 더 크므로, 잔여 기간에는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배포 링크의 가용성을 실험 재실행보다 우선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한다 — 링크가 죽으면 심사 자체가 성립하지 않는다.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4. 추진 조직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200" b="1">
                <a:solidFill>
                  <a:srgbClr val="B0121A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81D"/>
                </a:solidFill>
                <a:latin typeface="맑은 고딕"/>
              </a:rPr>
              <a:t>추진 조직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4-1 조직 및 역할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4-2 공수 산정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4-3 협업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4. 추진 조직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4-1. 조직 및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3인 · 타 프로젝트 병행 · 1인당 주 10시간.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실제 개발 가능 기간을 6~8주로 간주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하고 범위를 잡았다.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3527450" cy="9977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32004" cy="9977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321655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엔진 / 알고리즘</a:t>
            </a:r>
            <a:r>
              <a:rPr sz="800" b="1">
                <a:solidFill>
                  <a:srgbClr val="B0121A"/>
                </a:solidFill>
                <a:latin typeface="Consolas"/>
              </a:rPr>
              <a:t>     PL 겸임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42592"/>
            <a:ext cx="3216554" cy="655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담당: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쌍 선택 · 선호 추정 · 평가 함수 조립 · GEPA 연동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엔진 5개 모듈, 핵심 3모듈의 회귀 테스트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판단 권한: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도메인 무지 규칙 위반 여부의 최종 판정. 엔진에 도메인 단어가 들어가는 변경은 이 역할이 거부할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2122" y="1645920"/>
            <a:ext cx="3527450" cy="845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33290" y="1737360"/>
            <a:ext cx="321655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실험 /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290" y="1942592"/>
            <a:ext cx="32165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담당: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페르소나 오라클 · 독립 채점자 · 판별력 진단 · 통계 처리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결과 파일 39건, 수렴 곡선, 부호검정 p값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판단 권한: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축 채택 여부. 판별력 측정을 통과하지 않은 축은 이 역할이 기각한다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1645920"/>
            <a:ext cx="3527450" cy="8453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98484" y="1737360"/>
            <a:ext cx="321655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도메인 / 화면 / 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1942592"/>
            <a:ext cx="32165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담당: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도메인 정의·검사 함수 5종, 화면 3단계, 배포 감시, 지출 상한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카테고리 5종, 순수 서비스 계층, 감시 워크플로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판단 권한: 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배포 위험 판정. 링크 가용성을 해칠 변경은 보류시킬 수 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62504"/>
            <a:ext cx="5410047" cy="1178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2762504"/>
            <a:ext cx="32004" cy="117856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2853944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4-3. 협업 규칙 — 실패에서 나온 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313232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3059176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한 번에 파일 하나 또는 함수 하나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단위로 작업한다. 전체를 한꺼번에 생성하지 않는다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332994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3256788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새 라이브러리 추가는 제안 → 합의를 거친다. 배포 환경의 메모리 한도가 걸린 사안이다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352755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3454400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문서의 수치와 커밋된 결과가 어긋나면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검사가 실패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한다. 사람 검토에 의존하지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372516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3652012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검증문 없는 출력 스크립트를 결과의 근거로 쓰지 않는다 — 아무도 회귀를 못 본다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4719" y="2762504"/>
            <a:ext cx="5410047" cy="6929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9" y="2762504"/>
            <a:ext cx="32004" cy="6929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15887" y="2853944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병행 제약이 실제로 만든 결정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3059176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주 10시간 제약 때문에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먼저 만들지 않은 것들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이 있다. 서버형 DB를 쓰지 않고, 프런트엔드를 분리하지 않고, UI를 마지막으로 미룬 것은 모두 이 제약에서 나온 결정이다.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범위를 줄인 대신 남긴 것에 측정을 붙였다.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4. 추진 조직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4-2. 공수 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가용 공수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450시간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. 실험·검증에 가장 많이 배분한다 — 완성도의 기준이 측정된 결과이기 때문이다.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6658520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영역별 공수 배분 — 3인 × 15주 × 10시간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6658520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250" y="1906905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투입(h)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3947" y="1906905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비중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956" y="1906905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645"/>
            <a:ext cx="6658520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" y="2171166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★ 엔진 핵심 3모듈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4250" y="2171166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3947" y="2171166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17.8%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8956" y="2171166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라이브러리로 대체 불가. 회귀 테스트 포함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81478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2440000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실험 설계 · 실행 · 집계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4250" y="2440000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947" y="2440000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24.4%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8956" y="2440000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파일 39건. 폐기된 시도 3건 재실행 포함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650312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2708833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· 검사 함수 5종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4250" y="2708833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3947" y="2708833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13.3%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8956" y="2708833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 채택 전 판별력 측정 시간 포함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19145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2977667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경로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4250" y="2977667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3947" y="2977667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12.2%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8956" y="2977667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 16명 코퍼스 + 8차에 걸친 방법 수정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187979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" y="3246501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에이전트 · 하이브리드 판정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4250" y="3246501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3947" y="3246501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11.1%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8956" y="3246501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샌드박스 방어 2계층. 부수 목표는 기각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456813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515334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화면 · 배포 · 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4250" y="3515334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3947" y="3515334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12.2%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8956" y="3515334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지출 상한 이중화, 배포 감시, 화면 개편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725646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9224" y="3784168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 · 발표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4250" y="3784168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53947" y="3784168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8956" y="3784168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프로젝트 문서 1,765행 + 저장소 안내 552행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3994480"/>
            <a:ext cx="6658520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9224" y="4053001"/>
            <a:ext cx="198043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합계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94250" y="4053001"/>
            <a:ext cx="59510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450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3947" y="4053001"/>
            <a:ext cx="55041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8956" y="4053001"/>
            <a:ext cx="287419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263313"/>
            <a:ext cx="6658520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463192" y="1645920"/>
            <a:ext cx="4161575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463192" y="1755648"/>
            <a:ext cx="4161575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24.4%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63192" y="2104643"/>
            <a:ext cx="4161575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실험에 들어간 비중.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단일 영역 최대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63192" y="2525268"/>
            <a:ext cx="4161575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463192" y="2634996"/>
            <a:ext cx="4161575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3건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63192" y="2983992"/>
            <a:ext cx="4161575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폐기한 중간 결론.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재실행 공수를 산정에 포함했다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63192" y="3322320"/>
            <a:ext cx="4161575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7463192" y="3322320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664360" y="3413760"/>
            <a:ext cx="3850679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산정에서 실제로 틀린 부분 — 기재한다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4360" y="3618992"/>
            <a:ext cx="3850679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경로는 원래 계획에 없던 항목으로,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8차에 걸쳐 방법을 고치면서 55시간을 썼다.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그중 상당 부분이 잘못된 중간 결론을 검증하고 되돌리는 데 들어갔다. 탐색적 실험의 공수는 사전 산정이 어렵다는 것을 기록해둔다.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63192" y="4134104"/>
            <a:ext cx="4161575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463192" y="4134104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664360" y="4225544"/>
            <a:ext cx="3850679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절감 요인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4360" y="4430776"/>
            <a:ext cx="3850679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캐싱 규칙(규칙 2) 덕분에 실험을 수백 회 재실행하면서도 API 비용이 폭발하지 않았다. 같은 조립 프롬프트는 두 번 호출되지 않는다.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5. 프로젝트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200" b="1">
                <a:solidFill>
                  <a:srgbClr val="B0121A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81D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5-1 위험 관리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5-2 품질 관리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5-3 산출물 목록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     </a:t>
            </a:r>
            <a:r>
              <a:rPr sz="1100" b="1">
                <a:solidFill>
                  <a:srgbClr val="B0121A"/>
                </a:solidFill>
                <a:latin typeface="맑은 고딕"/>
              </a:rPr>
              <a:t>— </a:t>
            </a:r>
            <a:r>
              <a:rPr sz="1100" b="0">
                <a:solidFill>
                  <a:srgbClr val="4A5460"/>
                </a:solidFill>
                <a:latin typeface="맑은 고딕"/>
              </a:rPr>
              <a:t>5-4 데이터 출처 및 개인정보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5. 프로젝트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5-1. 위험 관리 — 실제로 일어난 사고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예상되는 위험을 나열하지 않는다.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이미 발생한 사고와 그때 넣은 대응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을 적는다.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위험 관리 — 발생 사실 / 영향 / 구현된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40193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5751" y="1906905"/>
            <a:ext cx="296846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실제로 일어난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8805" y="1906905"/>
            <a:ext cx="849043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영향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440" y="1906905"/>
            <a:ext cx="296846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대응 (구현 완료)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5495" y="1906905"/>
            <a:ext cx="204697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잔여 위험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제출 링크 다운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5751" y="2171166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코드만 푸시해 import된 모듈이 갱신되지 않아 배포 앱이 2회 내려앉았다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8805" y="2171166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심사 불가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440" y="2171166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빌드 마커로 프로세스 재시작 강제 + 6시간 주기 배포 감시. 감시 대상에 agents 누락도 발견해 추가 — 앱을 내려앉힌 바로 그 경로다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5495" y="2171166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감시가 버전은 확인하지 않는다. 잔여 과제 4번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1863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577160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API 크레딧 소진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5751" y="2577160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유료 실행이 중단되며 끝난 저자 2명의 최적화 120회 결과가 디스크에 하나도 남지 않았다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8805" y="2577160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유료 결과 유실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440" y="2577160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저자마다 즉시 저장 + 중단 사유·지점 기록. 세션 3회 / 하루 60회 상한 이중화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5495" y="2577160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앱 재시작 시 카운터가 0이 된다. 결제 쪽 월 상한을 대체하지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2463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983153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측정 불가 축에 시간 소진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5751" y="2983153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specificity 축을 5가지 방법으로 측정 시도 후 전부 실패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8805" y="2983153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상당한 공수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2440" y="2983153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 채택 전 판별력 사전 측정을 절차로 고정(규칙 6). 이후 감정 축은 3,000건으로 단조성을 먼저 확인하고 만들었다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5495" y="2983153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코드로 못 재는 축은 여전히 다룰 수 없다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33062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3389147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순환 논증 / 지표 게이밍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5751" y="3389147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최적화기가 내가 방금 만든 평가 함수의 구멍을 파고들었다 — 오차가 상한에 붙어 구분이 사라지자 글머리 기호를 6배 남발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8805" y="3389147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결과 신뢰도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2440" y="3389147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최적화하지 않은 지표를 반드시 병기(규칙 7). 지표를 평가에 맞춰 넓히지 않고 부분 독립 상태를 유지한다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5495" y="3389147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독립 지표가 하나뿐이다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73661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795141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표본 과소로 인한 오결론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5751" y="3795141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저자 1명 관찰로 세운 게이팅 가설이 16명에서 기각(r=−0.031). 홀드아웃 15개에서 '해로웠다'던 3명 중 2명이 45개에서 부호가 뒤집혔다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8805" y="3795141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중간 결론 3건 폐기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2440" y="3795141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절대 규칙 11 신설. 홀드아웃 30개·위치 고정, 부호검정 p값 병기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5495" y="3795141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실사용자 표본은 여전히 0에 가깝다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1426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4201134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조용한 실패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5751" y="4201134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응답 수집이 UI는 정상인데 로그에 한 줄도 남지 않았다(출력 버퍼). 한글이 인코딩 때문에 깨진 것도 같은 계열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8805" y="4201134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수집했다고 착각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2440" y="4201134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줄을 ASCII 전용으로 만들어 환경 의존을 없애고, 사람이 읽을 때 집계 스크립트가 되돌린다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5495" y="4201134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54860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9224" y="4607128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배포 환경 자원 한도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15751" y="4607128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형태소 분석기 모델 88MB가 무료 티어 빌드/메모리를 위협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8805" y="4607128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실격 위험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2440" y="4607128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지연 로드 + 사전 없는 문자 4-gram 대체 경로. n은 72케이스 실측으로 선택(일치율 97%)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95495" y="4607128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대체 경로로 조용히 내려앉지 않는지 검사로 감시 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95460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9224" y="5013121"/>
            <a:ext cx="140193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화면에서만 드러나는 결함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15751" y="5013121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마크다운 이중 이스케이프로 코드가 글자로 표시. 카드 높이가 달라져 길이 축 판단 자체가 오염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8805" y="5013121"/>
            <a:ext cx="849043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실험 타당성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2440" y="5013121"/>
            <a:ext cx="296846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본문을 직접 HTML로 넣지 않고 프레임워크가 그리게 하고 높이를 고정한다. 렌더 결과를 실제로 본다를 절차에 넣었다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5495" y="5013121"/>
            <a:ext cx="204697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360593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5. 프로젝트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5-2. 품질 관리 — 사람 검토에 의존하지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문서의 수치와 커밋된 결과가 어긋나면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검사가 실패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한다. 실제로 두 번 어긋났기 때문이다.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669237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1669237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16 → 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04643"/>
            <a:ext cx="1669237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오프라인 통과 테스트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(API 포함 258)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7333" y="1645920"/>
            <a:ext cx="1669237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437333" y="1755648"/>
            <a:ext cx="1669237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7333" y="2104643"/>
            <a:ext cx="1669237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커밋된 결과 파일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(JSON · CSV)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7738" y="1645920"/>
            <a:ext cx="1669237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07738" y="1755648"/>
            <a:ext cx="1669237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738" y="2104643"/>
            <a:ext cx="1669237" cy="678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문서화된 절대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42972"/>
            <a:ext cx="5410047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2442972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2534412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착수 시점의 실상 — 초록불이 거짓이었다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739644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테스트가 전부 통과하는데도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16개 파일 중 4개만 수집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되고 있었고, 9개 파일은 검증문이 0개인 출력 스크립트였다. 핵심 모듈로 표시한 셋 중 하나는 테스트 파일 자체가 없었다.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"초록색이니 괜찮다"가 가장 위험한 상태였다.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254756"/>
            <a:ext cx="5410047" cy="6929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3254756"/>
            <a:ext cx="32004" cy="69291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3346196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표시자를 등록해 조용한 통과를 막았다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551428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API 키나 데이터가 없으면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이유를 표시하며 건너뛴다.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조용히 통과시키지 않는다. 키 없이 돌리는 경로를 별도로 두어 누구나 즉시 회귀를 확인할 수 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4719" y="1645920"/>
            <a:ext cx="5410047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14719" y="1645920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15887" y="1737360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테스트 값을 가정하지 않고 실측해서 넣었다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5887" y="1942592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불확실도 방식이 순차보다 빠르지 않고 둘 다 6라운드에 복원하는 것이 실제 곡선이라,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"불확실도가 더 빠르다"를 테스트로 박지 않았다.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대신 둘 다 복원 후 되돌아가지 않는 것과, 무작위는 15라운드에도 유지하지 못하는 것(평균 1.8/2)을 고정했다.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바라는 값이 아니라 관측된 값을 고정한다.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4719" y="2457704"/>
            <a:ext cx="5410047" cy="692912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9" y="2457704"/>
            <a:ext cx="32004" cy="69291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15887" y="2549144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좋은 테스트의 증거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2754376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응답 기록에 필드를 추가했을 때 기존 개인정보 테스트가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즉시 깨졌다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키 화이트리스트를 정확히 검사하고 있었기 때문이다. 자유 텍스트를 막는 것도 규약이 아니라 코드로 강제했다(숫자만 허용). "원문은 기록하지 않는다"가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약속이 아니라 성질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이 됐다.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4719" y="3269488"/>
            <a:ext cx="5410047" cy="1178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14719" y="3269488"/>
            <a:ext cx="32004" cy="117856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15887" y="3360928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품질 게이트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34175" y="363931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0479" y="3566160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생성 코드는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정적 검증 + 프로세스 격리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2계층을 통과해야 실행된다. 우회 6가지 케이스로 실제 검증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4175" y="383692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0479" y="3763772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비교 실험은 temperature=0과 고정 시드 없이는 결과로 인정하지 않는다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4175" y="403453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80479" y="3961384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축은 판별력 측정을 통과해야 채택된다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4175" y="423214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0479" y="4158996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결론은 홀드아웃 30개 이상 · 부호검정 p값 병기 후에만 쓴다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5. 프로젝트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5-3. 산출물 목록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산출물의 절반은 코드가 아니라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측정 결과와 그 해석 기록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산출물 — 구분 / 내용 / 규모 / 제출 형태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960" y="1906905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4105" y="1906905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5842" y="1906905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제출 형태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" y="2171166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0960" y="2171166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무지 엔진 (5개 모듈)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105" y="2171166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★ 핵심 기여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5842" y="2171166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2440000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0960" y="2440000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도메인 정의 · 검사 함수 · 데모 생성기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4105" y="2440000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카테고리 5종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5842" y="2440000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65031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" y="2708833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0960" y="2708833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에이전트 패키지 (축 발견 · 형식 추출 · 샌드박스)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4105" y="2708833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기존과 분리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5842" y="2708833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1914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2977667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동작하는 도구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0960" y="2977667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웹 앱 (비교 경로 · 전문가 경로 · 데모 모드)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4105" y="2977667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3단계 화면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5842" y="2977667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공개 링크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18797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" y="3246501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00960" y="3246501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배포 감시 워크플로 · 지출 상한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4105" y="3246501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6시간 주기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5842" y="3246501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4568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515334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측정 결과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960" y="3515334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실험 결과 파일 (수렴 · 비교군 · 판별력 · 라우팅)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4105" y="3515334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39건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5842" y="3515334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 커밋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72564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9224" y="3784168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0960" y="3784168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그래프 (수렴 · 어블레이션 · 비교군 · 라우팅)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4105" y="3784168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45842" y="3784168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발표 자료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3994480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9224" y="4053001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00960" y="4053001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화면 캡처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4105" y="4053001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5842" y="4053001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 · 발표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26331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9224" y="4321835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00960" y="4321835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프로젝트 문서 — 절대 규칙 11개, 실패 경과 전문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4105" y="4321835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1,765행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45842" y="4321835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4532147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9224" y="4590669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00960" y="4590669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 안내 — 성공과 한계를 같은 비중으로 기술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4105" y="4590669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552행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5842" y="4590669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저장소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800981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49224" y="4859502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00960" y="4859502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본 수행계획서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4105" y="4859502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39면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5842" y="4859502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제출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069814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49224" y="5128336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발표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00960" y="5128336"/>
            <a:ext cx="552855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발표 자료 · 최종 보고서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4105" y="5128336"/>
            <a:ext cx="158714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본선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45842" y="5128336"/>
            <a:ext cx="1696628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제출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338648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566928" y="5465749"/>
            <a:ext cx="11057839" cy="59385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566928" y="5465749"/>
            <a:ext cx="32004" cy="593852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68096" y="5557189"/>
            <a:ext cx="10746943" cy="202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81D"/>
                </a:solidFill>
                <a:latin typeface="맑은 고딕"/>
              </a:rPr>
              <a:t>문서를 산출물로 세는 이유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" y="5787186"/>
            <a:ext cx="10746943" cy="22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4A5460"/>
                </a:solidFill>
                <a:latin typeface="맑은 고딕"/>
              </a:rPr>
              <a:t>폐기한 중간 결론 3건과 되돌린 기능 1건의 경과가 </a:t>
            </a:r>
            <a:r>
              <a:rPr sz="950" b="1">
                <a:solidFill>
                  <a:srgbClr val="14181D"/>
                </a:solidFill>
                <a:latin typeface="맑은 고딕"/>
              </a:rPr>
              <a:t>그 문서에만 남아 있다.</a:t>
            </a:r>
            <a:r>
              <a:rPr sz="950" b="0">
                <a:solidFill>
                  <a:srgbClr val="4A5460"/>
                </a:solidFill>
                <a:latin typeface="맑은 고딕"/>
              </a:rPr>
              <a:t> 같은 함정을 다시 밟지 않기 위한 기록이고, 결과 수치의 출처를 추적할 수 있게 하는 유일한 경로다. 본 계획서의 모든 수치도 그 기록과 커밋된 결과 파일에서 재계산했다.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5. 프로젝트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5-4. 데이터 출처 및 개인정보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데이터는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게이팅 없이 접근 가능한 것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만 쓴다. 신청이 필요한 데이터셋은 기각했다.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410047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데이터 출처 및 이용 조건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410047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1879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1735" y="1906905"/>
            <a:ext cx="136825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접근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4582" y="1906905"/>
            <a:ext cx="236009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이용 조건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118791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MACSum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1735" y="2171166"/>
            <a:ext cx="1368254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저장소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582" y="2171166"/>
            <a:ext cx="236009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학술 이용. 원문은 뉴스·회의록에서 수집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1187919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Stack Exchange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1735" y="2440000"/>
            <a:ext cx="136825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API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키 불필요 · 하루 300회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4582" y="2440000"/>
            <a:ext cx="236009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CC BY-SA. 표준 라이브러리만 사용 — 새 의존성 0개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7472"/>
            <a:ext cx="5410047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845993"/>
            <a:ext cx="1187919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Yelp Review 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1735" y="2845993"/>
            <a:ext cx="1368254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데이터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게이팅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4582" y="2845993"/>
            <a:ext cx="236009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3,000건만 캐싱해 사용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93465"/>
            <a:ext cx="5410047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3320567"/>
            <a:ext cx="5410047" cy="1197356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66928" y="3320567"/>
            <a:ext cx="32004" cy="1197356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3412007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기각한 후보와 그 이유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" y="3690391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2688" y="3617239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격식체 변환 벤치마크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원저작권 신청이 필요해 당일 구현 불가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3888003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688" y="3814851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인구통계 병렬 데이터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축 자체가 성별·나이·정치성향이라 개인화 축으로 부적절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" y="4085615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" y="4012463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회의록 요약 분할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접근은 가능하나 여전히 "요약" 계열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274083"/>
            <a:ext cx="5099151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두 번째 항목은 기술적 이유가 아니라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윤리적 판단으로 기각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4719" y="1645920"/>
            <a:ext cx="5410047" cy="1325880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214719" y="1645920"/>
            <a:ext cx="32004" cy="132588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15887" y="1737360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개인정보 보호 — 코드로 강제한다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4175" y="201574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0479" y="1942592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사용자가 입력한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원문과 생성 결과를 기록하지 않는다.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개인 정보가 섞일 수 있고, 사용자가 공유할 의도로 넣은 값이 아니다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4175" y="221335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0479" y="2140204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응답 기록의 부가 필드는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숫자만 받는다.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자유 텍스트를 허용하면 언젠가 누가 그 칸으로 원문을 흘린다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4175" y="241096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0479" y="2337816"/>
            <a:ext cx="4952847" cy="340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전문가 경로는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모델을 한 번도 호출하지 않는다.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이 경로에서 생성 함수를 호출하면 테스트가 실패한다 — 나중에 "한 번만 호출하면 더 좋을 텐데" 하고 넣는 것을 막는 장치다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4175" y="2755900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0479" y="2682748"/>
            <a:ext cx="4952847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API 키는 환경 파일에서만 읽고 커밋하지 않는다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4719" y="3090672"/>
            <a:ext cx="5410047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214719" y="3090672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15887" y="3182112"/>
            <a:ext cx="509915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공개 배포에서의 키 노출 대응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5887" y="3387344"/>
            <a:ext cx="5099151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공개 링크에서는 방문자가 팀의 키를 소비한다. 세션 3회 / 하루 60회 상한을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확인과 차감을 한 락 안에서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수행해 동시 방문자가 마지막 한 칸을 같이 가져가는 것을 막는다. 데모 모드는 키 없이 8회 완주가 가능하므로, 비용 없이 기능을 확인할 수 있는 경로가 항상 열려 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부록 A. 검사 함수 대 사람 라벨 — 순환 논증 방어를 위해 잰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측정값은 라벨과 같은 방향이지만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라벨을 재현하지는 못한다.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 페르소나 실험은 YAML이 정의한 값 아래에서 성립한다.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52426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MACSUM MACDOC 사람 작성 요약 5,379개 · API 호출 0회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5152426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9162" y="1906905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2455" y="1906905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089" y="1906905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라벨 검사 통과율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3699" y="1906905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원시값 평균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12645"/>
            <a:ext cx="5152426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" y="2171166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9162" y="2171166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2455" y="2171166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1,305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1089" y="2171166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81.1%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3699" y="2171166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1.74 문장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81478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440000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9162" y="2440000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2455" y="2440000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2,785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1089" y="2440000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20.4%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3699" y="2440000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2.23 문장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650312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" y="2708833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9162" y="2708833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long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2455" y="2708833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1,289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1089" y="2708833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32.2%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3699" y="2708833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3.96 문장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919145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2977667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extractiveness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9162" y="2977667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normal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2455" y="2977667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4,675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1089" y="2977667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66.9%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3699" y="2977667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0.436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187979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" y="3246501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59162" y="3246501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2455" y="3246501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1089" y="3246501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39.1%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3699" y="3246501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0.553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56813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9224" y="3515334"/>
            <a:ext cx="114534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9162" y="3515334"/>
            <a:ext cx="708700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fully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2455" y="3515334"/>
            <a:ext cx="534042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333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31089" y="3515334"/>
            <a:ext cx="1058017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78.4%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3699" y="3515334"/>
            <a:ext cx="883359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0.836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25646"/>
            <a:ext cx="5152426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9224" y="3784168"/>
            <a:ext cx="114534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(specificity)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59162" y="3784168"/>
            <a:ext cx="708700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normal / 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2455" y="3784168"/>
            <a:ext cx="534042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5,379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1089" y="3784168"/>
            <a:ext cx="1058017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검사 함수 없음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3699" y="3784168"/>
            <a:ext cx="883359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14181D"/>
                </a:solidFill>
                <a:latin typeface="Consolas"/>
              </a:rPr>
              <a:t>0.217 / 0.228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131640"/>
            <a:ext cx="5152426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566928" y="4258741"/>
            <a:ext cx="2475629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66928" y="4368469"/>
            <a:ext cx="2475629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0.446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717465"/>
            <a:ext cx="2475629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length 균형정확도 (최적 절단점으로도 0.489)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3725" y="4258741"/>
            <a:ext cx="2475629" cy="292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243725" y="4368469"/>
            <a:ext cx="2475629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Consolas"/>
              </a:rPr>
              <a:t>0.598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3725" y="4717465"/>
            <a:ext cx="2475629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맑은 고딕"/>
              </a:rPr>
              <a:t>extractiveness 균형정확도 (최적 절단점으로도 0.610)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57098" y="1645920"/>
            <a:ext cx="5667668" cy="692912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957098" y="1645920"/>
            <a:ext cx="32004" cy="692912"/>
          </a:xfrm>
          <a:prstGeom prst="rect">
            <a:avLst/>
          </a:prstGeom>
          <a:solidFill>
            <a:srgbClr val="1E5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158266" y="1737360"/>
            <a:ext cx="535677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① 측정값은 라벨과 단조 관계다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8266" y="1942592"/>
            <a:ext cx="5356772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문장 수 1.74 &lt; 2.23 &lt; 3.96, 겹침 0.44 &lt; 0.55 &lt; 0.84 — 평균 순서가 라벨 순서와 일치한다. specificity의 0.217 대 0.228(순서조차 없음)과 대조된다. 검사 함수가 재는 것은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사람 라벨과 같은 방향의 성질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이다.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57098" y="2457704"/>
            <a:ext cx="5667668" cy="692912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5957098" y="2457704"/>
            <a:ext cx="32004" cy="69291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158266" y="2549144"/>
            <a:ext cx="535677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② 그러나 임계값이 아니라 라벨 자체가 절대값이 아니다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58266" y="2754376"/>
            <a:ext cx="5356772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MACSum "long" 요약의 10분위가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1문장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, 중앙값 3문장이다. 길이 라벨은 문서 안에서의 상대 개념으로 보이고, 문장 수를 세는 함수로는 원리적으로 재현할 수 없다. 임계값을 사람 분포에 맞춰 다시 골라도 0.49가 상한인 이유다.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57098" y="3269488"/>
            <a:ext cx="5667668" cy="1325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5957098" y="3269488"/>
            <a:ext cx="32004" cy="1325880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158266" y="3360928"/>
            <a:ext cx="535677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결과 해석에 미치는 영향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6554" y="3639312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322858" y="3566160"/>
            <a:ext cx="5210468" cy="340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복원율 80%는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유지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 — 오라클도 후보 생성도 YAML 정의를 쓰므로 루프는 자기 일관적. 검증된 것은 "YAML이 정의한 값 아래에서 선택·추정 기계가 숨긴 선호를 복원하는가"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6554" y="3984244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322858" y="3911092"/>
            <a:ext cx="5210468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ROUGE-L 절대값이 낮은 이유 하나가 설명됨 — D는 long=5문장+로 생성되고 사람 long은 중앙값 3문장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76554" y="4181856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322858" y="4108704"/>
            <a:ext cx="5210468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D &gt; B (ROUGE-L 4/5)는 그 </a:t>
            </a:r>
            <a:r>
              <a:rPr sz="800" b="1">
                <a:solidFill>
                  <a:srgbClr val="14181D"/>
                </a:solidFill>
                <a:latin typeface="맑은 고딕"/>
              </a:rPr>
              <a:t>불리한 조건에서 나온 결과</a:t>
            </a:r>
            <a:r>
              <a:rPr sz="800" b="0">
                <a:solidFill>
                  <a:srgbClr val="4A5460"/>
                </a:solidFill>
                <a:latin typeface="맑은 고딕"/>
              </a:rPr>
              <a:t>라 약해지지 않는다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6554" y="4379468"/>
            <a:ext cx="50292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22858" y="4306316"/>
            <a:ext cx="5210468" cy="19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YAML은 지금 고치지 않는다 — 결과 전부가 무효가 되고, 고쳐도 상한이 0.49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부록 B. 예상 질문과 근거 ① — 반드시 나오는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데이터가 없는 질문은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먼저 인정</a:t>
            </a:r>
            <a:r>
              <a:rPr sz="1400" b="1">
                <a:solidFill>
                  <a:srgbClr val="14181D"/>
                </a:solidFill>
                <a:latin typeface="맑은 고딕"/>
              </a:rPr>
              <a:t>한다. 인정하면 추궁이 오지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반드시 나오는 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6222" y="1906905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1025" y="1906905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근거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GPT에 '내 프롬프트 만들어줘' 하면 되지 않나?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6222" y="2171166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그것도 "어떤 프롬프트를 원하냐"를 다시 묻는다 — 서술 부담이 그대로다. 상용 도구와의 직접 비교(비교군 C)는 미착수이고 데이터가 없다. 이 점을 먼저 말한다.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1025" y="2171166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1-1 ②, 3-10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8147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440000"/>
            <a:ext cx="240240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B(직접 쓴 지침)를 일부러 약하게 쓴 것 아닌가?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6222" y="2440000"/>
            <a:ext cx="724021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원문 그대로: "Summarize the following article in a clear and concise way that captures the key points." 5개 문서 동일, 페르소나를 모르는 상태로 작성. 이것이 바로 "자기 축을 모르는 사용자"의 지침이다.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1025" y="2440000"/>
            <a:ext cx="92144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747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845993"/>
            <a:ext cx="240240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0.996은 자기 채점 아닌가?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6222" y="2845993"/>
            <a:ext cx="724021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맞다. 그래서 최적화에 쓰지 않은 ROUGE-L을 병기하고(0.207 대 0.168, 페어드 4/5) 유의성은 주장하지 않는다. 검사 함수 자체는 사람 라벨을 재현하지 못하며(균형정확도 0.45/0.60), 페르소나 실험은 YAML 정의 아래에서 성립한다고 먼저 말한다.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1025" y="2845993"/>
            <a:ext cx="92144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3-3, 부록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9346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3251987"/>
            <a:ext cx="240240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축값을 알았으면 템플릿에 넣으면 되지, GEPA는 왜?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6222" y="3251987"/>
            <a:ext cx="724021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대표 수치가 바로 그 템플릿이다 — D는 GEPA를 쓰지 않는다. GEPA의 효과는 시드가 나쁠 때 0.36→0.96으로 올리는 어블레이션에서만 보였고, 시드가 이미 좋으면 아무것도 하지 않는다. 제품에서 GEPA는 성능 장치가 아니라 평가 함수가 개선 가능한 형태임을 검증한 장치다.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1025" y="3251987"/>
            <a:ext cx="92144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2-8, 3-2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59945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3657980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실사용자가 0명인데 사람에게 통하는지 어떻게 아나?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6222" y="3657980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모른다. 모든 정량 결과는 페르소나 기반이다. 수집 목적은 통계적 주장이 아니라 페르소나에서 안 보이는 실패 유형을 찾는 것이고, 본선에 실제 수치를 넣는다.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1025" y="3657980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3-8 ①, 3-10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868293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3926814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5개 카테고리 중 검증된 건 몇 개인가?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6222" y="3926814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동작 5종. 정량 검증 1종(영어 요약), 부분 검증 3종(한국어 스팟 체크·코딩 가상 사용자·리뷰 감정 축 단조성), 동작 확인만 1종(이메일).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1025" y="3926814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137126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21424"/>
            <a:ext cx="2468880" cy="36576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수행계획서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8367" y="1920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1">
                <a:solidFill>
                  <a:srgbClr val="B0121A"/>
                </a:solidFill>
                <a:latin typeface="Consolas"/>
              </a:rPr>
              <a:t>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0352"/>
            <a:ext cx="41148" cy="365760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30352"/>
            <a:ext cx="1089324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4181D"/>
                </a:solidFill>
                <a:latin typeface="맑은 고딕"/>
              </a:rPr>
              <a:t>부록 C. 예상 질문과 근거 ② — 날카로운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42415"/>
            <a:ext cx="969264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400" b="1">
                <a:solidFill>
                  <a:srgbClr val="14181D"/>
                </a:solidFill>
                <a:latin typeface="맑은 고딕"/>
              </a:rPr>
              <a:t>본문이 스스로 열어둔 구멍이다. </a:t>
            </a:r>
            <a:r>
              <a:rPr sz="1400" b="1">
                <a:solidFill>
                  <a:srgbClr val="B0121A"/>
                </a:solidFill>
                <a:latin typeface="맑은 고딕"/>
              </a:rPr>
              <a:t>방어하려 들지 말고 넘긴다.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5196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00" b="0">
                <a:solidFill>
                  <a:srgbClr val="7D8794"/>
                </a:solidFill>
                <a:latin typeface="Consolas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11057839" cy="169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7D8794"/>
                </a:solidFill>
                <a:latin typeface="Consolas"/>
              </a:rPr>
              <a:t>날카로운 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52041"/>
            <a:ext cx="11057839" cy="2606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" y="1906905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6222" y="1906905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1025" y="1906905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근거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2645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" y="2171166"/>
            <a:ext cx="240240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long 선호 사용자에게는 실패하는 것 아닌가?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6222" y="2171166"/>
            <a:ext cx="724021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3번 중 2번 normal로 수렴한다. 8라운드 안에서 인접 값을 가르기 어렵고, 라운드를 늘렸을 때는 미측정이다. 그리고 MACSum의 long 자체가 절대 문장 수가 아니라(중앙값 3문장) 그 축의 정의가 사람 관례와 어긋나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21025" y="2171166"/>
            <a:ext cx="92144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3-4, 부록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18638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" y="2577160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가장 강한 결과가 보조 경로인데 왜 보조인가?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6222" y="2577160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대상 사용자가 다르다. 전문가 경로(0.308→0.146, 8/8, p=0.008)는 자기 글 30개 이상이 있는 사람만 쓸 수 있고, 주 경로는 아무나 8번 클릭하면 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1025" y="2577160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2-1, 3-6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747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845993"/>
            <a:ext cx="2402406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specificity가 '측정 불가'라는 건 5개 시도로 일반화한 것 아닌가?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6222" y="2845993"/>
            <a:ext cx="7240211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맞다. 주장을 "표면 신호와 제로샷 모델 판정으로는 측정 불가"로 좁힌다. 5가지 방법은 전부 그 범주다.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21025" y="2845993"/>
            <a:ext cx="921445" cy="397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93465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9224" y="3251987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평가 함수 구멍을 최적화기가 파고든 사고 — 지금도 그 상태 아닌가?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6222" y="3251987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보장하지 못한다. 그래서 최적화하지 않은 지표를 병기하고, 지표를 평가에 맞춰 넓히지 않는다. 독립 지표가 하나뿐인 것은 잔여 위험으로 적어뒀다.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1025" y="3251987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5-1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462299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" y="3520821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최적화 버튼이 아무것도 안 하면 GEPA를 빼도 되지 않나?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6222" y="3520821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제품 성능 근거로는 뺄 수 있다. 남기는 이유는 시드를 중립으로 두면 개선 여지가 생기고(어블레이션), 그때 독립 지표로 재는 것이 잔여 과제 2번이기 때문이다.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1025" y="3520821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2-8, 3-8 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731132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" y="3789654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심사 당일 여러 명이 동시에 쓰면 상한에 걸리지 않나?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6222" y="3789654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하루 상한 60회는 8라운드 세션 60번(약 960 호출)이다. 10명이 3번씩 써도 30회. 데모 모드는 상한 없이 8회 완주가 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1025" y="3789654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2-3 FR-12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99966"/>
            <a:ext cx="11057839" cy="8229"/>
          </a:xfrm>
          <a:prstGeom prst="rect">
            <a:avLst/>
          </a:prstGeom>
          <a:solidFill>
            <a:srgbClr val="D8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9224" y="4058488"/>
            <a:ext cx="2402406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14181D"/>
                </a:solidFill>
                <a:latin typeface="맑은 고딕"/>
              </a:rPr>
              <a:t>15주 계획서인데 대부분 완료인데, 계획서인가 결과보고서인가?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6222" y="4058488"/>
            <a:ext cx="7240211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v2 기준 현황을 병기한 계획서다. 잔여 과제 6건과 완료 판정 기준이 3-8에 있고, 남은 항목은 전부 확보된 결과의 방어에 걸린 것이다.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21025" y="4058488"/>
            <a:ext cx="921445" cy="260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4A5460"/>
                </a:solidFill>
                <a:latin typeface="맑은 고딕"/>
              </a:rPr>
              <a:t>3-8, 3-9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268800"/>
            <a:ext cx="11057839" cy="8229"/>
          </a:xfrm>
          <a:prstGeom prst="rect">
            <a:avLst/>
          </a:prstGeom>
          <a:solidFill>
            <a:srgbClr val="7D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B0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7" y="1389888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1">
                <a:solidFill>
                  <a:srgbClr val="FF6B74"/>
                </a:solidFill>
                <a:latin typeface="Consolas"/>
              </a:rPr>
              <a:t>핵심 주장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7830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선택 기반 개인화는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작동한다.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361188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9C1CC"/>
                </a:solidFill>
                <a:latin typeface="맑은 고딕"/>
              </a:rPr>
              <a:t>다만 모든 취향 축이 측정 가능한 것은 아니며,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B9C1CC"/>
                </a:solidFill>
                <a:latin typeface="맑은 고딕"/>
              </a:rPr>
              <a:t>어떤 축이 그러한지를 실험으로 구분했다.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5120640"/>
            <a:ext cx="10607040" cy="8229"/>
          </a:xfrm>
          <a:prstGeom prst="rect">
            <a:avLst/>
          </a:prstGeom>
          <a:solidFill>
            <a:srgbClr val="3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7" y="5303520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강조할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5559552"/>
            <a:ext cx="335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고치고 나서야 알게 된 함정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복원율 0~8% → 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6928" y="5303520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피할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6928" y="5559552"/>
            <a:ext cx="335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"범용적으로 더 좋은 프롬프트"라는 주장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607" y="5303520"/>
            <a:ext cx="335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>
                <a:solidFill>
                  <a:srgbClr val="8E97A3"/>
                </a:solidFill>
                <a:latin typeface="맑은 고딕"/>
              </a:rPr>
              <a:t>보고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607" y="5559552"/>
            <a:ext cx="335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순환 논증으로 보이는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단일 지표 보고 금지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